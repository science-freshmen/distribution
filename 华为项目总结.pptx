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6635" r:id="rId3"/>
    <p:sldId id="11089247" r:id="rId4"/>
    <p:sldId id="11089257" r:id="rId5"/>
    <p:sldId id="11089236" r:id="rId6"/>
    <p:sldId id="11089262" r:id="rId7"/>
    <p:sldId id="11089274" r:id="rId8"/>
    <p:sldId id="11089271" r:id="rId9"/>
    <p:sldId id="807" r:id="rId10"/>
    <p:sldId id="11089273" r:id="rId11"/>
    <p:sldId id="11089265" r:id="rId12"/>
    <p:sldId id="11089275" r:id="rId13"/>
    <p:sldId id="11089268" r:id="rId14"/>
    <p:sldId id="11089269" r:id="rId15"/>
  </p:sldIdLst>
  <p:sldSz cx="12192000" cy="6858000"/>
  <p:notesSz cx="7104063" cy="10234613"/>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541C351-8AC9-4FA9-A20E-AC7120B2A4D4}">
          <p14:sldIdLst>
            <p14:sldId id="260"/>
            <p14:sldId id="6635"/>
            <p14:sldId id="11089247"/>
            <p14:sldId id="11089257"/>
            <p14:sldId id="11089236"/>
            <p14:sldId id="11089262"/>
            <p14:sldId id="11089274"/>
            <p14:sldId id="11089271"/>
            <p14:sldId id="807"/>
            <p14:sldId id="11089273"/>
            <p14:sldId id="11089265"/>
            <p14:sldId id="11089275"/>
            <p14:sldId id="11089268"/>
            <p14:sldId id="1108926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Guangjun Su" initials="GS [7]" lastIdx="1" clrIdx="6"/>
  <p:cmAuthor id="8" name="juxiezyy" initials="j" lastIdx="1" clrIdx="7"/>
  <p:cmAuthor id="2" name="Angela Wang"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852432"/>
    <a:srgbClr val="FFFFFF"/>
    <a:srgbClr val="ECEDED"/>
    <a:srgbClr val="004458"/>
    <a:srgbClr val="EB6161"/>
    <a:srgbClr val="F39A63"/>
    <a:srgbClr val="F8F9F9"/>
    <a:srgbClr val="DFDFDF"/>
    <a:srgbClr val="6A6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78" autoAdjust="0"/>
    <p:restoredTop sz="95511"/>
  </p:normalViewPr>
  <p:slideViewPr>
    <p:cSldViewPr snapToGrid="0">
      <p:cViewPr varScale="1">
        <p:scale>
          <a:sx n="131" d="100"/>
          <a:sy n="131" d="100"/>
        </p:scale>
        <p:origin x="6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2022/5/6</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1279525"/>
            <a:ext cx="6140450" cy="3454400"/>
          </a:xfrm>
        </p:spPr>
      </p:sp>
      <p:sp>
        <p:nvSpPr>
          <p:cNvPr id="3" name="Notes Placeholder 2"/>
          <p:cNvSpPr>
            <a:spLocks noGrp="1"/>
          </p:cNvSpPr>
          <p:nvPr>
            <p:ph type="body" idx="1"/>
          </p:nvPr>
        </p:nvSpPr>
        <p:spPr/>
        <p:txBody>
          <a:bodyPr/>
          <a:lstStyle/>
          <a:p>
            <a:r>
              <a:rPr lang="zh-CN" altLang="en-US" sz="1200" kern="1200" dirty="0">
                <a:solidFill>
                  <a:schemeClr val="tx1"/>
                </a:solidFill>
                <a:effectLst/>
                <a:latin typeface="+mn-lt"/>
                <a:ea typeface="+mn-ea"/>
                <a:cs typeface="+mn-cs"/>
              </a:rPr>
              <a:t>大家好，我是黄帝媛，我论文的题目是数据驱动下多级库存系统中的安全库存管理 </a:t>
            </a:r>
          </a:p>
          <a:p>
            <a:r>
              <a:rPr lang="zh-CN" altLang="en-US" sz="1200" kern="1200" dirty="0">
                <a:solidFill>
                  <a:schemeClr val="tx1"/>
                </a:solidFill>
                <a:effectLst/>
                <a:latin typeface="+mn-lt"/>
                <a:ea typeface="+mn-ea"/>
                <a:cs typeface="+mn-cs"/>
              </a:rPr>
              <a:t>接下来我会首先介绍我们为什么要研究多级系统中的安全库存，以及为什么要采用数据驱动的方法进行研究</a:t>
            </a:r>
          </a:p>
          <a:p>
            <a:endParaRPr lang="en-US" dirty="0"/>
          </a:p>
        </p:txBody>
      </p:sp>
      <p:sp>
        <p:nvSpPr>
          <p:cNvPr id="4" name="Slide Number Placeholder 3"/>
          <p:cNvSpPr>
            <a:spLocks noGrp="1"/>
          </p:cNvSpPr>
          <p:nvPr>
            <p:ph type="sldNum" sz="quarter" idx="5"/>
          </p:nvPr>
        </p:nvSpPr>
        <p:spPr/>
        <p:txBody>
          <a:bodyPr/>
          <a:lstStyle/>
          <a:p>
            <a:fld id="{1F0169D3-3596-4A67-89AA-60164E1A908D}" type="slidenum">
              <a:rPr lang="en-US" smtClean="0"/>
              <a:t>1</a:t>
            </a:fld>
            <a:endParaRPr lang="en-US" dirty="0"/>
          </a:p>
        </p:txBody>
      </p:sp>
    </p:spTree>
    <p:extLst>
      <p:ext uri="{BB962C8B-B14F-4D97-AF65-F5344CB8AC3E}">
        <p14:creationId xmlns:p14="http://schemas.microsoft.com/office/powerpoint/2010/main" val="5038620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Master" Target="../slideMasters/slideMaster1.xml"/><Relationship Id="rId7" Type="http://schemas.microsoft.com/office/2007/relationships/hdphoto" Target="../media/hdphoto1.wdp"/><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microsoft.com/office/2007/relationships/hdphoto" Target="../media/hdphoto2.wdp"/><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5.pn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7.png"/><Relationship Id="rId5" Type="http://schemas.openxmlformats.org/officeDocument/2006/relationships/image" Target="../media/image3.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7.png"/><Relationship Id="rId5" Type="http://schemas.openxmlformats.org/officeDocument/2006/relationships/image" Target="../media/image3.emf"/><Relationship Id="rId4" Type="http://schemas.openxmlformats.org/officeDocument/2006/relationships/oleObject" Target="../embeddings/oleObject6.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大标题页">
    <p:spTree>
      <p:nvGrpSpPr>
        <p:cNvPr id="1" name=""/>
        <p:cNvGrpSpPr/>
        <p:nvPr/>
      </p:nvGrpSpPr>
      <p:grpSpPr>
        <a:xfrm>
          <a:off x="0" y="0"/>
          <a:ext cx="0" cy="0"/>
          <a:chOff x="0" y="0"/>
          <a:chExt cx="0" cy="0"/>
        </a:xfrm>
      </p:grpSpPr>
      <p:sp>
        <p:nvSpPr>
          <p:cNvPr id="17" name="矩形 16"/>
          <p:cNvSpPr/>
          <p:nvPr userDrawn="1"/>
        </p:nvSpPr>
        <p:spPr>
          <a:xfrm>
            <a:off x="-6985" y="-33655"/>
            <a:ext cx="7539196" cy="6891655"/>
          </a:xfrm>
          <a:prstGeom prst="rect">
            <a:avLst/>
          </a:prstGeom>
          <a:solidFill>
            <a:srgbClr val="852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25CDA368-C621-4681-B5E1-3260613BE4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964" y="6223790"/>
            <a:ext cx="1528489" cy="426201"/>
          </a:xfrm>
          <a:prstGeom prst="rect">
            <a:avLst/>
          </a:prstGeom>
        </p:spPr>
      </p:pic>
      <p:sp>
        <p:nvSpPr>
          <p:cNvPr id="23" name="Rectangle 69">
            <a:extLst>
              <a:ext uri="{FF2B5EF4-FFF2-40B4-BE49-F238E27FC236}">
                <a16:creationId xmlns:a16="http://schemas.microsoft.com/office/drawing/2014/main" id="{664600AA-0086-44E7-BF9B-DC2380CF9E74}"/>
              </a:ext>
            </a:extLst>
          </p:cNvPr>
          <p:cNvSpPr/>
          <p:nvPr userDrawn="1"/>
        </p:nvSpPr>
        <p:spPr>
          <a:xfrm>
            <a:off x="0" y="6627168"/>
            <a:ext cx="6096000" cy="230832"/>
          </a:xfrm>
          <a:prstGeom prst="rect">
            <a:avLst/>
          </a:prstGeom>
        </p:spPr>
        <p:txBody>
          <a:bodyPr>
            <a:spAutoFit/>
          </a:bodyPr>
          <a:lstStyle/>
          <a:p>
            <a:pPr algn="l"/>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20</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18</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Cardinal</a:t>
            </a:r>
            <a:r>
              <a:rPr lang="zh-CN" alt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Operations</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id-ID" sz="900" dirty="0">
                <a:solidFill>
                  <a:schemeClr val="bg1"/>
                </a:solidFill>
                <a:latin typeface="微软雅黑 Light" panose="020B0502040204020203" charset="-122"/>
                <a:ea typeface="微软雅黑 Light" panose="020B0502040204020203" charset="-122"/>
                <a:cs typeface="微软雅黑 Light" panose="020B0502040204020203" charset="-122"/>
              </a:rPr>
              <a:t>PowerPoint Business </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Theme. All Rights Reserved. </a:t>
            </a:r>
            <a:endParaRPr lang="id-ID" sz="900"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4" name="文本占位符 17">
            <a:extLst>
              <a:ext uri="{FF2B5EF4-FFF2-40B4-BE49-F238E27FC236}">
                <a16:creationId xmlns:a16="http://schemas.microsoft.com/office/drawing/2014/main" id="{C8B5F4C6-6585-44A9-BD38-ACB8A11CEBCF}"/>
              </a:ext>
            </a:extLst>
          </p:cNvPr>
          <p:cNvSpPr>
            <a:spLocks noGrp="1"/>
          </p:cNvSpPr>
          <p:nvPr>
            <p:ph type="body" sz="quarter" idx="10" hasCustomPrompt="1"/>
          </p:nvPr>
        </p:nvSpPr>
        <p:spPr>
          <a:xfrm>
            <a:off x="529036" y="3628733"/>
            <a:ext cx="5300408" cy="758562"/>
          </a:xfrm>
          <a:prstGeom prst="rect">
            <a:avLst/>
          </a:prstGeom>
        </p:spPr>
        <p:txBody>
          <a:bodyPr/>
          <a:lstStyle>
            <a:lvl1pPr marL="0" indent="0">
              <a:buNone/>
              <a:defRPr sz="4000" b="1">
                <a:solidFill>
                  <a:schemeClr val="bg1"/>
                </a:solidFill>
                <a:latin typeface="微软雅黑" panose="020B0503020204020204" pitchFamily="34" charset="-122"/>
                <a:ea typeface="微软雅黑" panose="020B0503020204020204" pitchFamily="34" charset="-122"/>
              </a:defRPr>
            </a:lvl1pPr>
            <a:lvl2pPr marL="457200" indent="0">
              <a:buNone/>
              <a:defRPr sz="2000">
                <a:solidFill>
                  <a:schemeClr val="bg1"/>
                </a:solidFill>
                <a:latin typeface="微软雅黑" panose="020B0503020204020204" pitchFamily="34" charset="-122"/>
                <a:ea typeface="微软雅黑" panose="020B0503020204020204" pitchFamily="34" charset="-122"/>
              </a:defRPr>
            </a:lvl2pPr>
            <a:lvl3pPr marL="914400" indent="0">
              <a:buNone/>
              <a:defRPr sz="1800">
                <a:solidFill>
                  <a:schemeClr val="bg1"/>
                </a:solidFill>
                <a:latin typeface="微软雅黑" panose="020B0503020204020204" pitchFamily="34" charset="-122"/>
                <a:ea typeface="微软雅黑" panose="020B0503020204020204" pitchFamily="34" charset="-122"/>
              </a:defRPr>
            </a:lvl3pPr>
            <a:lvl4pPr marL="1371600" indent="0">
              <a:buNone/>
              <a:defRPr sz="1600">
                <a:solidFill>
                  <a:schemeClr val="bg1"/>
                </a:solidFill>
                <a:latin typeface="微软雅黑" panose="020B0503020204020204" pitchFamily="34" charset="-122"/>
                <a:ea typeface="微软雅黑" panose="020B0503020204020204" pitchFamily="34" charset="-122"/>
              </a:defRPr>
            </a:lvl4pPr>
            <a:lvl5pPr marL="1828800" indent="0">
              <a:buNone/>
              <a:defRPr sz="1600">
                <a:solidFill>
                  <a:schemeClr val="bg1"/>
                </a:solidFill>
                <a:latin typeface="微软雅黑" panose="020B0503020204020204" pitchFamily="34" charset="-122"/>
                <a:ea typeface="微软雅黑" panose="020B0503020204020204" pitchFamily="34" charset="-122"/>
              </a:defRPr>
            </a:lvl5pPr>
          </a:lstStyle>
          <a:p>
            <a:pPr lvl="0"/>
            <a:r>
              <a:rPr lang="zh-CN" altLang="en-US" dirty="0"/>
              <a:t>项目名称</a:t>
            </a:r>
          </a:p>
        </p:txBody>
      </p:sp>
      <p:sp>
        <p:nvSpPr>
          <p:cNvPr id="25" name="文本占位符 17">
            <a:extLst>
              <a:ext uri="{FF2B5EF4-FFF2-40B4-BE49-F238E27FC236}">
                <a16:creationId xmlns:a16="http://schemas.microsoft.com/office/drawing/2014/main" id="{53D3CCC5-BF69-4857-8885-102D15E322DD}"/>
              </a:ext>
            </a:extLst>
          </p:cNvPr>
          <p:cNvSpPr>
            <a:spLocks noGrp="1"/>
          </p:cNvSpPr>
          <p:nvPr>
            <p:ph type="body" sz="quarter" idx="12" hasCustomPrompt="1"/>
          </p:nvPr>
        </p:nvSpPr>
        <p:spPr>
          <a:xfrm>
            <a:off x="529036" y="5191685"/>
            <a:ext cx="4412862" cy="379281"/>
          </a:xfrm>
          <a:prstGeom prst="rect">
            <a:avLst/>
          </a:prstGeom>
        </p:spPr>
        <p:txBody>
          <a:bodyPr/>
          <a:lstStyle>
            <a:lvl1pPr marL="0" indent="0">
              <a:buNone/>
              <a:defRPr sz="1600" u="sng">
                <a:solidFill>
                  <a:schemeClr val="bg1"/>
                </a:solidFill>
                <a:latin typeface="微软雅黑" panose="020B0503020204020204" pitchFamily="34" charset="-122"/>
                <a:ea typeface="微软雅黑" panose="020B0503020204020204" pitchFamily="34" charset="-122"/>
              </a:defRPr>
            </a:lvl1pPr>
            <a:lvl2pPr marL="457200" indent="0">
              <a:buNone/>
              <a:defRPr sz="2000">
                <a:solidFill>
                  <a:schemeClr val="bg1"/>
                </a:solidFill>
                <a:latin typeface="微软雅黑" panose="020B0503020204020204" pitchFamily="34" charset="-122"/>
                <a:ea typeface="微软雅黑" panose="020B0503020204020204" pitchFamily="34" charset="-122"/>
              </a:defRPr>
            </a:lvl2pPr>
            <a:lvl3pPr marL="914400" indent="0">
              <a:buNone/>
              <a:defRPr sz="1800">
                <a:solidFill>
                  <a:schemeClr val="bg1"/>
                </a:solidFill>
                <a:latin typeface="微软雅黑" panose="020B0503020204020204" pitchFamily="34" charset="-122"/>
                <a:ea typeface="微软雅黑" panose="020B0503020204020204" pitchFamily="34" charset="-122"/>
              </a:defRPr>
            </a:lvl3pPr>
            <a:lvl4pPr marL="1371600" indent="0">
              <a:buNone/>
              <a:defRPr sz="1600">
                <a:solidFill>
                  <a:schemeClr val="bg1"/>
                </a:solidFill>
                <a:latin typeface="微软雅黑" panose="020B0503020204020204" pitchFamily="34" charset="-122"/>
                <a:ea typeface="微软雅黑" panose="020B0503020204020204" pitchFamily="34" charset="-122"/>
              </a:defRPr>
            </a:lvl4pPr>
            <a:lvl5pPr marL="1828800" indent="0">
              <a:buNone/>
              <a:defRPr sz="1600">
                <a:solidFill>
                  <a:schemeClr val="bg1"/>
                </a:solidFill>
                <a:latin typeface="微软雅黑" panose="020B0503020204020204" pitchFamily="34" charset="-122"/>
                <a:ea typeface="微软雅黑" panose="020B0503020204020204" pitchFamily="34" charset="-122"/>
              </a:defRPr>
            </a:lvl5pPr>
          </a:lstStyle>
          <a:p>
            <a:pPr lvl="0"/>
            <a:r>
              <a:rPr lang="zh-CN" altLang="en-US" dirty="0"/>
              <a:t>汇报日期</a:t>
            </a:r>
          </a:p>
        </p:txBody>
      </p:sp>
      <p:sp>
        <p:nvSpPr>
          <p:cNvPr id="26" name="文本占位符 17">
            <a:extLst>
              <a:ext uri="{FF2B5EF4-FFF2-40B4-BE49-F238E27FC236}">
                <a16:creationId xmlns:a16="http://schemas.microsoft.com/office/drawing/2014/main" id="{E4B172A6-AA40-4552-91CA-2616D249982F}"/>
              </a:ext>
            </a:extLst>
          </p:cNvPr>
          <p:cNvSpPr>
            <a:spLocks noGrp="1"/>
          </p:cNvSpPr>
          <p:nvPr>
            <p:ph type="body" sz="quarter" idx="13" hasCustomPrompt="1"/>
          </p:nvPr>
        </p:nvSpPr>
        <p:spPr>
          <a:xfrm>
            <a:off x="529036" y="4329166"/>
            <a:ext cx="5300408" cy="758562"/>
          </a:xfrm>
          <a:prstGeom prst="rect">
            <a:avLst/>
          </a:prstGeom>
        </p:spPr>
        <p:txBody>
          <a:bodyPr/>
          <a:lstStyle>
            <a:lvl1pPr marL="0" indent="0">
              <a:buNone/>
              <a:defRPr sz="2800" b="1">
                <a:solidFill>
                  <a:schemeClr val="bg1"/>
                </a:solidFill>
                <a:latin typeface="微软雅黑" panose="020B0503020204020204" pitchFamily="34" charset="-122"/>
                <a:ea typeface="微软雅黑" panose="020B0503020204020204" pitchFamily="34" charset="-122"/>
              </a:defRPr>
            </a:lvl1pPr>
            <a:lvl2pPr marL="457200" indent="0">
              <a:buNone/>
              <a:defRPr sz="2000">
                <a:solidFill>
                  <a:schemeClr val="bg1"/>
                </a:solidFill>
                <a:latin typeface="微软雅黑" panose="020B0503020204020204" pitchFamily="34" charset="-122"/>
                <a:ea typeface="微软雅黑" panose="020B0503020204020204" pitchFamily="34" charset="-122"/>
              </a:defRPr>
            </a:lvl2pPr>
            <a:lvl3pPr marL="914400" indent="0">
              <a:buNone/>
              <a:defRPr sz="1800">
                <a:solidFill>
                  <a:schemeClr val="bg1"/>
                </a:solidFill>
                <a:latin typeface="微软雅黑" panose="020B0503020204020204" pitchFamily="34" charset="-122"/>
                <a:ea typeface="微软雅黑" panose="020B0503020204020204" pitchFamily="34" charset="-122"/>
              </a:defRPr>
            </a:lvl3pPr>
            <a:lvl4pPr marL="1371600" indent="0">
              <a:buNone/>
              <a:defRPr sz="1600">
                <a:solidFill>
                  <a:schemeClr val="bg1"/>
                </a:solidFill>
                <a:latin typeface="微软雅黑" panose="020B0503020204020204" pitchFamily="34" charset="-122"/>
                <a:ea typeface="微软雅黑" panose="020B0503020204020204" pitchFamily="34" charset="-122"/>
              </a:defRPr>
            </a:lvl4pPr>
            <a:lvl5pPr marL="1828800" indent="0">
              <a:buNone/>
              <a:defRPr sz="1600">
                <a:solidFill>
                  <a:schemeClr val="bg1"/>
                </a:solidFill>
                <a:latin typeface="微软雅黑" panose="020B0503020204020204" pitchFamily="34" charset="-122"/>
                <a:ea typeface="微软雅黑" panose="020B0503020204020204" pitchFamily="34" charset="-122"/>
              </a:defRPr>
            </a:lvl5pPr>
          </a:lstStyle>
          <a:p>
            <a:pPr lvl="0"/>
            <a:r>
              <a:rPr lang="zh-CN" altLang="en-US" dirty="0"/>
              <a:t>汇报节点 </a:t>
            </a:r>
          </a:p>
        </p:txBody>
      </p:sp>
      <p:grpSp>
        <p:nvGrpSpPr>
          <p:cNvPr id="27" name="组合 26">
            <a:extLst>
              <a:ext uri="{FF2B5EF4-FFF2-40B4-BE49-F238E27FC236}">
                <a16:creationId xmlns:a16="http://schemas.microsoft.com/office/drawing/2014/main" id="{A3E98DB3-1211-49B4-9DB1-B489BC8A13CB}"/>
              </a:ext>
            </a:extLst>
          </p:cNvPr>
          <p:cNvGrpSpPr/>
          <p:nvPr userDrawn="1"/>
        </p:nvGrpSpPr>
        <p:grpSpPr>
          <a:xfrm>
            <a:off x="5127498" y="13049"/>
            <a:ext cx="7418070" cy="6858000"/>
            <a:chOff x="11161" y="1980"/>
            <a:chExt cx="3212" cy="2984"/>
          </a:xfrm>
          <a:blipFill rotWithShape="1">
            <a:blip r:embed="rId3"/>
            <a:stretch>
              <a:fillRect/>
            </a:stretch>
          </a:blipFill>
          <a:effectLst>
            <a:outerShdw blurRad="50800" dist="38100" dir="2700000" algn="tl" rotWithShape="0">
              <a:prstClr val="black">
                <a:alpha val="40000"/>
              </a:prstClr>
            </a:outerShdw>
          </a:effectLst>
        </p:grpSpPr>
        <p:sp>
          <p:nvSpPr>
            <p:cNvPr id="28" name="斜纹 27">
              <a:extLst>
                <a:ext uri="{FF2B5EF4-FFF2-40B4-BE49-F238E27FC236}">
                  <a16:creationId xmlns:a16="http://schemas.microsoft.com/office/drawing/2014/main" id="{7B99312F-447C-4FD5-BFA5-3E3BE9D8F3F3}"/>
                </a:ext>
              </a:extLst>
            </p:cNvPr>
            <p:cNvSpPr/>
            <p:nvPr/>
          </p:nvSpPr>
          <p:spPr>
            <a:xfrm rot="16200000">
              <a:off x="12792" y="2009"/>
              <a:ext cx="1526" cy="1467"/>
            </a:xfrm>
            <a:prstGeom prst="diagStripe">
              <a:avLst>
                <a:gd name="adj" fmla="val 67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平行四边形 28">
              <a:extLst>
                <a:ext uri="{FF2B5EF4-FFF2-40B4-BE49-F238E27FC236}">
                  <a16:creationId xmlns:a16="http://schemas.microsoft.com/office/drawing/2014/main" id="{9C170A4B-380B-41A3-AA37-1C3D64952B39}"/>
                </a:ext>
              </a:extLst>
            </p:cNvPr>
            <p:cNvSpPr/>
            <p:nvPr/>
          </p:nvSpPr>
          <p:spPr>
            <a:xfrm rot="2760000">
              <a:off x="12801" y="2881"/>
              <a:ext cx="1477" cy="584"/>
            </a:xfrm>
            <a:prstGeom prst="parallelogram">
              <a:avLst>
                <a:gd name="adj" fmla="val 8734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斜纹 29">
              <a:extLst>
                <a:ext uri="{FF2B5EF4-FFF2-40B4-BE49-F238E27FC236}">
                  <a16:creationId xmlns:a16="http://schemas.microsoft.com/office/drawing/2014/main" id="{6BA183DD-D639-43C3-B499-3BE577DB0CAB}"/>
                </a:ext>
              </a:extLst>
            </p:cNvPr>
            <p:cNvSpPr/>
            <p:nvPr/>
          </p:nvSpPr>
          <p:spPr>
            <a:xfrm rot="16980000">
              <a:off x="13435" y="2814"/>
              <a:ext cx="720" cy="1156"/>
            </a:xfrm>
            <a:prstGeom prst="diagStripe">
              <a:avLst>
                <a:gd name="adj" fmla="val 4846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梯形 30">
              <a:extLst>
                <a:ext uri="{FF2B5EF4-FFF2-40B4-BE49-F238E27FC236}">
                  <a16:creationId xmlns:a16="http://schemas.microsoft.com/office/drawing/2014/main" id="{4551A5B0-8B55-4B0A-AF27-F2ADF7DF113D}"/>
                </a:ext>
              </a:extLst>
            </p:cNvPr>
            <p:cNvSpPr/>
            <p:nvPr/>
          </p:nvSpPr>
          <p:spPr>
            <a:xfrm>
              <a:off x="12824" y="3506"/>
              <a:ext cx="1502" cy="361"/>
            </a:xfrm>
            <a:prstGeom prst="trapezoid">
              <a:avLst>
                <a:gd name="adj" fmla="val 1229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1DCFA61A-1232-45C5-AD62-4F8B5B30D537}"/>
                </a:ext>
              </a:extLst>
            </p:cNvPr>
            <p:cNvSpPr/>
            <p:nvPr/>
          </p:nvSpPr>
          <p:spPr>
            <a:xfrm>
              <a:off x="12821" y="3506"/>
              <a:ext cx="587" cy="3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6199C703-2F7A-4938-8B1C-5B794EA997D7}"/>
                </a:ext>
              </a:extLst>
            </p:cNvPr>
            <p:cNvSpPr/>
            <p:nvPr/>
          </p:nvSpPr>
          <p:spPr>
            <a:xfrm>
              <a:off x="12199" y="3573"/>
              <a:ext cx="301" cy="1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6F4A82F1-FBB6-4763-B807-610D621007D1}"/>
                </a:ext>
              </a:extLst>
            </p:cNvPr>
            <p:cNvSpPr/>
            <p:nvPr/>
          </p:nvSpPr>
          <p:spPr>
            <a:xfrm>
              <a:off x="11926" y="3328"/>
              <a:ext cx="273" cy="24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DE62BC65-6AE1-43CC-A21C-B460DD2261BB}"/>
                </a:ext>
              </a:extLst>
            </p:cNvPr>
            <p:cNvSpPr/>
            <p:nvPr/>
          </p:nvSpPr>
          <p:spPr>
            <a:xfrm>
              <a:off x="11450" y="3359"/>
              <a:ext cx="136" cy="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3BDFF6A7-3577-4A36-8803-A3A2CE7ED083}"/>
                </a:ext>
              </a:extLst>
            </p:cNvPr>
            <p:cNvSpPr/>
            <p:nvPr/>
          </p:nvSpPr>
          <p:spPr>
            <a:xfrm>
              <a:off x="11586" y="2745"/>
              <a:ext cx="273" cy="24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D5F2BC41-BB68-4B3D-818A-2574348EEEC4}"/>
                </a:ext>
              </a:extLst>
            </p:cNvPr>
            <p:cNvSpPr/>
            <p:nvPr/>
          </p:nvSpPr>
          <p:spPr>
            <a:xfrm>
              <a:off x="11952" y="2200"/>
              <a:ext cx="136" cy="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611BF01F-2130-42A8-A749-7BACA5BCCFC3}"/>
                </a:ext>
              </a:extLst>
            </p:cNvPr>
            <p:cNvSpPr/>
            <p:nvPr/>
          </p:nvSpPr>
          <p:spPr>
            <a:xfrm>
              <a:off x="11780" y="2320"/>
              <a:ext cx="172" cy="1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F6FE3D34-29E6-4A3A-8E8B-BDDD31E2E185}"/>
                </a:ext>
              </a:extLst>
            </p:cNvPr>
            <p:cNvSpPr/>
            <p:nvPr/>
          </p:nvSpPr>
          <p:spPr>
            <a:xfrm>
              <a:off x="11161" y="2625"/>
              <a:ext cx="136" cy="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大标题页">
    <p:spTree>
      <p:nvGrpSpPr>
        <p:cNvPr id="1" name=""/>
        <p:cNvGrpSpPr/>
        <p:nvPr/>
      </p:nvGrpSpPr>
      <p:grpSpPr>
        <a:xfrm>
          <a:off x="0" y="0"/>
          <a:ext cx="0" cy="0"/>
          <a:chOff x="0" y="0"/>
          <a:chExt cx="0" cy="0"/>
        </a:xfrm>
      </p:grpSpPr>
      <p:graphicFrame>
        <p:nvGraphicFramePr>
          <p:cNvPr id="6" name="对象 5" hidden="1">
            <a:extLst>
              <a:ext uri="{FF2B5EF4-FFF2-40B4-BE49-F238E27FC236}">
                <a16:creationId xmlns:a16="http://schemas.microsoft.com/office/drawing/2014/main" id="{2D573E83-D822-4139-8DEE-21DBB6AD5153}"/>
              </a:ext>
            </a:extLst>
          </p:cNvPr>
          <p:cNvGraphicFramePr>
            <a:graphicFrameLocks noChangeAspect="1"/>
          </p:cNvGraphicFramePr>
          <p:nvPr userDrawn="1">
            <p:custDataLst>
              <p:tags r:id="rId2"/>
            </p:custDataLst>
            <p:extLst>
              <p:ext uri="{D42A27DB-BD31-4B8C-83A1-F6EECF244321}">
                <p14:modId xmlns:p14="http://schemas.microsoft.com/office/powerpoint/2010/main" val="127878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40" name="think-cell Slide" r:id="rId4" imgW="473" imgH="476" progId="TCLayout.ActiveDocument.1">
                  <p:embed/>
                </p:oleObj>
              </mc:Choice>
              <mc:Fallback>
                <p:oleObj name="think-cell Slide"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矩形 16"/>
          <p:cNvSpPr/>
          <p:nvPr userDrawn="1"/>
        </p:nvSpPr>
        <p:spPr>
          <a:xfrm>
            <a:off x="7540777" y="0"/>
            <a:ext cx="4651224" cy="6908483"/>
          </a:xfrm>
          <a:prstGeom prst="rect">
            <a:avLst/>
          </a:prstGeom>
          <a:solidFill>
            <a:srgbClr val="852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25CDA368-C621-4681-B5E1-3260613BE456}"/>
              </a:ext>
            </a:extLst>
          </p:cNvPr>
          <p:cNvPicPr>
            <a:picLocks noChangeAspect="1"/>
          </p:cNvPicPr>
          <p:nvPr userDrawn="1"/>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tretch>
            <a:fillRect/>
          </a:stretch>
        </p:blipFill>
        <p:spPr>
          <a:xfrm>
            <a:off x="10334964" y="6223790"/>
            <a:ext cx="1528489" cy="426201"/>
          </a:xfrm>
          <a:prstGeom prst="rect">
            <a:avLst/>
          </a:prstGeom>
        </p:spPr>
      </p:pic>
      <p:sp>
        <p:nvSpPr>
          <p:cNvPr id="21" name="Rectangle 69">
            <a:extLst>
              <a:ext uri="{FF2B5EF4-FFF2-40B4-BE49-F238E27FC236}">
                <a16:creationId xmlns:a16="http://schemas.microsoft.com/office/drawing/2014/main" id="{C8FB5F20-0943-4862-8D4A-0148A433ECED}"/>
              </a:ext>
            </a:extLst>
          </p:cNvPr>
          <p:cNvSpPr/>
          <p:nvPr userDrawn="1"/>
        </p:nvSpPr>
        <p:spPr>
          <a:xfrm>
            <a:off x="0" y="6627168"/>
            <a:ext cx="6096000" cy="230832"/>
          </a:xfrm>
          <a:prstGeom prst="rect">
            <a:avLst/>
          </a:prstGeom>
        </p:spPr>
        <p:txBody>
          <a:bodyPr>
            <a:spAutoFit/>
          </a:bodyPr>
          <a:lstStyle/>
          <a:p>
            <a:pPr algn="l"/>
            <a:r>
              <a:rPr lang="en-US"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 20</a:t>
            </a:r>
            <a:r>
              <a:rPr lang="en-US" altLang="zh-CN"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18</a:t>
            </a:r>
            <a:r>
              <a:rPr lang="en-US"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Cardinal</a:t>
            </a:r>
            <a:r>
              <a:rPr lang="zh-CN" altLang="en-US"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Operations</a:t>
            </a:r>
            <a:r>
              <a:rPr lang="en-US"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 </a:t>
            </a:r>
            <a:r>
              <a:rPr lang="id-ID"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PowerPoint Business </a:t>
            </a:r>
            <a:r>
              <a:rPr lang="en-US"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rPr>
              <a:t>Theme. All Rights Reserved. </a:t>
            </a:r>
            <a:endParaRPr lang="id-ID" sz="900" dirty="0">
              <a:solidFill>
                <a:sysClr val="windowText" lastClr="000000"/>
              </a:solidFill>
              <a:latin typeface="微软雅黑 Light" panose="020B0502040204020203" charset="-122"/>
              <a:ea typeface="微软雅黑 Light" panose="020B0502040204020203" charset="-122"/>
              <a:cs typeface="微软雅黑 Light" panose="020B0502040204020203" charset="-122"/>
            </a:endParaRPr>
          </a:p>
        </p:txBody>
      </p:sp>
      <p:sp>
        <p:nvSpPr>
          <p:cNvPr id="23" name="文本框 22">
            <a:extLst>
              <a:ext uri="{FF2B5EF4-FFF2-40B4-BE49-F238E27FC236}">
                <a16:creationId xmlns:a16="http://schemas.microsoft.com/office/drawing/2014/main" id="{537BE554-0F93-4336-AB99-B59A0478E6B4}"/>
              </a:ext>
            </a:extLst>
          </p:cNvPr>
          <p:cNvSpPr txBox="1"/>
          <p:nvPr userDrawn="1"/>
        </p:nvSpPr>
        <p:spPr>
          <a:xfrm>
            <a:off x="620839" y="497114"/>
            <a:ext cx="2546247" cy="1341521"/>
          </a:xfrm>
          <a:prstGeom prst="rect">
            <a:avLst/>
          </a:prstGeom>
          <a:noFill/>
        </p:spPr>
        <p:txBody>
          <a:bodyPr wrap="square" rtlCol="0">
            <a:spAutoFit/>
          </a:bodyPr>
          <a:lstStyle/>
          <a:p>
            <a:pPr algn="l">
              <a:lnSpc>
                <a:spcPct val="150000"/>
              </a:lnSpc>
            </a:pPr>
            <a:r>
              <a:rPr lang="zh-CN" altLang="en-US" sz="4000" b="1" dirty="0">
                <a:solidFill>
                  <a:schemeClr val="bg2">
                    <a:lumMod val="25000"/>
                  </a:schemeClr>
                </a:solidFill>
                <a:latin typeface="微软雅黑" panose="020B0503020204020204" pitchFamily="34" charset="-122"/>
                <a:ea typeface="微软雅黑" panose="020B0503020204020204" pitchFamily="34" charset="-122"/>
              </a:rPr>
              <a:t>概览</a:t>
            </a:r>
            <a:r>
              <a:rPr lang="en-US" altLang="zh-CN" sz="3200" b="1" dirty="0">
                <a:solidFill>
                  <a:schemeClr val="bg2">
                    <a:lumMod val="25000"/>
                  </a:schemeClr>
                </a:solidFill>
                <a:latin typeface="微软雅黑" panose="020B0503020204020204" pitchFamily="34" charset="-122"/>
                <a:ea typeface="微软雅黑" panose="020B0503020204020204" pitchFamily="34" charset="-122"/>
              </a:rPr>
              <a:t> </a:t>
            </a:r>
          </a:p>
          <a:p>
            <a:pPr algn="l">
              <a:lnSpc>
                <a:spcPct val="150000"/>
              </a:lnSpc>
            </a:pPr>
            <a:r>
              <a:rPr lang="en-US" altLang="zh-CN" sz="1600" b="0" dirty="0">
                <a:solidFill>
                  <a:schemeClr val="bg2">
                    <a:lumMod val="25000"/>
                  </a:schemeClr>
                </a:solidFill>
                <a:latin typeface="微软雅黑" panose="020B0503020204020204" pitchFamily="34" charset="-122"/>
                <a:ea typeface="微软雅黑" panose="020B0503020204020204" pitchFamily="34" charset="-122"/>
              </a:rPr>
              <a:t>Outline</a:t>
            </a:r>
            <a:endParaRPr lang="zh-CN" altLang="en-US" sz="1600" b="0" dirty="0">
              <a:solidFill>
                <a:schemeClr val="bg2">
                  <a:lumMod val="25000"/>
                </a:schemeClr>
              </a:solidFill>
              <a:latin typeface="微软雅黑" panose="020B0503020204020204" pitchFamily="34" charset="-122"/>
              <a:ea typeface="微软雅黑" panose="020B0503020204020204" pitchFamily="34" charset="-122"/>
            </a:endParaRPr>
          </a:p>
        </p:txBody>
      </p:sp>
      <p:grpSp>
        <p:nvGrpSpPr>
          <p:cNvPr id="26" name="组合 25">
            <a:extLst>
              <a:ext uri="{FF2B5EF4-FFF2-40B4-BE49-F238E27FC236}">
                <a16:creationId xmlns:a16="http://schemas.microsoft.com/office/drawing/2014/main" id="{876A32C3-1694-4E14-9900-258AE149320E}"/>
              </a:ext>
            </a:extLst>
          </p:cNvPr>
          <p:cNvGrpSpPr/>
          <p:nvPr userDrawn="1"/>
        </p:nvGrpSpPr>
        <p:grpSpPr>
          <a:xfrm>
            <a:off x="5127498" y="13049"/>
            <a:ext cx="7418070" cy="6858000"/>
            <a:chOff x="11161" y="1980"/>
            <a:chExt cx="3212" cy="2984"/>
          </a:xfrm>
          <a:blipFill rotWithShape="1">
            <a:blip r:embed="rId8"/>
            <a:stretch>
              <a:fillRect/>
            </a:stretch>
          </a:blipFill>
          <a:effectLst>
            <a:outerShdw blurRad="50800" dist="38100" dir="2700000" algn="tl" rotWithShape="0">
              <a:prstClr val="black">
                <a:alpha val="40000"/>
              </a:prstClr>
            </a:outerShdw>
          </a:effectLst>
        </p:grpSpPr>
        <p:sp>
          <p:nvSpPr>
            <p:cNvPr id="28" name="斜纹 27">
              <a:extLst>
                <a:ext uri="{FF2B5EF4-FFF2-40B4-BE49-F238E27FC236}">
                  <a16:creationId xmlns:a16="http://schemas.microsoft.com/office/drawing/2014/main" id="{C2C28641-852F-4547-A116-DF1350C4BFFA}"/>
                </a:ext>
              </a:extLst>
            </p:cNvPr>
            <p:cNvSpPr/>
            <p:nvPr/>
          </p:nvSpPr>
          <p:spPr>
            <a:xfrm rot="16200000">
              <a:off x="12792" y="2009"/>
              <a:ext cx="1526" cy="1467"/>
            </a:xfrm>
            <a:prstGeom prst="diagStripe">
              <a:avLst>
                <a:gd name="adj" fmla="val 67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平行四边形 30">
              <a:extLst>
                <a:ext uri="{FF2B5EF4-FFF2-40B4-BE49-F238E27FC236}">
                  <a16:creationId xmlns:a16="http://schemas.microsoft.com/office/drawing/2014/main" id="{11B1A5EB-6365-4EC5-A215-62C7D3F5D824}"/>
                </a:ext>
              </a:extLst>
            </p:cNvPr>
            <p:cNvSpPr/>
            <p:nvPr/>
          </p:nvSpPr>
          <p:spPr>
            <a:xfrm rot="2760000">
              <a:off x="12801" y="2881"/>
              <a:ext cx="1477" cy="584"/>
            </a:xfrm>
            <a:prstGeom prst="parallelogram">
              <a:avLst>
                <a:gd name="adj" fmla="val 8734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斜纹 31">
              <a:extLst>
                <a:ext uri="{FF2B5EF4-FFF2-40B4-BE49-F238E27FC236}">
                  <a16:creationId xmlns:a16="http://schemas.microsoft.com/office/drawing/2014/main" id="{91955613-3D5B-459A-AE00-7EE520FE7CDE}"/>
                </a:ext>
              </a:extLst>
            </p:cNvPr>
            <p:cNvSpPr/>
            <p:nvPr/>
          </p:nvSpPr>
          <p:spPr>
            <a:xfrm rot="16980000">
              <a:off x="13435" y="2814"/>
              <a:ext cx="720" cy="1156"/>
            </a:xfrm>
            <a:prstGeom prst="diagStripe">
              <a:avLst>
                <a:gd name="adj" fmla="val 4846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梯形 32">
              <a:extLst>
                <a:ext uri="{FF2B5EF4-FFF2-40B4-BE49-F238E27FC236}">
                  <a16:creationId xmlns:a16="http://schemas.microsoft.com/office/drawing/2014/main" id="{B1BD75C4-9314-419B-A283-3182A7AF8415}"/>
                </a:ext>
              </a:extLst>
            </p:cNvPr>
            <p:cNvSpPr/>
            <p:nvPr/>
          </p:nvSpPr>
          <p:spPr>
            <a:xfrm>
              <a:off x="12824" y="3506"/>
              <a:ext cx="1502" cy="361"/>
            </a:xfrm>
            <a:prstGeom prst="trapezoid">
              <a:avLst>
                <a:gd name="adj" fmla="val 12299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25D0D30F-C1B4-4A03-A2A8-6FFA9B41ED54}"/>
                </a:ext>
              </a:extLst>
            </p:cNvPr>
            <p:cNvSpPr/>
            <p:nvPr/>
          </p:nvSpPr>
          <p:spPr>
            <a:xfrm>
              <a:off x="12821" y="3506"/>
              <a:ext cx="587" cy="3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6271E49F-A8A4-4C18-A0DF-67771798B0D6}"/>
                </a:ext>
              </a:extLst>
            </p:cNvPr>
            <p:cNvSpPr/>
            <p:nvPr/>
          </p:nvSpPr>
          <p:spPr>
            <a:xfrm>
              <a:off x="12199" y="3573"/>
              <a:ext cx="301" cy="1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5A377869-1F00-48D7-83D2-D408BA32886E}"/>
                </a:ext>
              </a:extLst>
            </p:cNvPr>
            <p:cNvSpPr/>
            <p:nvPr/>
          </p:nvSpPr>
          <p:spPr>
            <a:xfrm>
              <a:off x="11926" y="3328"/>
              <a:ext cx="273" cy="24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9C99EF25-4D3A-4587-9FE6-7D4DCA0B062A}"/>
                </a:ext>
              </a:extLst>
            </p:cNvPr>
            <p:cNvSpPr/>
            <p:nvPr/>
          </p:nvSpPr>
          <p:spPr>
            <a:xfrm>
              <a:off x="11450" y="3359"/>
              <a:ext cx="136" cy="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E5BD3C05-3B6A-40BC-970C-355281141255}"/>
                </a:ext>
              </a:extLst>
            </p:cNvPr>
            <p:cNvSpPr/>
            <p:nvPr/>
          </p:nvSpPr>
          <p:spPr>
            <a:xfrm>
              <a:off x="11586" y="2745"/>
              <a:ext cx="273" cy="24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9F2A69B0-6B00-47C4-98EE-037CB6E06EBD}"/>
                </a:ext>
              </a:extLst>
            </p:cNvPr>
            <p:cNvSpPr/>
            <p:nvPr/>
          </p:nvSpPr>
          <p:spPr>
            <a:xfrm>
              <a:off x="11952" y="2200"/>
              <a:ext cx="136" cy="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C726DE57-656B-4EE5-A533-F39812AF1C7D}"/>
                </a:ext>
              </a:extLst>
            </p:cNvPr>
            <p:cNvSpPr/>
            <p:nvPr/>
          </p:nvSpPr>
          <p:spPr>
            <a:xfrm>
              <a:off x="11780" y="2320"/>
              <a:ext cx="172" cy="1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56C67805-C1CA-4611-823B-F63C629203CF}"/>
                </a:ext>
              </a:extLst>
            </p:cNvPr>
            <p:cNvSpPr/>
            <p:nvPr/>
          </p:nvSpPr>
          <p:spPr>
            <a:xfrm>
              <a:off x="11161" y="2625"/>
              <a:ext cx="136" cy="1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224999603"/>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大标题页">
    <p:bg>
      <p:bgPr>
        <a:solidFill>
          <a:schemeClr val="bg2">
            <a:lumMod val="25000"/>
          </a:schemeClr>
        </a:solidFill>
        <a:effectLst/>
      </p:bgPr>
    </p:bg>
    <p:spTree>
      <p:nvGrpSpPr>
        <p:cNvPr id="1" name=""/>
        <p:cNvGrpSpPr/>
        <p:nvPr/>
      </p:nvGrpSpPr>
      <p:grpSpPr>
        <a:xfrm>
          <a:off x="0" y="0"/>
          <a:ext cx="0" cy="0"/>
          <a:chOff x="0" y="0"/>
          <a:chExt cx="0" cy="0"/>
        </a:xfrm>
      </p:grpSpPr>
      <p:graphicFrame>
        <p:nvGraphicFramePr>
          <p:cNvPr id="23" name="对象 22" hidden="1">
            <a:extLst>
              <a:ext uri="{FF2B5EF4-FFF2-40B4-BE49-F238E27FC236}">
                <a16:creationId xmlns:a16="http://schemas.microsoft.com/office/drawing/2014/main" id="{A2A1037A-ECC2-4691-8319-06E59686F575}"/>
              </a:ext>
            </a:extLst>
          </p:cNvPr>
          <p:cNvGraphicFramePr>
            <a:graphicFrameLocks noChangeAspect="1"/>
          </p:cNvGraphicFramePr>
          <p:nvPr userDrawn="1">
            <p:custDataLst>
              <p:tags r:id="rId2"/>
            </p:custDataLst>
            <p:extLst>
              <p:ext uri="{D42A27DB-BD31-4B8C-83A1-F6EECF244321}">
                <p14:modId xmlns:p14="http://schemas.microsoft.com/office/powerpoint/2010/main" val="934689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4" name="think-cell Slide" r:id="rId4" imgW="473" imgH="476" progId="TCLayout.ActiveDocument.1">
                  <p:embed/>
                </p:oleObj>
              </mc:Choice>
              <mc:Fallback>
                <p:oleObj name="think-cell Slide"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 name="文本占位符 17">
            <a:extLst>
              <a:ext uri="{FF2B5EF4-FFF2-40B4-BE49-F238E27FC236}">
                <a16:creationId xmlns:a16="http://schemas.microsoft.com/office/drawing/2014/main" id="{1F0D30C4-6AD6-4F75-AFF6-083E88F22271}"/>
              </a:ext>
            </a:extLst>
          </p:cNvPr>
          <p:cNvSpPr>
            <a:spLocks noGrp="1"/>
          </p:cNvSpPr>
          <p:nvPr>
            <p:ph type="body" sz="quarter" idx="12"/>
          </p:nvPr>
        </p:nvSpPr>
        <p:spPr>
          <a:xfrm>
            <a:off x="404346" y="5869640"/>
            <a:ext cx="4412862" cy="379281"/>
          </a:xfrm>
          <a:prstGeom prst="rect">
            <a:avLst/>
          </a:prstGeom>
        </p:spPr>
        <p:txBody>
          <a:bodyPr/>
          <a:lstStyle>
            <a:lvl1pPr marL="0" indent="0">
              <a:buNone/>
              <a:defRPr sz="1600">
                <a:solidFill>
                  <a:schemeClr val="bg1"/>
                </a:solidFill>
                <a:latin typeface="微软雅黑" panose="020B0503020204020204" pitchFamily="34" charset="-122"/>
                <a:ea typeface="微软雅黑" panose="020B0503020204020204" pitchFamily="34" charset="-122"/>
              </a:defRPr>
            </a:lvl1pPr>
            <a:lvl2pPr marL="457200" indent="0">
              <a:buNone/>
              <a:defRPr sz="2000">
                <a:solidFill>
                  <a:schemeClr val="bg1"/>
                </a:solidFill>
                <a:latin typeface="微软雅黑" panose="020B0503020204020204" pitchFamily="34" charset="-122"/>
                <a:ea typeface="微软雅黑" panose="020B0503020204020204" pitchFamily="34" charset="-122"/>
              </a:defRPr>
            </a:lvl2pPr>
            <a:lvl3pPr marL="914400" indent="0">
              <a:buNone/>
              <a:defRPr sz="1800">
                <a:solidFill>
                  <a:schemeClr val="bg1"/>
                </a:solidFill>
                <a:latin typeface="微软雅黑" panose="020B0503020204020204" pitchFamily="34" charset="-122"/>
                <a:ea typeface="微软雅黑" panose="020B0503020204020204" pitchFamily="34" charset="-122"/>
              </a:defRPr>
            </a:lvl3pPr>
            <a:lvl4pPr marL="1371600" indent="0">
              <a:buNone/>
              <a:defRPr sz="1600">
                <a:solidFill>
                  <a:schemeClr val="bg1"/>
                </a:solidFill>
                <a:latin typeface="微软雅黑" panose="020B0503020204020204" pitchFamily="34" charset="-122"/>
                <a:ea typeface="微软雅黑" panose="020B0503020204020204" pitchFamily="34" charset="-122"/>
              </a:defRPr>
            </a:lvl4pPr>
            <a:lvl5pPr marL="1828800" indent="0">
              <a:buNone/>
              <a:defRPr sz="1600">
                <a:solidFill>
                  <a:schemeClr val="bg1"/>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p:txBody>
      </p:sp>
      <p:sp>
        <p:nvSpPr>
          <p:cNvPr id="18" name="文本占位符 17">
            <a:extLst>
              <a:ext uri="{FF2B5EF4-FFF2-40B4-BE49-F238E27FC236}">
                <a16:creationId xmlns:a16="http://schemas.microsoft.com/office/drawing/2014/main" id="{8B404D8C-6394-4F8F-8253-6BFB3E1AE170}"/>
              </a:ext>
            </a:extLst>
          </p:cNvPr>
          <p:cNvSpPr>
            <a:spLocks noGrp="1"/>
          </p:cNvSpPr>
          <p:nvPr>
            <p:ph type="body" sz="quarter" idx="10"/>
          </p:nvPr>
        </p:nvSpPr>
        <p:spPr>
          <a:xfrm>
            <a:off x="404346" y="5218559"/>
            <a:ext cx="7129928" cy="610744"/>
          </a:xfrm>
          <a:prstGeom prst="rect">
            <a:avLst/>
          </a:prstGeom>
        </p:spPr>
        <p:txBody>
          <a:bodyPr/>
          <a:lstStyle>
            <a:lvl1pPr marL="0" indent="0" algn="l">
              <a:buNone/>
              <a:defRPr sz="3200" b="1">
                <a:solidFill>
                  <a:schemeClr val="bg1"/>
                </a:solidFill>
                <a:latin typeface="微软雅黑" panose="020B0503020204020204" pitchFamily="34" charset="-122"/>
                <a:ea typeface="微软雅黑" panose="020B0503020204020204" pitchFamily="34" charset="-122"/>
              </a:defRPr>
            </a:lvl1pPr>
            <a:lvl2pPr marL="457200" indent="0">
              <a:buNone/>
              <a:defRPr sz="2000">
                <a:solidFill>
                  <a:schemeClr val="bg1"/>
                </a:solidFill>
                <a:latin typeface="微软雅黑" panose="020B0503020204020204" pitchFamily="34" charset="-122"/>
                <a:ea typeface="微软雅黑" panose="020B0503020204020204" pitchFamily="34" charset="-122"/>
              </a:defRPr>
            </a:lvl2pPr>
            <a:lvl3pPr marL="914400" indent="0">
              <a:buNone/>
              <a:defRPr sz="1800">
                <a:solidFill>
                  <a:schemeClr val="bg1"/>
                </a:solidFill>
                <a:latin typeface="微软雅黑" panose="020B0503020204020204" pitchFamily="34" charset="-122"/>
                <a:ea typeface="微软雅黑" panose="020B0503020204020204" pitchFamily="34" charset="-122"/>
              </a:defRPr>
            </a:lvl3pPr>
            <a:lvl4pPr marL="1371600" indent="0">
              <a:buNone/>
              <a:defRPr sz="1600">
                <a:solidFill>
                  <a:schemeClr val="bg1"/>
                </a:solidFill>
                <a:latin typeface="微软雅黑" panose="020B0503020204020204" pitchFamily="34" charset="-122"/>
                <a:ea typeface="微软雅黑" panose="020B0503020204020204" pitchFamily="34" charset="-122"/>
              </a:defRPr>
            </a:lvl4pPr>
            <a:lvl5pPr marL="1828800" indent="0">
              <a:buNone/>
              <a:defRPr sz="1600">
                <a:solidFill>
                  <a:schemeClr val="bg1"/>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p:txBody>
      </p:sp>
      <p:pic>
        <p:nvPicPr>
          <p:cNvPr id="26" name="图片 25">
            <a:extLst>
              <a:ext uri="{FF2B5EF4-FFF2-40B4-BE49-F238E27FC236}">
                <a16:creationId xmlns:a16="http://schemas.microsoft.com/office/drawing/2014/main" id="{B11CAC9E-0470-4E88-9AD5-D6B512510B23}"/>
              </a:ext>
            </a:extLst>
          </p:cNvPr>
          <p:cNvPicPr>
            <a:picLocks noChangeAspect="1"/>
          </p:cNvPicPr>
          <p:nvPr userDrawn="1"/>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4345" y="479732"/>
            <a:ext cx="1737727" cy="484544"/>
          </a:xfrm>
          <a:prstGeom prst="rect">
            <a:avLst/>
          </a:prstGeom>
        </p:spPr>
      </p:pic>
      <p:sp>
        <p:nvSpPr>
          <p:cNvPr id="7" name="Rectangle 69">
            <a:extLst>
              <a:ext uri="{FF2B5EF4-FFF2-40B4-BE49-F238E27FC236}">
                <a16:creationId xmlns:a16="http://schemas.microsoft.com/office/drawing/2014/main" id="{7A522FE2-D3BB-40AA-9A58-4545EC199903}"/>
              </a:ext>
            </a:extLst>
          </p:cNvPr>
          <p:cNvSpPr/>
          <p:nvPr userDrawn="1"/>
        </p:nvSpPr>
        <p:spPr>
          <a:xfrm>
            <a:off x="3048000" y="6649485"/>
            <a:ext cx="6096000" cy="230832"/>
          </a:xfrm>
          <a:prstGeom prst="rect">
            <a:avLst/>
          </a:prstGeom>
        </p:spPr>
        <p:txBody>
          <a:bodyPr>
            <a:spAutoFit/>
          </a:bodyPr>
          <a:lstStyle/>
          <a:p>
            <a:pPr algn="ct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20</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18</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Cardinal</a:t>
            </a:r>
            <a:r>
              <a:rPr lang="zh-CN" alt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Operations</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id-ID" sz="900" dirty="0">
                <a:solidFill>
                  <a:schemeClr val="bg1"/>
                </a:solidFill>
                <a:latin typeface="微软雅黑 Light" panose="020B0502040204020203" charset="-122"/>
                <a:ea typeface="微软雅黑 Light" panose="020B0502040204020203" charset="-122"/>
                <a:cs typeface="微软雅黑 Light" panose="020B0502040204020203" charset="-122"/>
              </a:rPr>
              <a:t>PowerPoint Business </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Theme. All Rights Reserved. </a:t>
            </a:r>
            <a:endParaRPr lang="id-ID" sz="900"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Tree>
    <p:extLst>
      <p:ext uri="{BB962C8B-B14F-4D97-AF65-F5344CB8AC3E}">
        <p14:creationId xmlns:p14="http://schemas.microsoft.com/office/powerpoint/2010/main" val="279068835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graphicFrame>
        <p:nvGraphicFramePr>
          <p:cNvPr id="5" name="对象 4" hidden="1">
            <a:extLst>
              <a:ext uri="{FF2B5EF4-FFF2-40B4-BE49-F238E27FC236}">
                <a16:creationId xmlns:a16="http://schemas.microsoft.com/office/drawing/2014/main" id="{41579AE2-214C-4891-9FE7-6914CAEE7226}"/>
              </a:ext>
            </a:extLst>
          </p:cNvPr>
          <p:cNvGraphicFramePr>
            <a:graphicFrameLocks noChangeAspect="1"/>
          </p:cNvGraphicFramePr>
          <p:nvPr userDrawn="1">
            <p:custDataLst>
              <p:tags r:id="rId2"/>
            </p:custDataLst>
            <p:extLst>
              <p:ext uri="{D42A27DB-BD31-4B8C-83A1-F6EECF244321}">
                <p14:modId xmlns:p14="http://schemas.microsoft.com/office/powerpoint/2010/main" val="10110057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88" name="think-cell Slide" r:id="rId4" imgW="473" imgH="476" progId="TCLayout.ActiveDocument.1">
                  <p:embed/>
                </p:oleObj>
              </mc:Choice>
              <mc:Fallback>
                <p:oleObj name="think-cell Slide"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矩形 11"/>
          <p:cNvSpPr/>
          <p:nvPr userDrawn="1"/>
        </p:nvSpPr>
        <p:spPr>
          <a:xfrm>
            <a:off x="108000" y="6655028"/>
            <a:ext cx="11976000" cy="216000"/>
          </a:xfrm>
          <a:prstGeom prst="rect">
            <a:avLst/>
          </a:prstGeom>
          <a:solidFill>
            <a:srgbClr val="8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3" name="矩形 12"/>
          <p:cNvSpPr/>
          <p:nvPr userDrawn="1"/>
        </p:nvSpPr>
        <p:spPr>
          <a:xfrm rot="5400000">
            <a:off x="9430143" y="4110164"/>
            <a:ext cx="5307711" cy="215998"/>
          </a:xfrm>
          <a:prstGeom prst="rect">
            <a:avLst/>
          </a:prstGeom>
          <a:solidFill>
            <a:srgbClr val="8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4" name="矩形 13"/>
          <p:cNvSpPr/>
          <p:nvPr userDrawn="1"/>
        </p:nvSpPr>
        <p:spPr>
          <a:xfrm rot="5400000">
            <a:off x="-2545858" y="4110163"/>
            <a:ext cx="5307711" cy="216000"/>
          </a:xfrm>
          <a:prstGeom prst="rect">
            <a:avLst/>
          </a:prstGeom>
          <a:solidFill>
            <a:srgbClr val="8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7" name="矩形 16"/>
          <p:cNvSpPr/>
          <p:nvPr userDrawn="1"/>
        </p:nvSpPr>
        <p:spPr>
          <a:xfrm rot="10800000">
            <a:off x="108000" y="989"/>
            <a:ext cx="11976000" cy="216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lumMod val="85000"/>
                </a:srgbClr>
              </a:solidFill>
            </a:endParaRPr>
          </a:p>
        </p:txBody>
      </p:sp>
      <p:sp>
        <p:nvSpPr>
          <p:cNvPr id="18" name="矩形 17"/>
          <p:cNvSpPr/>
          <p:nvPr userDrawn="1"/>
        </p:nvSpPr>
        <p:spPr>
          <a:xfrm rot="16200000">
            <a:off x="-674154" y="673164"/>
            <a:ext cx="1564307" cy="2159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9" name="矩形 18"/>
          <p:cNvSpPr/>
          <p:nvPr userDrawn="1"/>
        </p:nvSpPr>
        <p:spPr>
          <a:xfrm rot="16200000">
            <a:off x="11301847" y="674151"/>
            <a:ext cx="1564307" cy="2160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40" name="Rectangle 69">
            <a:extLst>
              <a:ext uri="{FF2B5EF4-FFF2-40B4-BE49-F238E27FC236}">
                <a16:creationId xmlns:a16="http://schemas.microsoft.com/office/drawing/2014/main" id="{42F3A950-CC26-4FAE-AED7-46F036937DAA}"/>
              </a:ext>
            </a:extLst>
          </p:cNvPr>
          <p:cNvSpPr/>
          <p:nvPr userDrawn="1"/>
        </p:nvSpPr>
        <p:spPr>
          <a:xfrm>
            <a:off x="3048000" y="6649485"/>
            <a:ext cx="6096000" cy="230832"/>
          </a:xfrm>
          <a:prstGeom prst="rect">
            <a:avLst/>
          </a:prstGeom>
        </p:spPr>
        <p:txBody>
          <a:bodyPr>
            <a:spAutoFit/>
          </a:bodyPr>
          <a:lstStyle/>
          <a:p>
            <a:pPr algn="ct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20</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18</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Cardinal</a:t>
            </a:r>
            <a:r>
              <a:rPr lang="zh-CN" alt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Operations</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id-ID" sz="900" dirty="0">
                <a:solidFill>
                  <a:schemeClr val="bg1"/>
                </a:solidFill>
                <a:latin typeface="微软雅黑 Light" panose="020B0502040204020203" charset="-122"/>
                <a:ea typeface="微软雅黑 Light" panose="020B0502040204020203" charset="-122"/>
                <a:cs typeface="微软雅黑 Light" panose="020B0502040204020203" charset="-122"/>
              </a:rPr>
              <a:t>PowerPoint Business </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Theme. All Rights Reserved. </a:t>
            </a:r>
            <a:endParaRPr lang="id-ID" sz="900"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pic>
        <p:nvPicPr>
          <p:cNvPr id="11" name="图片 10">
            <a:extLst>
              <a:ext uri="{FF2B5EF4-FFF2-40B4-BE49-F238E27FC236}">
                <a16:creationId xmlns:a16="http://schemas.microsoft.com/office/drawing/2014/main" id="{51622FFB-8DF6-49B0-9B6E-092DCCF584F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216255" y="406261"/>
            <a:ext cx="521320" cy="521320"/>
          </a:xfrm>
          <a:prstGeom prst="rect">
            <a:avLst/>
          </a:prstGeom>
        </p:spPr>
      </p:pic>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2_标题和内容">
    <p:spTree>
      <p:nvGrpSpPr>
        <p:cNvPr id="1" name=""/>
        <p:cNvGrpSpPr/>
        <p:nvPr/>
      </p:nvGrpSpPr>
      <p:grpSpPr>
        <a:xfrm>
          <a:off x="0" y="0"/>
          <a:ext cx="0" cy="0"/>
          <a:chOff x="0" y="0"/>
          <a:chExt cx="0" cy="0"/>
        </a:xfrm>
      </p:grpSpPr>
      <p:graphicFrame>
        <p:nvGraphicFramePr>
          <p:cNvPr id="2" name="对象 1" hidden="1">
            <a:extLst>
              <a:ext uri="{FF2B5EF4-FFF2-40B4-BE49-F238E27FC236}">
                <a16:creationId xmlns:a16="http://schemas.microsoft.com/office/drawing/2014/main" id="{0A1F2CE8-365B-4F4F-9422-51121931A499}"/>
              </a:ext>
            </a:extLst>
          </p:cNvPr>
          <p:cNvGraphicFramePr>
            <a:graphicFrameLocks noChangeAspect="1"/>
          </p:cNvGraphicFramePr>
          <p:nvPr userDrawn="1">
            <p:custDataLst>
              <p:tags r:id="rId2"/>
            </p:custDataLst>
            <p:extLst>
              <p:ext uri="{D42A27DB-BD31-4B8C-83A1-F6EECF244321}">
                <p14:modId xmlns:p14="http://schemas.microsoft.com/office/powerpoint/2010/main" val="21331545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12" name="think-cell Slide" r:id="rId4" imgW="473" imgH="476" progId="TCLayout.ActiveDocument.1">
                  <p:embed/>
                </p:oleObj>
              </mc:Choice>
              <mc:Fallback>
                <p:oleObj name="think-cell Slide" r:id="rId4" imgW="473" imgH="47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3E591803-9283-4895-B14F-AC118EF06916}"/>
              </a:ext>
            </a:extLst>
          </p:cNvPr>
          <p:cNvSpPr/>
          <p:nvPr userDrawn="1"/>
        </p:nvSpPr>
        <p:spPr>
          <a:xfrm>
            <a:off x="0" y="6616553"/>
            <a:ext cx="12084000" cy="254475"/>
          </a:xfrm>
          <a:prstGeom prst="rect">
            <a:avLst/>
          </a:prstGeom>
          <a:solidFill>
            <a:srgbClr val="8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3" name="标题 1"/>
          <p:cNvSpPr>
            <a:spLocks noGrp="1"/>
          </p:cNvSpPr>
          <p:nvPr>
            <p:ph type="title" hasCustomPrompt="1"/>
          </p:nvPr>
        </p:nvSpPr>
        <p:spPr>
          <a:xfrm>
            <a:off x="260815" y="241447"/>
            <a:ext cx="10803425" cy="424732"/>
          </a:xfrm>
          <a:prstGeom prst="rect">
            <a:avLst/>
          </a:prstGeom>
        </p:spPr>
        <p:txBody>
          <a:bodyPr wrap="square" anchor="ctr">
            <a:spAutoFit/>
          </a:bodyPr>
          <a:lstStyle>
            <a:lvl1pPr>
              <a:defRPr kumimoji="1" lang="zh-CN" altLang="en-US" sz="2400" b="1" dirty="0">
                <a:solidFill>
                  <a:srgbClr val="852432"/>
                </a:solidFill>
                <a:latin typeface="微软雅黑" panose="020B0503020204020204" charset="-122"/>
                <a:ea typeface="微软雅黑" panose="020B0503020204020204" charset="-122"/>
                <a:cs typeface="微软雅黑" panose="020B0503020204020204" charset="-122"/>
              </a:defRPr>
            </a:lvl1pPr>
          </a:lstStyle>
          <a:p>
            <a:pPr marL="0" lvl="0"/>
            <a:r>
              <a:rPr kumimoji="1" lang="zh-CN" altLang="en-US" dirty="0"/>
              <a:t>输入大标题</a:t>
            </a:r>
          </a:p>
        </p:txBody>
      </p:sp>
      <p:sp>
        <p:nvSpPr>
          <p:cNvPr id="184" name=" 184"/>
          <p:cNvSpPr/>
          <p:nvPr userDrawn="1"/>
        </p:nvSpPr>
        <p:spPr>
          <a:xfrm>
            <a:off x="11686540" y="6245225"/>
            <a:ext cx="694055" cy="666750"/>
          </a:xfrm>
          <a:prstGeom prst="ellipse">
            <a:avLst/>
          </a:prstGeom>
          <a:solidFill>
            <a:srgbClr val="94313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fld id="{44B5E3D8-B559-49FC-84E7-900B409E63B2}" type="slidenum">
              <a:rPr lang="id-ID" altLang="en-US" b="1" smtClean="0">
                <a:solidFill>
                  <a:schemeClr val="bg1"/>
                </a:solidFill>
              </a:rPr>
              <a:t>‹#›</a:t>
            </a:fld>
            <a:endParaRPr lang="zh-CN" altLang="en-US">
              <a:solidFill>
                <a:srgbClr val="FFFFFF"/>
              </a:solidFill>
            </a:endParaRPr>
          </a:p>
        </p:txBody>
      </p:sp>
      <p:sp>
        <p:nvSpPr>
          <p:cNvPr id="7" name="矩形 6"/>
          <p:cNvSpPr/>
          <p:nvPr userDrawn="1"/>
        </p:nvSpPr>
        <p:spPr>
          <a:xfrm>
            <a:off x="-9525" y="186267"/>
            <a:ext cx="122285" cy="535093"/>
          </a:xfrm>
          <a:prstGeom prst="rect">
            <a:avLst/>
          </a:prstGeom>
          <a:solidFill>
            <a:srgbClr val="8E2936"/>
          </a:solidFill>
          <a:ln>
            <a:solidFill>
              <a:srgbClr val="8E29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内容占位符 4">
            <a:extLst>
              <a:ext uri="{FF2B5EF4-FFF2-40B4-BE49-F238E27FC236}">
                <a16:creationId xmlns:a16="http://schemas.microsoft.com/office/drawing/2014/main" id="{9DA5A72D-1F13-4A6E-ADF8-1C9EF5CC322E}"/>
              </a:ext>
            </a:extLst>
          </p:cNvPr>
          <p:cNvSpPr>
            <a:spLocks noGrp="1"/>
          </p:cNvSpPr>
          <p:nvPr>
            <p:ph sz="quarter" idx="10" hasCustomPrompt="1"/>
          </p:nvPr>
        </p:nvSpPr>
        <p:spPr>
          <a:xfrm>
            <a:off x="259715" y="678195"/>
            <a:ext cx="10804525" cy="520700"/>
          </a:xfrm>
          <a:prstGeom prst="rect">
            <a:avLst/>
          </a:prstGeom>
        </p:spPr>
        <p:txBody>
          <a:bodyPr anchor="ctr"/>
          <a:lstStyle>
            <a:lvl1pPr marL="0" indent="0">
              <a:buNone/>
              <a:defRPr sz="1600" b="1">
                <a:solidFill>
                  <a:schemeClr val="bg2">
                    <a:lumMod val="25000"/>
                  </a:schemeClr>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在这输入本页的结论</a:t>
            </a:r>
          </a:p>
        </p:txBody>
      </p:sp>
      <p:sp>
        <p:nvSpPr>
          <p:cNvPr id="10" name="Rectangle 69">
            <a:extLst>
              <a:ext uri="{FF2B5EF4-FFF2-40B4-BE49-F238E27FC236}">
                <a16:creationId xmlns:a16="http://schemas.microsoft.com/office/drawing/2014/main" id="{2EE89FE1-E121-4C4D-9F37-E59B3EB8AE59}"/>
              </a:ext>
            </a:extLst>
          </p:cNvPr>
          <p:cNvSpPr/>
          <p:nvPr userDrawn="1"/>
        </p:nvSpPr>
        <p:spPr>
          <a:xfrm>
            <a:off x="0" y="6627168"/>
            <a:ext cx="6096000" cy="230832"/>
          </a:xfrm>
          <a:prstGeom prst="rect">
            <a:avLst/>
          </a:prstGeom>
        </p:spPr>
        <p:txBody>
          <a:bodyPr>
            <a:spAutoFit/>
          </a:bodyPr>
          <a:lstStyle/>
          <a:p>
            <a:pPr algn="l"/>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20</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18</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Cardinal</a:t>
            </a:r>
            <a:r>
              <a:rPr lang="zh-CN" alt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Operations</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id-ID" sz="900" dirty="0">
                <a:solidFill>
                  <a:schemeClr val="bg1"/>
                </a:solidFill>
                <a:latin typeface="微软雅黑 Light" panose="020B0502040204020203" charset="-122"/>
                <a:ea typeface="微软雅黑 Light" panose="020B0502040204020203" charset="-122"/>
                <a:cs typeface="微软雅黑 Light" panose="020B0502040204020203" charset="-122"/>
              </a:rPr>
              <a:t>PowerPoint Business </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Theme. All Rights Reserved. </a:t>
            </a:r>
            <a:endParaRPr lang="id-ID" sz="900"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pic>
        <p:nvPicPr>
          <p:cNvPr id="14" name="图片 13">
            <a:extLst>
              <a:ext uri="{FF2B5EF4-FFF2-40B4-BE49-F238E27FC236}">
                <a16:creationId xmlns:a16="http://schemas.microsoft.com/office/drawing/2014/main" id="{417922B5-E57E-4F57-859E-447A0E2FEBC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444855" y="241447"/>
            <a:ext cx="479913" cy="479913"/>
          </a:xfrm>
          <a:prstGeom prst="rect">
            <a:avLst/>
          </a:prstGeom>
        </p:spPr>
      </p:pic>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graphicFrame>
        <p:nvGraphicFramePr>
          <p:cNvPr id="2" name="对象 1" hidden="1">
            <a:extLst>
              <a:ext uri="{FF2B5EF4-FFF2-40B4-BE49-F238E27FC236}">
                <a16:creationId xmlns:a16="http://schemas.microsoft.com/office/drawing/2014/main" id="{0A1F2CE8-365B-4F4F-9422-51121931A499}"/>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36" name="think-cell Slide" r:id="rId4" imgW="473" imgH="476" progId="TCLayout.ActiveDocument.1">
                  <p:embed/>
                </p:oleObj>
              </mc:Choice>
              <mc:Fallback>
                <p:oleObj name="think-cell Slide" r:id="rId4" imgW="473" imgH="476" progId="TCLayout.ActiveDocument.1">
                  <p:embed/>
                  <p:pic>
                    <p:nvPicPr>
                      <p:cNvPr id="2" name="对象 1" hidden="1">
                        <a:extLst>
                          <a:ext uri="{FF2B5EF4-FFF2-40B4-BE49-F238E27FC236}">
                            <a16:creationId xmlns:a16="http://schemas.microsoft.com/office/drawing/2014/main" id="{0A1F2CE8-365B-4F4F-9422-51121931A49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3E591803-9283-4895-B14F-AC118EF06916}"/>
              </a:ext>
            </a:extLst>
          </p:cNvPr>
          <p:cNvSpPr/>
          <p:nvPr userDrawn="1"/>
        </p:nvSpPr>
        <p:spPr>
          <a:xfrm>
            <a:off x="0" y="6616553"/>
            <a:ext cx="12084000" cy="254475"/>
          </a:xfrm>
          <a:prstGeom prst="rect">
            <a:avLst/>
          </a:prstGeom>
          <a:solidFill>
            <a:srgbClr val="8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84" name=" 184"/>
          <p:cNvSpPr/>
          <p:nvPr userDrawn="1"/>
        </p:nvSpPr>
        <p:spPr>
          <a:xfrm>
            <a:off x="11686540" y="6245225"/>
            <a:ext cx="694055" cy="666750"/>
          </a:xfrm>
          <a:prstGeom prst="ellipse">
            <a:avLst/>
          </a:prstGeom>
          <a:solidFill>
            <a:srgbClr val="94313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fld id="{44B5E3D8-B559-49FC-84E7-900B409E63B2}" type="slidenum">
              <a:rPr lang="id-ID" altLang="en-US" b="1" smtClean="0">
                <a:solidFill>
                  <a:schemeClr val="bg1"/>
                </a:solidFill>
              </a:rPr>
              <a:t>‹#›</a:t>
            </a:fld>
            <a:endParaRPr lang="zh-CN" altLang="en-US">
              <a:solidFill>
                <a:srgbClr val="FFFFFF"/>
              </a:solidFill>
            </a:endParaRPr>
          </a:p>
        </p:txBody>
      </p:sp>
      <p:sp>
        <p:nvSpPr>
          <p:cNvPr id="10" name="Rectangle 69">
            <a:extLst>
              <a:ext uri="{FF2B5EF4-FFF2-40B4-BE49-F238E27FC236}">
                <a16:creationId xmlns:a16="http://schemas.microsoft.com/office/drawing/2014/main" id="{2EE89FE1-E121-4C4D-9F37-E59B3EB8AE59}"/>
              </a:ext>
            </a:extLst>
          </p:cNvPr>
          <p:cNvSpPr/>
          <p:nvPr userDrawn="1"/>
        </p:nvSpPr>
        <p:spPr>
          <a:xfrm>
            <a:off x="0" y="6627168"/>
            <a:ext cx="6096000" cy="230832"/>
          </a:xfrm>
          <a:prstGeom prst="rect">
            <a:avLst/>
          </a:prstGeom>
        </p:spPr>
        <p:txBody>
          <a:bodyPr>
            <a:spAutoFit/>
          </a:bodyPr>
          <a:lstStyle/>
          <a:p>
            <a:pPr algn="l"/>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20</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19</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Cardinal</a:t>
            </a:r>
            <a:r>
              <a:rPr lang="zh-CN" alt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Operations</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id-ID" sz="900" dirty="0">
                <a:solidFill>
                  <a:schemeClr val="bg1"/>
                </a:solidFill>
                <a:latin typeface="微软雅黑 Light" panose="020B0502040204020203" charset="-122"/>
                <a:ea typeface="微软雅黑 Light" panose="020B0502040204020203" charset="-122"/>
                <a:cs typeface="微软雅黑 Light" panose="020B0502040204020203" charset="-122"/>
              </a:rPr>
              <a:t>PowerPoint Business </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Theme. All Rights Reserved. </a:t>
            </a:r>
            <a:endParaRPr lang="id-ID" sz="900"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1" name="标题 1">
            <a:extLst>
              <a:ext uri="{FF2B5EF4-FFF2-40B4-BE49-F238E27FC236}">
                <a16:creationId xmlns:a16="http://schemas.microsoft.com/office/drawing/2014/main" id="{AA0B86EA-5961-224E-A6BE-70CA44CED5A7}"/>
              </a:ext>
            </a:extLst>
          </p:cNvPr>
          <p:cNvSpPr>
            <a:spLocks noGrp="1"/>
          </p:cNvSpPr>
          <p:nvPr>
            <p:ph type="title" hasCustomPrompt="1"/>
          </p:nvPr>
        </p:nvSpPr>
        <p:spPr>
          <a:xfrm>
            <a:off x="959463" y="397951"/>
            <a:ext cx="10803425" cy="369332"/>
          </a:xfrm>
          <a:prstGeom prst="rect">
            <a:avLst/>
          </a:prstGeom>
        </p:spPr>
        <p:txBody>
          <a:bodyPr wrap="square" anchor="ctr">
            <a:spAutoFit/>
          </a:bodyPr>
          <a:lstStyle>
            <a:lvl1pPr>
              <a:defRPr kumimoji="1" lang="zh-CN" altLang="en-US" sz="2000" b="1" dirty="0">
                <a:solidFill>
                  <a:schemeClr val="tx1"/>
                </a:solidFill>
                <a:latin typeface="微软雅黑" panose="020B0503020204020204" charset="-122"/>
                <a:ea typeface="微软雅黑" panose="020B0503020204020204" charset="-122"/>
                <a:cs typeface="微软雅黑" panose="020B0503020204020204" charset="-122"/>
              </a:defRPr>
            </a:lvl1pPr>
          </a:lstStyle>
          <a:p>
            <a:pPr marL="0" lvl="0"/>
            <a:r>
              <a:rPr kumimoji="1" lang="zh-CN" altLang="en-US" dirty="0"/>
              <a:t>输入大标题</a:t>
            </a:r>
          </a:p>
        </p:txBody>
      </p:sp>
      <p:grpSp>
        <p:nvGrpSpPr>
          <p:cNvPr id="23" name="组合 22">
            <a:extLst>
              <a:ext uri="{FF2B5EF4-FFF2-40B4-BE49-F238E27FC236}">
                <a16:creationId xmlns:a16="http://schemas.microsoft.com/office/drawing/2014/main" id="{864E50D6-AD35-5244-BA6C-5546A0F8A183}"/>
              </a:ext>
            </a:extLst>
          </p:cNvPr>
          <p:cNvGrpSpPr/>
          <p:nvPr userDrawn="1"/>
        </p:nvGrpSpPr>
        <p:grpSpPr>
          <a:xfrm>
            <a:off x="257530" y="254829"/>
            <a:ext cx="624408" cy="565045"/>
            <a:chOff x="339418" y="254829"/>
            <a:chExt cx="735310" cy="665403"/>
          </a:xfrm>
        </p:grpSpPr>
        <p:sp>
          <p:nvSpPr>
            <p:cNvPr id="24" name="六边形 23">
              <a:extLst>
                <a:ext uri="{FF2B5EF4-FFF2-40B4-BE49-F238E27FC236}">
                  <a16:creationId xmlns:a16="http://schemas.microsoft.com/office/drawing/2014/main" id="{54BD40AC-B5B1-7F47-BC96-986396309153}"/>
                </a:ext>
              </a:extLst>
            </p:cNvPr>
            <p:cNvSpPr/>
            <p:nvPr userDrawn="1"/>
          </p:nvSpPr>
          <p:spPr>
            <a:xfrm>
              <a:off x="339418" y="254829"/>
              <a:ext cx="579898" cy="498476"/>
            </a:xfrm>
            <a:prstGeom prst="hexagon">
              <a:avLst/>
            </a:prstGeom>
            <a:solidFill>
              <a:schemeClr val="bg1">
                <a:lumMod val="50000"/>
                <a:alpha val="24000"/>
              </a:schemeClr>
            </a:solidFill>
            <a:ln w="19050">
              <a:noFill/>
            </a:ln>
            <a:effectLst>
              <a:outerShdw blurRad="50800" dist="50800" dir="5400000"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六边形 24">
              <a:extLst>
                <a:ext uri="{FF2B5EF4-FFF2-40B4-BE49-F238E27FC236}">
                  <a16:creationId xmlns:a16="http://schemas.microsoft.com/office/drawing/2014/main" id="{61FC2641-6A34-144F-8CEE-BF6FC595950D}"/>
                </a:ext>
              </a:extLst>
            </p:cNvPr>
            <p:cNvSpPr/>
            <p:nvPr userDrawn="1"/>
          </p:nvSpPr>
          <p:spPr>
            <a:xfrm>
              <a:off x="686342" y="586378"/>
              <a:ext cx="388386" cy="333854"/>
            </a:xfrm>
            <a:prstGeom prst="hexagon">
              <a:avLst/>
            </a:prstGeom>
            <a:solidFill>
              <a:srgbClr val="800000"/>
            </a:solidFill>
            <a:ln w="19050">
              <a:noFill/>
            </a:ln>
            <a:effectLst>
              <a:outerShdw blurRad="50800" dist="50800" dir="5400000"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图片 29">
            <a:extLst>
              <a:ext uri="{FF2B5EF4-FFF2-40B4-BE49-F238E27FC236}">
                <a16:creationId xmlns:a16="http://schemas.microsoft.com/office/drawing/2014/main" id="{566E08F6-DA52-824B-937C-096954594E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500162" y="387768"/>
            <a:ext cx="1303670" cy="363513"/>
          </a:xfrm>
          <a:prstGeom prst="rect">
            <a:avLst/>
          </a:prstGeom>
        </p:spPr>
      </p:pic>
    </p:spTree>
    <p:extLst>
      <p:ext uri="{BB962C8B-B14F-4D97-AF65-F5344CB8AC3E}">
        <p14:creationId xmlns:p14="http://schemas.microsoft.com/office/powerpoint/2010/main" val="212396148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graphicFrame>
        <p:nvGraphicFramePr>
          <p:cNvPr id="2" name="对象 1" hidden="1">
            <a:extLst>
              <a:ext uri="{FF2B5EF4-FFF2-40B4-BE49-F238E27FC236}">
                <a16:creationId xmlns:a16="http://schemas.microsoft.com/office/drawing/2014/main" id="{0A1F2CE8-365B-4F4F-9422-51121931A499}"/>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60" name="think-cell Slide" r:id="rId4" imgW="473" imgH="476" progId="TCLayout.ActiveDocument.1">
                  <p:embed/>
                </p:oleObj>
              </mc:Choice>
              <mc:Fallback>
                <p:oleObj name="think-cell Slide" r:id="rId4" imgW="473" imgH="476" progId="TCLayout.ActiveDocument.1">
                  <p:embed/>
                  <p:pic>
                    <p:nvPicPr>
                      <p:cNvPr id="2" name="对象 1" hidden="1">
                        <a:extLst>
                          <a:ext uri="{FF2B5EF4-FFF2-40B4-BE49-F238E27FC236}">
                            <a16:creationId xmlns:a16="http://schemas.microsoft.com/office/drawing/2014/main" id="{0A1F2CE8-365B-4F4F-9422-51121931A49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3E591803-9283-4895-B14F-AC118EF06916}"/>
              </a:ext>
            </a:extLst>
          </p:cNvPr>
          <p:cNvSpPr/>
          <p:nvPr userDrawn="1"/>
        </p:nvSpPr>
        <p:spPr>
          <a:xfrm>
            <a:off x="0" y="6616553"/>
            <a:ext cx="12084000" cy="254475"/>
          </a:xfrm>
          <a:prstGeom prst="rect">
            <a:avLst/>
          </a:prstGeom>
          <a:solidFill>
            <a:srgbClr val="8E28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FFFF"/>
              </a:solidFill>
            </a:endParaRPr>
          </a:p>
        </p:txBody>
      </p:sp>
      <p:sp>
        <p:nvSpPr>
          <p:cNvPr id="184" name=" 184"/>
          <p:cNvSpPr/>
          <p:nvPr userDrawn="1"/>
        </p:nvSpPr>
        <p:spPr>
          <a:xfrm>
            <a:off x="11686540" y="6245225"/>
            <a:ext cx="694055" cy="666750"/>
          </a:xfrm>
          <a:prstGeom prst="ellipse">
            <a:avLst/>
          </a:prstGeom>
          <a:solidFill>
            <a:srgbClr val="94313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fld id="{44B5E3D8-B559-49FC-84E7-900B409E63B2}" type="slidenum">
              <a:rPr lang="id-ID" altLang="en-US" b="1" smtClean="0">
                <a:solidFill>
                  <a:schemeClr val="bg1"/>
                </a:solidFill>
              </a:rPr>
              <a:t>‹#›</a:t>
            </a:fld>
            <a:endParaRPr lang="zh-CN" altLang="en-US">
              <a:solidFill>
                <a:srgbClr val="FFFFFF"/>
              </a:solidFill>
            </a:endParaRPr>
          </a:p>
        </p:txBody>
      </p:sp>
      <p:sp>
        <p:nvSpPr>
          <p:cNvPr id="10" name="Rectangle 69">
            <a:extLst>
              <a:ext uri="{FF2B5EF4-FFF2-40B4-BE49-F238E27FC236}">
                <a16:creationId xmlns:a16="http://schemas.microsoft.com/office/drawing/2014/main" id="{2EE89FE1-E121-4C4D-9F37-E59B3EB8AE59}"/>
              </a:ext>
            </a:extLst>
          </p:cNvPr>
          <p:cNvSpPr/>
          <p:nvPr userDrawn="1"/>
        </p:nvSpPr>
        <p:spPr>
          <a:xfrm>
            <a:off x="0" y="6627168"/>
            <a:ext cx="6096000" cy="230832"/>
          </a:xfrm>
          <a:prstGeom prst="rect">
            <a:avLst/>
          </a:prstGeom>
        </p:spPr>
        <p:txBody>
          <a:bodyPr>
            <a:spAutoFit/>
          </a:bodyPr>
          <a:lstStyle/>
          <a:p>
            <a:pPr algn="l"/>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20</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19</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Cardinal</a:t>
            </a:r>
            <a:r>
              <a:rPr lang="zh-CN" alt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en-US" altLang="zh-CN" sz="900" dirty="0">
                <a:solidFill>
                  <a:schemeClr val="bg1"/>
                </a:solidFill>
                <a:latin typeface="微软雅黑 Light" panose="020B0502040204020203" charset="-122"/>
                <a:ea typeface="微软雅黑 Light" panose="020B0502040204020203" charset="-122"/>
                <a:cs typeface="微软雅黑 Light" panose="020B0502040204020203" charset="-122"/>
              </a:rPr>
              <a:t>Operations</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 </a:t>
            </a:r>
            <a:r>
              <a:rPr lang="id-ID" sz="900" dirty="0">
                <a:solidFill>
                  <a:schemeClr val="bg1"/>
                </a:solidFill>
                <a:latin typeface="微软雅黑 Light" panose="020B0502040204020203" charset="-122"/>
                <a:ea typeface="微软雅黑 Light" panose="020B0502040204020203" charset="-122"/>
                <a:cs typeface="微软雅黑 Light" panose="020B0502040204020203" charset="-122"/>
              </a:rPr>
              <a:t>PowerPoint Business </a:t>
            </a:r>
            <a:r>
              <a:rPr lang="en-US" sz="900" dirty="0">
                <a:solidFill>
                  <a:schemeClr val="bg1"/>
                </a:solidFill>
                <a:latin typeface="微软雅黑 Light" panose="020B0502040204020203" charset="-122"/>
                <a:ea typeface="微软雅黑 Light" panose="020B0502040204020203" charset="-122"/>
                <a:cs typeface="微软雅黑 Light" panose="020B0502040204020203" charset="-122"/>
              </a:rPr>
              <a:t>Theme. All Rights Reserved. </a:t>
            </a:r>
            <a:endParaRPr lang="id-ID" sz="900"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1" name="标题 1">
            <a:extLst>
              <a:ext uri="{FF2B5EF4-FFF2-40B4-BE49-F238E27FC236}">
                <a16:creationId xmlns:a16="http://schemas.microsoft.com/office/drawing/2014/main" id="{AA0B86EA-5961-224E-A6BE-70CA44CED5A7}"/>
              </a:ext>
            </a:extLst>
          </p:cNvPr>
          <p:cNvSpPr>
            <a:spLocks noGrp="1"/>
          </p:cNvSpPr>
          <p:nvPr>
            <p:ph type="title" hasCustomPrompt="1"/>
          </p:nvPr>
        </p:nvSpPr>
        <p:spPr>
          <a:xfrm>
            <a:off x="959463" y="397951"/>
            <a:ext cx="10803425" cy="369332"/>
          </a:xfrm>
          <a:prstGeom prst="rect">
            <a:avLst/>
          </a:prstGeom>
        </p:spPr>
        <p:txBody>
          <a:bodyPr wrap="square" anchor="ctr">
            <a:spAutoFit/>
          </a:bodyPr>
          <a:lstStyle>
            <a:lvl1pPr>
              <a:defRPr kumimoji="1" lang="zh-CN" altLang="en-US" sz="2000" b="1" dirty="0">
                <a:solidFill>
                  <a:schemeClr val="tx1"/>
                </a:solidFill>
                <a:latin typeface="微软雅黑" panose="020B0503020204020204" charset="-122"/>
                <a:ea typeface="微软雅黑" panose="020B0503020204020204" charset="-122"/>
                <a:cs typeface="微软雅黑" panose="020B0503020204020204" charset="-122"/>
              </a:defRPr>
            </a:lvl1pPr>
          </a:lstStyle>
          <a:p>
            <a:pPr marL="0" lvl="0"/>
            <a:r>
              <a:rPr kumimoji="1" lang="zh-CN" altLang="en-US" dirty="0"/>
              <a:t>输入大标题</a:t>
            </a:r>
          </a:p>
        </p:txBody>
      </p:sp>
      <p:sp>
        <p:nvSpPr>
          <p:cNvPr id="22" name="内容占位符 4">
            <a:extLst>
              <a:ext uri="{FF2B5EF4-FFF2-40B4-BE49-F238E27FC236}">
                <a16:creationId xmlns:a16="http://schemas.microsoft.com/office/drawing/2014/main" id="{97111ECA-7A4F-B242-9DEC-483C87E91484}"/>
              </a:ext>
            </a:extLst>
          </p:cNvPr>
          <p:cNvSpPr>
            <a:spLocks noGrp="1"/>
          </p:cNvSpPr>
          <p:nvPr>
            <p:ph sz="quarter" idx="10" hasCustomPrompt="1"/>
          </p:nvPr>
        </p:nvSpPr>
        <p:spPr>
          <a:xfrm>
            <a:off x="257530" y="856356"/>
            <a:ext cx="10804525" cy="520700"/>
          </a:xfrm>
          <a:prstGeom prst="rect">
            <a:avLst/>
          </a:prstGeom>
        </p:spPr>
        <p:txBody>
          <a:bodyPr anchor="ctr">
            <a:normAutofit/>
          </a:bodyPr>
          <a:lstStyle>
            <a:lvl1pPr marL="0" indent="0">
              <a:buNone/>
              <a:defRPr sz="1400" b="0" i="0">
                <a:solidFill>
                  <a:schemeClr val="bg2">
                    <a:lumMod val="10000"/>
                  </a:schemeClr>
                </a:solidFill>
                <a:latin typeface="Microsoft YaHei Light" panose="020B0502040204020203" pitchFamily="34" charset="-122"/>
                <a:ea typeface="Microsoft YaHei Light" panose="020B0502040204020203"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在这输入本页的结论</a:t>
            </a:r>
          </a:p>
        </p:txBody>
      </p:sp>
      <p:grpSp>
        <p:nvGrpSpPr>
          <p:cNvPr id="23" name="组合 22">
            <a:extLst>
              <a:ext uri="{FF2B5EF4-FFF2-40B4-BE49-F238E27FC236}">
                <a16:creationId xmlns:a16="http://schemas.microsoft.com/office/drawing/2014/main" id="{864E50D6-AD35-5244-BA6C-5546A0F8A183}"/>
              </a:ext>
            </a:extLst>
          </p:cNvPr>
          <p:cNvGrpSpPr/>
          <p:nvPr userDrawn="1"/>
        </p:nvGrpSpPr>
        <p:grpSpPr>
          <a:xfrm>
            <a:off x="257530" y="254829"/>
            <a:ext cx="624408" cy="565045"/>
            <a:chOff x="339418" y="254829"/>
            <a:chExt cx="735310" cy="665403"/>
          </a:xfrm>
        </p:grpSpPr>
        <p:sp>
          <p:nvSpPr>
            <p:cNvPr id="24" name="六边形 23">
              <a:extLst>
                <a:ext uri="{FF2B5EF4-FFF2-40B4-BE49-F238E27FC236}">
                  <a16:creationId xmlns:a16="http://schemas.microsoft.com/office/drawing/2014/main" id="{54BD40AC-B5B1-7F47-BC96-986396309153}"/>
                </a:ext>
              </a:extLst>
            </p:cNvPr>
            <p:cNvSpPr/>
            <p:nvPr userDrawn="1"/>
          </p:nvSpPr>
          <p:spPr>
            <a:xfrm>
              <a:off x="339418" y="254829"/>
              <a:ext cx="579898" cy="498476"/>
            </a:xfrm>
            <a:prstGeom prst="hexagon">
              <a:avLst/>
            </a:prstGeom>
            <a:solidFill>
              <a:schemeClr val="bg1">
                <a:lumMod val="50000"/>
                <a:alpha val="24000"/>
              </a:schemeClr>
            </a:solidFill>
            <a:ln w="19050">
              <a:noFill/>
            </a:ln>
            <a:effectLst>
              <a:outerShdw blurRad="50800" dist="50800" dir="5400000"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六边形 24">
              <a:extLst>
                <a:ext uri="{FF2B5EF4-FFF2-40B4-BE49-F238E27FC236}">
                  <a16:creationId xmlns:a16="http://schemas.microsoft.com/office/drawing/2014/main" id="{61FC2641-6A34-144F-8CEE-BF6FC595950D}"/>
                </a:ext>
              </a:extLst>
            </p:cNvPr>
            <p:cNvSpPr/>
            <p:nvPr userDrawn="1"/>
          </p:nvSpPr>
          <p:spPr>
            <a:xfrm>
              <a:off x="686342" y="586378"/>
              <a:ext cx="388386" cy="333854"/>
            </a:xfrm>
            <a:prstGeom prst="hexagon">
              <a:avLst/>
            </a:prstGeom>
            <a:solidFill>
              <a:srgbClr val="800000"/>
            </a:solidFill>
            <a:ln w="19050">
              <a:noFill/>
            </a:ln>
            <a:effectLst>
              <a:outerShdw blurRad="50800" dist="50800" dir="5400000"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图片 29">
            <a:extLst>
              <a:ext uri="{FF2B5EF4-FFF2-40B4-BE49-F238E27FC236}">
                <a16:creationId xmlns:a16="http://schemas.microsoft.com/office/drawing/2014/main" id="{566E08F6-DA52-824B-937C-096954594EEF}"/>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0500162" y="387768"/>
            <a:ext cx="1303670" cy="363513"/>
          </a:xfrm>
          <a:prstGeom prst="rect">
            <a:avLst/>
          </a:prstGeom>
        </p:spPr>
      </p:pic>
    </p:spTree>
    <p:extLst>
      <p:ext uri="{BB962C8B-B14F-4D97-AF65-F5344CB8AC3E}">
        <p14:creationId xmlns:p14="http://schemas.microsoft.com/office/powerpoint/2010/main" val="1869121829"/>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80407"/>
            <a:ext cx="10515600" cy="1446415"/>
          </a:xfrm>
          <a:prstGeom prst="rect">
            <a:avLst/>
          </a:prstGeom>
          <a:solidFill>
            <a:srgbClr val="811C21"/>
          </a:solidFill>
        </p:spPr>
        <p:txBody>
          <a:bodyPr vert="horz" lIns="91440" tIns="45720" rIns="91440" bIns="45720" rtlCol="0" anchor="ctr" anchorCtr="0">
            <a:normAutofit/>
          </a:bodyPr>
          <a:lstStyle>
            <a:lvl1pPr algn="ctr">
              <a:defRPr lang="en-US" sz="2800" dirty="0">
                <a:solidFill>
                  <a:schemeClr val="bg1"/>
                </a:solidFill>
              </a:defRPr>
            </a:lvl1pPr>
          </a:lstStyle>
          <a:p>
            <a:endParaRPr lang="en-US" sz="2800" dirty="0">
              <a:solidFill>
                <a:schemeClr val="bg1"/>
              </a:solidFill>
            </a:endParaRPr>
          </a:p>
        </p:txBody>
      </p:sp>
      <p:sp>
        <p:nvSpPr>
          <p:cNvPr id="3" name="Subtitle 2"/>
          <p:cNvSpPr>
            <a:spLocks noGrp="1"/>
          </p:cNvSpPr>
          <p:nvPr>
            <p:ph type="subTitle" idx="1"/>
          </p:nvPr>
        </p:nvSpPr>
        <p:spPr>
          <a:xfrm>
            <a:off x="1524000" y="326952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6" name="Slide Number Placeholder 5"/>
          <p:cNvSpPr>
            <a:spLocks noGrp="1"/>
          </p:cNvSpPr>
          <p:nvPr>
            <p:ph type="sldNum" sz="quarter" idx="12"/>
          </p:nvPr>
        </p:nvSpPr>
        <p:spPr/>
        <p:txBody>
          <a:bodyPr/>
          <a:lstStyle/>
          <a:p>
            <a:fld id="{3A889A70-77D6-453D-9BA0-28F3A1C503F6}" type="slidenum">
              <a:rPr lang="en-US" smtClean="0"/>
              <a:t>‹#›</a:t>
            </a:fld>
            <a:endParaRPr lang="en-US" dirty="0"/>
          </a:p>
        </p:txBody>
      </p:sp>
    </p:spTree>
    <p:extLst>
      <p:ext uri="{BB962C8B-B14F-4D97-AF65-F5344CB8AC3E}">
        <p14:creationId xmlns:p14="http://schemas.microsoft.com/office/powerpoint/2010/main" val="1375132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9" name="标题 1"/>
          <p:cNvSpPr>
            <a:spLocks noGrp="1"/>
          </p:cNvSpPr>
          <p:nvPr>
            <p:ph type="title"/>
          </p:nvPr>
        </p:nvSpPr>
        <p:spPr>
          <a:xfrm>
            <a:off x="412683" y="154613"/>
            <a:ext cx="9966107" cy="660486"/>
          </a:xfrm>
        </p:spPr>
        <p:txBody>
          <a:bodyPr>
            <a:noAutofit/>
          </a:bodyPr>
          <a:lstStyle>
            <a:lvl1pPr>
              <a:defRPr sz="2200" b="1" i="0">
                <a:solidFill>
                  <a:schemeClr val="tx1">
                    <a:lumMod val="65000"/>
                    <a:lumOff val="35000"/>
                  </a:schemeClr>
                </a:solidFill>
                <a:latin typeface="DengXian" panose="02010600030101010101" pitchFamily="2" charset="-122"/>
                <a:ea typeface="DengXian" panose="02010600030101010101" pitchFamily="2" charset="-122"/>
                <a:cs typeface="DengXian" panose="02010600030101010101" pitchFamily="2" charset="-122"/>
              </a:defRPr>
            </a:lvl1pPr>
          </a:lstStyle>
          <a:p>
            <a:r>
              <a:rPr kumimoji="1" lang="zh-CN" altLang="en-US" dirty="0"/>
              <a:t>单击此处编辑母版标题样式</a:t>
            </a:r>
          </a:p>
        </p:txBody>
      </p:sp>
      <p:sp>
        <p:nvSpPr>
          <p:cNvPr id="13" name="幻灯片编号占位符 5"/>
          <p:cNvSpPr txBox="1"/>
          <p:nvPr userDrawn="1"/>
        </p:nvSpPr>
        <p:spPr>
          <a:xfrm>
            <a:off x="9259365"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9BFA75-4CD2-5C4E-A771-07E81768003D}" type="slidenum">
              <a:rPr kumimoji="1" lang="zh-CN" altLang="en-US" smtClean="0"/>
              <a:t>‹#›</a:t>
            </a:fld>
            <a:endParaRPr kumimoji="1" lang="zh-CN" altLang="en-US"/>
          </a:p>
        </p:txBody>
      </p:sp>
      <p:grpSp>
        <p:nvGrpSpPr>
          <p:cNvPr id="2" name="组 1"/>
          <p:cNvGrpSpPr/>
          <p:nvPr userDrawn="1"/>
        </p:nvGrpSpPr>
        <p:grpSpPr>
          <a:xfrm>
            <a:off x="95593" y="406519"/>
            <a:ext cx="212545" cy="198000"/>
            <a:chOff x="93020" y="294342"/>
            <a:chExt cx="212545" cy="198000"/>
          </a:xfrm>
        </p:grpSpPr>
        <p:sp>
          <p:nvSpPr>
            <p:cNvPr id="10" name="矩形 9"/>
            <p:cNvSpPr/>
            <p:nvPr userDrawn="1"/>
          </p:nvSpPr>
          <p:spPr>
            <a:xfrm>
              <a:off x="93020" y="294342"/>
              <a:ext cx="144000" cy="144000"/>
            </a:xfrm>
            <a:prstGeom prst="rect">
              <a:avLst/>
            </a:prstGeom>
            <a:gradFill flip="none" rotWithShape="1">
              <a:gsLst>
                <a:gs pos="0">
                  <a:srgbClr val="841F34"/>
                </a:gs>
                <a:gs pos="23000">
                  <a:srgbClr val="841F34"/>
                </a:gs>
                <a:gs pos="68000">
                  <a:srgbClr val="841F34"/>
                </a:gs>
                <a:gs pos="100000">
                  <a:srgbClr val="841F34"/>
                </a:gs>
              </a:gsLst>
              <a:path path="circle">
                <a:fillToRect l="50000" t="50000" r="50000" b="50000"/>
              </a:path>
              <a:tileRect/>
            </a:gradFill>
            <a:ln>
              <a:noFill/>
            </a:ln>
            <a:effectLst>
              <a:outerShdw blurRad="50800" dist="762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4" name="矩形 13"/>
            <p:cNvSpPr/>
            <p:nvPr userDrawn="1"/>
          </p:nvSpPr>
          <p:spPr>
            <a:xfrm>
              <a:off x="197565" y="384342"/>
              <a:ext cx="108000" cy="108000"/>
            </a:xfrm>
            <a:prstGeom prst="rect">
              <a:avLst/>
            </a:prstGeom>
            <a:gradFill flip="none" rotWithShape="1">
              <a:gsLst>
                <a:gs pos="0">
                  <a:srgbClr val="841F34"/>
                </a:gs>
                <a:gs pos="48000">
                  <a:srgbClr val="841F34">
                    <a:alpha val="84000"/>
                  </a:srgbClr>
                </a:gs>
                <a:gs pos="100000">
                  <a:srgbClr val="841F34">
                    <a:alpha val="60000"/>
                  </a:srgbClr>
                </a:gs>
              </a:gsLst>
              <a:lin ang="16200000" scaled="1"/>
              <a:tileRect/>
            </a:gradFill>
            <a:ln>
              <a:noFill/>
            </a:ln>
            <a:effectLst>
              <a:outerShdw blurRad="50800" dist="76200" dir="5400000" algn="t" rotWithShape="0">
                <a:schemeClr val="bg1">
                  <a:lumMod val="9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265395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3F3">
            <a:alpha val="52000"/>
          </a:srgbClr>
        </a:solidFill>
        <a:effectLst/>
      </p:bgPr>
    </p:bg>
    <p:spTree>
      <p:nvGrpSpPr>
        <p:cNvPr id="1" name=""/>
        <p:cNvGrpSpPr/>
        <p:nvPr/>
      </p:nvGrpSpPr>
      <p:grpSpPr>
        <a:xfrm>
          <a:off x="0" y="0"/>
          <a:ext cx="0" cy="0"/>
          <a:chOff x="0" y="0"/>
          <a:chExt cx="0" cy="0"/>
        </a:xfrm>
      </p:grpSpPr>
      <p:sp>
        <p:nvSpPr>
          <p:cNvPr id="10" name="标题 1"/>
          <p:cNvSpPr>
            <a:spLocks noGrp="1"/>
          </p:cNvSpPr>
          <p:nvPr>
            <p:ph type="title"/>
          </p:nvPr>
        </p:nvSpPr>
        <p:spPr>
          <a:xfrm>
            <a:off x="296135" y="318545"/>
            <a:ext cx="3262432" cy="368300"/>
          </a:xfrm>
          <a:prstGeom prst="rect">
            <a:avLst/>
          </a:prstGeom>
        </p:spPr>
        <p:txBody>
          <a:bodyPr wrap="square" anchor="ctr">
            <a:spAutoFit/>
          </a:bodyPr>
          <a:lstStyle>
            <a:lvl1pPr>
              <a:defRPr kumimoji="1" lang="zh-CN" altLang="en-US" sz="2000" b="1" dirty="0">
                <a:solidFill>
                  <a:schemeClr val="tx1">
                    <a:lumMod val="75000"/>
                  </a:schemeClr>
                </a:solidFill>
                <a:latin typeface="微软雅黑" panose="020B0503020204020204" charset="-122"/>
                <a:ea typeface="微软雅黑" panose="020B0503020204020204" charset="-122"/>
                <a:cs typeface="微软雅黑" panose="020B0503020204020204" charset="-122"/>
              </a:defRPr>
            </a:lvl1pPr>
          </a:lstStyle>
          <a:p>
            <a:pPr marL="0" lvl="0"/>
            <a:r>
              <a:rPr kumimoji="1"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64" r:id="rId2"/>
    <p:sldLayoutId id="2147483663" r:id="rId3"/>
    <p:sldLayoutId id="2147483651" r:id="rId4"/>
    <p:sldLayoutId id="2147483655" r:id="rId5"/>
    <p:sldLayoutId id="2147483666" r:id="rId6"/>
    <p:sldLayoutId id="2147483667" r:id="rId7"/>
    <p:sldLayoutId id="2147483668" r:id="rId8"/>
    <p:sldLayoutId id="2147483669" r:id="rId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ECE12A-BA6D-4BA5-BDB9-EF4425AB5B32}"/>
              </a:ext>
            </a:extLst>
          </p:cNvPr>
          <p:cNvSpPr>
            <a:spLocks noGrp="1"/>
          </p:cNvSpPr>
          <p:nvPr>
            <p:ph type="ctrTitle"/>
          </p:nvPr>
        </p:nvSpPr>
        <p:spPr>
          <a:xfrm>
            <a:off x="840052" y="1169581"/>
            <a:ext cx="10528988" cy="1148317"/>
          </a:xfrm>
          <a:solidFill>
            <a:srgbClr val="811C21"/>
          </a:solidFill>
        </p:spPr>
        <p:txBody>
          <a:bodyPr anchor="ctr"/>
          <a:lstStyle/>
          <a:p>
            <a:r>
              <a:rPr lang="zh-CN" altLang="en-US" dirty="0"/>
              <a:t>华为安全库存项目总结</a:t>
            </a:r>
          </a:p>
        </p:txBody>
      </p:sp>
      <p:sp>
        <p:nvSpPr>
          <p:cNvPr id="3" name="副标题 2">
            <a:extLst>
              <a:ext uri="{FF2B5EF4-FFF2-40B4-BE49-F238E27FC236}">
                <a16:creationId xmlns:a16="http://schemas.microsoft.com/office/drawing/2014/main" id="{D408F0FF-7202-43E0-939D-E176250D38CA}"/>
              </a:ext>
            </a:extLst>
          </p:cNvPr>
          <p:cNvSpPr>
            <a:spLocks noGrp="1"/>
          </p:cNvSpPr>
          <p:nvPr>
            <p:ph type="subTitle" idx="1"/>
          </p:nvPr>
        </p:nvSpPr>
        <p:spPr>
          <a:xfrm>
            <a:off x="0" y="2806995"/>
            <a:ext cx="12192000" cy="2321186"/>
          </a:xfrm>
        </p:spPr>
        <p:txBody>
          <a:bodyPr>
            <a:normAutofit/>
          </a:bodyPr>
          <a:lstStyle/>
          <a:p>
            <a:pPr marL="0" indent="0" algn="ctr">
              <a:buNone/>
            </a:pPr>
            <a:endParaRPr lang="en-US" altLang="zh-CN" dirty="0">
              <a:solidFill>
                <a:schemeClr val="tx1"/>
              </a:solidFill>
              <a:cs typeface="+mn-ea"/>
              <a:sym typeface="+mn-lt"/>
            </a:endParaRPr>
          </a:p>
          <a:p>
            <a:pPr marL="0" indent="0" algn="ctr">
              <a:buNone/>
            </a:pPr>
            <a:r>
              <a:rPr lang="en-US" sz="2000" dirty="0">
                <a:solidFill>
                  <a:schemeClr val="tx1"/>
                </a:solidFill>
                <a:cs typeface="+mn-ea"/>
                <a:sym typeface="+mn-lt"/>
              </a:rPr>
              <a:t>杉数科技</a:t>
            </a:r>
          </a:p>
          <a:p>
            <a:pPr algn="ctr"/>
            <a:endParaRPr lang="en-US" dirty="0">
              <a:cs typeface="+mn-ea"/>
              <a:sym typeface="+mn-lt"/>
            </a:endParaRPr>
          </a:p>
        </p:txBody>
      </p:sp>
    </p:spTree>
    <p:extLst>
      <p:ext uri="{BB962C8B-B14F-4D97-AF65-F5344CB8AC3E}">
        <p14:creationId xmlns:p14="http://schemas.microsoft.com/office/powerpoint/2010/main" val="923284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805F57-FAD4-443A-B472-0364747E23D8}"/>
              </a:ext>
            </a:extLst>
          </p:cNvPr>
          <p:cNvSpPr>
            <a:spLocks noGrp="1"/>
          </p:cNvSpPr>
          <p:nvPr>
            <p:ph type="title"/>
          </p:nvPr>
        </p:nvSpPr>
        <p:spPr/>
        <p:txBody>
          <a:bodyPr/>
          <a:lstStyle/>
          <a:p>
            <a:r>
              <a:rPr lang="zh-CN" altLang="en-US" dirty="0"/>
              <a:t>华为项目总结</a:t>
            </a:r>
            <a:endParaRPr lang="en-US" dirty="0"/>
          </a:p>
        </p:txBody>
      </p:sp>
      <p:sp>
        <p:nvSpPr>
          <p:cNvPr id="3" name="矩形 2">
            <a:extLst>
              <a:ext uri="{FF2B5EF4-FFF2-40B4-BE49-F238E27FC236}">
                <a16:creationId xmlns:a16="http://schemas.microsoft.com/office/drawing/2014/main" id="{4E3C7318-B100-45EE-A909-5C311FD465EF}"/>
              </a:ext>
            </a:extLst>
          </p:cNvPr>
          <p:cNvSpPr/>
          <p:nvPr/>
        </p:nvSpPr>
        <p:spPr>
          <a:xfrm>
            <a:off x="394196" y="886449"/>
            <a:ext cx="7566544" cy="1175963"/>
          </a:xfrm>
          <a:prstGeom prst="rect">
            <a:avLst/>
          </a:prstGeom>
        </p:spPr>
        <p:txBody>
          <a:bodyPr wrap="square">
            <a:spAutoFit/>
          </a:bodyPr>
          <a:lstStyle/>
          <a:p>
            <a:pPr>
              <a:lnSpc>
                <a:spcPct val="125000"/>
              </a:lnSpc>
              <a:spcBef>
                <a:spcPts val="600"/>
              </a:spcBef>
              <a:spcAft>
                <a:spcPts val="600"/>
              </a:spcAft>
            </a:pPr>
            <a:r>
              <a:rPr lang="zh-CN" altLang="en-US" dirty="0">
                <a:solidFill>
                  <a:srgbClr val="811C21"/>
                </a:solidFill>
                <a:cs typeface="+mn-ea"/>
                <a:sym typeface="+mn-lt"/>
              </a:rPr>
              <a:t>背景：</a:t>
            </a:r>
            <a:r>
              <a:rPr lang="zh-CN" altLang="en-US" dirty="0">
                <a:cs typeface="+mn-ea"/>
                <a:sym typeface="+mn-lt"/>
              </a:rPr>
              <a:t>为企业提供一套智能化制造装配网络的安全库存优化方案</a:t>
            </a:r>
            <a:endParaRPr lang="en-US" altLang="zh-CN" dirty="0">
              <a:cs typeface="+mn-ea"/>
              <a:sym typeface="+mn-lt"/>
            </a:endParaRPr>
          </a:p>
          <a:p>
            <a:pPr>
              <a:lnSpc>
                <a:spcPct val="125000"/>
              </a:lnSpc>
            </a:pPr>
            <a:r>
              <a:rPr lang="zh-CN" altLang="en-US" dirty="0">
                <a:solidFill>
                  <a:srgbClr val="811C21"/>
                </a:solidFill>
                <a:cs typeface="+mn-ea"/>
                <a:sym typeface="+mn-lt"/>
              </a:rPr>
              <a:t>目标：</a:t>
            </a:r>
            <a:r>
              <a:rPr lang="zh-CN" altLang="en-US" dirty="0">
                <a:cs typeface="+mn-ea"/>
                <a:sym typeface="+mn-lt"/>
              </a:rPr>
              <a:t>提升需求满足率、提高库存周转率、降低库存总成本</a:t>
            </a:r>
            <a:endParaRPr lang="en-US" altLang="zh-CN" dirty="0">
              <a:cs typeface="+mn-ea"/>
              <a:sym typeface="+mn-lt"/>
            </a:endParaRPr>
          </a:p>
          <a:p>
            <a:pPr>
              <a:lnSpc>
                <a:spcPct val="125000"/>
              </a:lnSpc>
            </a:pPr>
            <a:r>
              <a:rPr lang="en-US" altLang="zh-CN" dirty="0">
                <a:cs typeface="+mn-ea"/>
                <a:sym typeface="+mn-lt"/>
              </a:rPr>
              <a:t>	    </a:t>
            </a:r>
            <a:r>
              <a:rPr lang="zh-CN" altLang="en-US" dirty="0">
                <a:cs typeface="+mn-ea"/>
                <a:sym typeface="+mn-lt"/>
              </a:rPr>
              <a:t>提供一套灵活、快速、智能的辅助决策、仿真工具</a:t>
            </a:r>
          </a:p>
        </p:txBody>
      </p:sp>
      <p:sp>
        <p:nvSpPr>
          <p:cNvPr id="4" name="矩形 3">
            <a:extLst>
              <a:ext uri="{FF2B5EF4-FFF2-40B4-BE49-F238E27FC236}">
                <a16:creationId xmlns:a16="http://schemas.microsoft.com/office/drawing/2014/main" id="{1658169A-BBCB-4D69-B803-7BF2F3028BF4}"/>
              </a:ext>
            </a:extLst>
          </p:cNvPr>
          <p:cNvSpPr/>
          <p:nvPr/>
        </p:nvSpPr>
        <p:spPr>
          <a:xfrm>
            <a:off x="394195" y="2178783"/>
            <a:ext cx="8687429" cy="1868460"/>
          </a:xfrm>
          <a:prstGeom prst="rect">
            <a:avLst/>
          </a:prstGeom>
        </p:spPr>
        <p:txBody>
          <a:bodyPr wrap="square">
            <a:spAutoFit/>
          </a:bodyPr>
          <a:lstStyle/>
          <a:p>
            <a:pPr>
              <a:lnSpc>
                <a:spcPct val="125000"/>
              </a:lnSpc>
            </a:pPr>
            <a:r>
              <a:rPr lang="zh-CN" altLang="en-US" dirty="0">
                <a:solidFill>
                  <a:srgbClr val="811C21"/>
                </a:solidFill>
                <a:cs typeface="+mn-ea"/>
                <a:sym typeface="+mn-lt"/>
              </a:rPr>
              <a:t>管理现状与难点：</a:t>
            </a:r>
            <a:endParaRPr lang="en-US" altLang="zh-CN" dirty="0">
              <a:solidFill>
                <a:srgbClr val="811C21"/>
              </a:solidFill>
              <a:cs typeface="+mn-ea"/>
              <a:sym typeface="+mn-lt"/>
            </a:endParaRPr>
          </a:p>
          <a:p>
            <a:pPr marL="171450" indent="-171450">
              <a:lnSpc>
                <a:spcPct val="125000"/>
              </a:lnSpc>
              <a:spcAft>
                <a:spcPts val="600"/>
              </a:spcAft>
              <a:buClr>
                <a:schemeClr val="tx1"/>
              </a:buClr>
              <a:buFont typeface="Wingdings" panose="05000000000000000000" pitchFamily="2" charset="2"/>
              <a:buChar char="Ø"/>
            </a:pPr>
            <a:r>
              <a:rPr lang="zh-CN" altLang="en-US" dirty="0">
                <a:cs typeface="+mn-ea"/>
                <a:sym typeface="+mn-lt"/>
              </a:rPr>
              <a:t>安全库存主要做在原材料（单点策略），没有深度挖掘全网络安全库存共享的价值</a:t>
            </a:r>
            <a:endParaRPr lang="en-US" altLang="zh-CN" dirty="0">
              <a:cs typeface="+mn-ea"/>
              <a:sym typeface="+mn-lt"/>
            </a:endParaRPr>
          </a:p>
          <a:p>
            <a:pPr marL="171450" indent="-171450">
              <a:lnSpc>
                <a:spcPct val="125000"/>
              </a:lnSpc>
              <a:buClr>
                <a:schemeClr val="tx1"/>
              </a:buClr>
              <a:buFont typeface="Wingdings" panose="05000000000000000000" pitchFamily="2" charset="2"/>
              <a:buChar char="Ø"/>
            </a:pPr>
            <a:r>
              <a:rPr lang="zh-CN" altLang="en-US" dirty="0">
                <a:cs typeface="+mn-ea"/>
                <a:sym typeface="+mn-lt"/>
              </a:rPr>
              <a:t>库存网络结构复杂</a:t>
            </a:r>
            <a:endParaRPr lang="en-US" altLang="zh-CN" dirty="0">
              <a:cs typeface="+mn-ea"/>
              <a:sym typeface="+mn-lt"/>
            </a:endParaRPr>
          </a:p>
          <a:p>
            <a:pPr marL="376650" lvl="1" indent="-171450">
              <a:lnSpc>
                <a:spcPct val="125000"/>
              </a:lnSpc>
              <a:buSzPct val="70000"/>
              <a:buFont typeface="Wingdings" panose="05000000000000000000" pitchFamily="2" charset="2"/>
              <a:buChar char="l"/>
            </a:pPr>
            <a:r>
              <a:rPr lang="en" altLang="zh-CN" dirty="0">
                <a:cs typeface="+mn-ea"/>
                <a:sym typeface="+mn-lt"/>
              </a:rPr>
              <a:t>BOM</a:t>
            </a:r>
            <a:r>
              <a:rPr lang="zh-CN" altLang="en-US" dirty="0">
                <a:cs typeface="+mn-ea"/>
                <a:sym typeface="+mn-lt"/>
              </a:rPr>
              <a:t>中包含节点</a:t>
            </a:r>
            <a:r>
              <a:rPr lang="en-US" altLang="zh-CN" dirty="0">
                <a:cs typeface="+mn-ea"/>
                <a:sym typeface="+mn-lt"/>
              </a:rPr>
              <a:t>40</a:t>
            </a:r>
            <a:r>
              <a:rPr lang="zh-CN" altLang="en-US" dirty="0">
                <a:cs typeface="+mn-ea"/>
                <a:sym typeface="+mn-lt"/>
              </a:rPr>
              <a:t>万</a:t>
            </a:r>
            <a:r>
              <a:rPr lang="en-US" altLang="zh-CN" dirty="0">
                <a:cs typeface="+mn-ea"/>
                <a:sym typeface="+mn-lt"/>
              </a:rPr>
              <a:t>+</a:t>
            </a:r>
            <a:r>
              <a:rPr lang="zh-CN" altLang="en-US" dirty="0">
                <a:cs typeface="+mn-ea"/>
                <a:sym typeface="+mn-lt"/>
              </a:rPr>
              <a:t>个，节点连接</a:t>
            </a:r>
            <a:r>
              <a:rPr lang="en-US" altLang="zh-CN" dirty="0">
                <a:cs typeface="+mn-ea"/>
                <a:sym typeface="+mn-lt"/>
              </a:rPr>
              <a:t>400</a:t>
            </a:r>
            <a:r>
              <a:rPr lang="zh-CN" altLang="en-US" dirty="0">
                <a:cs typeface="+mn-ea"/>
                <a:sym typeface="+mn-lt"/>
              </a:rPr>
              <a:t>万</a:t>
            </a:r>
            <a:r>
              <a:rPr lang="en-US" altLang="zh-CN" dirty="0">
                <a:cs typeface="+mn-ea"/>
                <a:sym typeface="+mn-lt"/>
              </a:rPr>
              <a:t>+</a:t>
            </a:r>
            <a:r>
              <a:rPr lang="zh-CN" altLang="en-US" dirty="0">
                <a:cs typeface="+mn-ea"/>
                <a:sym typeface="+mn-lt"/>
              </a:rPr>
              <a:t>条边</a:t>
            </a:r>
            <a:endParaRPr lang="en-US" altLang="zh-CN" dirty="0">
              <a:cs typeface="+mn-ea"/>
              <a:sym typeface="+mn-lt"/>
            </a:endParaRPr>
          </a:p>
          <a:p>
            <a:pPr marL="376650" lvl="1" indent="-171450">
              <a:lnSpc>
                <a:spcPct val="125000"/>
              </a:lnSpc>
              <a:buSzPct val="70000"/>
              <a:buFont typeface="Wingdings" panose="05000000000000000000" pitchFamily="2" charset="2"/>
              <a:buChar char="l"/>
            </a:pPr>
            <a:r>
              <a:rPr lang="zh-CN" altLang="en-US" dirty="0">
                <a:cs typeface="+mn-ea"/>
                <a:sym typeface="+mn-lt"/>
              </a:rPr>
              <a:t>涉及近</a:t>
            </a:r>
            <a:r>
              <a:rPr lang="en-US" altLang="zh-CN" dirty="0">
                <a:cs typeface="+mn-ea"/>
                <a:sym typeface="+mn-lt"/>
              </a:rPr>
              <a:t>200</a:t>
            </a:r>
            <a:r>
              <a:rPr lang="zh-CN" altLang="en-US" dirty="0">
                <a:cs typeface="+mn-ea"/>
                <a:sym typeface="+mn-lt"/>
              </a:rPr>
              <a:t>位业务人员，需要考虑大量、复杂的业务约束</a:t>
            </a:r>
            <a:endParaRPr lang="en-US" altLang="zh-CN" dirty="0">
              <a:cs typeface="+mn-ea"/>
              <a:sym typeface="+mn-lt"/>
            </a:endParaRPr>
          </a:p>
        </p:txBody>
      </p:sp>
      <p:sp>
        <p:nvSpPr>
          <p:cNvPr id="6" name="矩形 5">
            <a:extLst>
              <a:ext uri="{FF2B5EF4-FFF2-40B4-BE49-F238E27FC236}">
                <a16:creationId xmlns:a16="http://schemas.microsoft.com/office/drawing/2014/main" id="{360BD847-1F7F-4EF0-9D36-41176EF4BBE3}"/>
              </a:ext>
            </a:extLst>
          </p:cNvPr>
          <p:cNvSpPr/>
          <p:nvPr/>
        </p:nvSpPr>
        <p:spPr>
          <a:xfrm>
            <a:off x="394195" y="4894503"/>
            <a:ext cx="11336361" cy="791242"/>
          </a:xfrm>
          <a:prstGeom prst="rect">
            <a:avLst/>
          </a:prstGeom>
        </p:spPr>
        <p:txBody>
          <a:bodyPr wrap="square">
            <a:spAutoFit/>
          </a:bodyPr>
          <a:lstStyle/>
          <a:p>
            <a:pPr>
              <a:lnSpc>
                <a:spcPct val="125000"/>
              </a:lnSpc>
            </a:pPr>
            <a:r>
              <a:rPr lang="zh-CN" altLang="en-US" dirty="0">
                <a:solidFill>
                  <a:srgbClr val="811C21"/>
                </a:solidFill>
                <a:cs typeface="+mn-ea"/>
                <a:sym typeface="+mn-lt"/>
              </a:rPr>
              <a:t>解决方案：</a:t>
            </a:r>
            <a:endParaRPr lang="en-US" altLang="zh-CN" dirty="0">
              <a:solidFill>
                <a:srgbClr val="811C21"/>
              </a:solidFill>
              <a:cs typeface="+mn-ea"/>
              <a:sym typeface="+mn-lt"/>
            </a:endParaRPr>
          </a:p>
          <a:p>
            <a:pPr>
              <a:lnSpc>
                <a:spcPct val="125000"/>
              </a:lnSpc>
              <a:spcBef>
                <a:spcPts val="300"/>
              </a:spcBef>
              <a:spcAft>
                <a:spcPts val="600"/>
              </a:spcAft>
            </a:pPr>
            <a:r>
              <a:rPr lang="zh-CN" altLang="en-US" dirty="0">
                <a:cs typeface="+mn-ea"/>
                <a:sym typeface="+mn-lt"/>
              </a:rPr>
              <a:t>网络关键节点分析</a:t>
            </a:r>
            <a:r>
              <a:rPr lang="en-US" altLang="zh-CN" dirty="0">
                <a:cs typeface="+mn-ea"/>
                <a:sym typeface="+mn-lt"/>
              </a:rPr>
              <a:t>+</a:t>
            </a:r>
            <a:r>
              <a:rPr lang="zh-CN" altLang="en-US" dirty="0">
                <a:cs typeface="+mn-ea"/>
                <a:sym typeface="+mn-lt"/>
              </a:rPr>
              <a:t>数据驱动的网络节点需求波动刻画</a:t>
            </a:r>
            <a:r>
              <a:rPr lang="en-US" altLang="zh-CN" dirty="0">
                <a:cs typeface="+mn-ea"/>
                <a:sym typeface="+mn-lt"/>
              </a:rPr>
              <a:t>+</a:t>
            </a:r>
            <a:r>
              <a:rPr lang="zh-CN" altLang="en-US" dirty="0">
                <a:cs typeface="+mn-ea"/>
                <a:sym typeface="+mn-lt"/>
              </a:rPr>
              <a:t>全网络联合安全库存优化</a:t>
            </a:r>
            <a:r>
              <a:rPr lang="en-US" altLang="zh-CN" dirty="0">
                <a:cs typeface="+mn-ea"/>
                <a:sym typeface="+mn-lt"/>
              </a:rPr>
              <a:t>+</a:t>
            </a:r>
            <a:r>
              <a:rPr lang="zh-CN" altLang="en-US" dirty="0">
                <a:cs typeface="+mn-ea"/>
                <a:sym typeface="+mn-lt"/>
              </a:rPr>
              <a:t>全库存模拟仿真调优</a:t>
            </a:r>
          </a:p>
        </p:txBody>
      </p:sp>
      <p:sp>
        <p:nvSpPr>
          <p:cNvPr id="9" name="矩形 8">
            <a:extLst>
              <a:ext uri="{FF2B5EF4-FFF2-40B4-BE49-F238E27FC236}">
                <a16:creationId xmlns:a16="http://schemas.microsoft.com/office/drawing/2014/main" id="{54FD8DCF-8DB7-4090-874A-00501C577B33}"/>
              </a:ext>
            </a:extLst>
          </p:cNvPr>
          <p:cNvSpPr/>
          <p:nvPr/>
        </p:nvSpPr>
        <p:spPr>
          <a:xfrm>
            <a:off x="9427490" y="2835042"/>
            <a:ext cx="1915823" cy="307777"/>
          </a:xfrm>
          <a:prstGeom prst="rect">
            <a:avLst/>
          </a:prstGeom>
        </p:spPr>
        <p:txBody>
          <a:bodyPr wrap="square">
            <a:spAutoFit/>
          </a:bodyPr>
          <a:lstStyle/>
          <a:p>
            <a:r>
              <a:rPr lang="zh-CN" altLang="en-US" sz="1400" dirty="0">
                <a:cs typeface="+mn-ea"/>
                <a:sym typeface="+mn-lt"/>
              </a:rPr>
              <a:t>某一编码的装配网络</a:t>
            </a:r>
            <a:endParaRPr lang="en-US" altLang="zh-CN" sz="1400" dirty="0">
              <a:cs typeface="+mn-ea"/>
              <a:sym typeface="+mn-lt"/>
            </a:endParaRPr>
          </a:p>
        </p:txBody>
      </p:sp>
      <p:pic>
        <p:nvPicPr>
          <p:cNvPr id="10" name="图片 9">
            <a:extLst>
              <a:ext uri="{FF2B5EF4-FFF2-40B4-BE49-F238E27FC236}">
                <a16:creationId xmlns:a16="http://schemas.microsoft.com/office/drawing/2014/main" id="{39CD7E29-5D08-4A0A-B303-3332773BD67C}"/>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98686" y="933886"/>
            <a:ext cx="2973432" cy="1837607"/>
          </a:xfrm>
          <a:prstGeom prst="rect">
            <a:avLst/>
          </a:prstGeom>
        </p:spPr>
      </p:pic>
      <p:sp>
        <p:nvSpPr>
          <p:cNvPr id="11" name="矩形 10">
            <a:extLst>
              <a:ext uri="{FF2B5EF4-FFF2-40B4-BE49-F238E27FC236}">
                <a16:creationId xmlns:a16="http://schemas.microsoft.com/office/drawing/2014/main" id="{74E01DCA-C1B9-441F-A2F7-0CE9FF52B1A1}"/>
              </a:ext>
            </a:extLst>
          </p:cNvPr>
          <p:cNvSpPr/>
          <p:nvPr/>
        </p:nvSpPr>
        <p:spPr>
          <a:xfrm>
            <a:off x="394195" y="5784660"/>
            <a:ext cx="9077840" cy="761747"/>
          </a:xfrm>
          <a:prstGeom prst="rect">
            <a:avLst/>
          </a:prstGeom>
        </p:spPr>
        <p:txBody>
          <a:bodyPr wrap="square">
            <a:spAutoFit/>
          </a:bodyPr>
          <a:lstStyle/>
          <a:p>
            <a:pPr>
              <a:spcBef>
                <a:spcPts val="300"/>
              </a:spcBef>
              <a:spcAft>
                <a:spcPts val="600"/>
              </a:spcAft>
            </a:pPr>
            <a:r>
              <a:rPr lang="zh-CN" altLang="en-US" dirty="0">
                <a:solidFill>
                  <a:srgbClr val="811C21"/>
                </a:solidFill>
                <a:cs typeface="+mn-ea"/>
              </a:rPr>
              <a:t>优化模型：</a:t>
            </a:r>
            <a:endParaRPr lang="en-US" altLang="zh-CN" dirty="0">
              <a:solidFill>
                <a:srgbClr val="811C21"/>
              </a:solidFill>
              <a:cs typeface="+mn-ea"/>
            </a:endParaRPr>
          </a:p>
          <a:p>
            <a:pPr>
              <a:spcBef>
                <a:spcPts val="300"/>
              </a:spcBef>
              <a:spcAft>
                <a:spcPts val="600"/>
              </a:spcAft>
            </a:pPr>
            <a:r>
              <a:rPr lang="en-US" altLang="zh-CN" dirty="0">
                <a:cs typeface="+mn-ea"/>
              </a:rPr>
              <a:t>GSM</a:t>
            </a:r>
            <a:r>
              <a:rPr lang="zh-CN" altLang="en-US" dirty="0">
                <a:cs typeface="+mn-ea"/>
              </a:rPr>
              <a:t>模型</a:t>
            </a:r>
            <a:r>
              <a:rPr lang="en-US" altLang="zh-CN" dirty="0">
                <a:cs typeface="+mn-ea"/>
              </a:rPr>
              <a:t>+</a:t>
            </a:r>
            <a:r>
              <a:rPr lang="zh-CN" altLang="en-US" dirty="0">
                <a:cs typeface="+mn-ea"/>
              </a:rPr>
              <a:t>分段线性近似</a:t>
            </a:r>
            <a:r>
              <a:rPr lang="en-US" altLang="zh-CN" dirty="0">
                <a:cs typeface="+mn-ea"/>
              </a:rPr>
              <a:t>+</a:t>
            </a:r>
            <a:r>
              <a:rPr lang="zh-CN" altLang="en-US" dirty="0">
                <a:cs typeface="+mn-ea"/>
              </a:rPr>
              <a:t>混合整数规划求解</a:t>
            </a:r>
            <a:endParaRPr lang="en-US" altLang="zh-CN" dirty="0">
              <a:cs typeface="+mn-ea"/>
            </a:endParaRPr>
          </a:p>
        </p:txBody>
      </p:sp>
      <p:sp>
        <p:nvSpPr>
          <p:cNvPr id="12" name="矩形 5">
            <a:extLst>
              <a:ext uri="{FF2B5EF4-FFF2-40B4-BE49-F238E27FC236}">
                <a16:creationId xmlns:a16="http://schemas.microsoft.com/office/drawing/2014/main" id="{00A903B7-DBBB-024E-8790-D1A0C7706A1E}"/>
              </a:ext>
            </a:extLst>
          </p:cNvPr>
          <p:cNvSpPr/>
          <p:nvPr/>
        </p:nvSpPr>
        <p:spPr>
          <a:xfrm>
            <a:off x="394195" y="4047243"/>
            <a:ext cx="11336361" cy="748346"/>
          </a:xfrm>
          <a:prstGeom prst="rect">
            <a:avLst/>
          </a:prstGeom>
        </p:spPr>
        <p:txBody>
          <a:bodyPr wrap="square">
            <a:spAutoFit/>
          </a:bodyPr>
          <a:lstStyle/>
          <a:p>
            <a:pPr>
              <a:lnSpc>
                <a:spcPct val="125000"/>
              </a:lnSpc>
            </a:pPr>
            <a:r>
              <a:rPr lang="zh-CN" altLang="en-US" dirty="0">
                <a:solidFill>
                  <a:srgbClr val="811C21"/>
                </a:solidFill>
                <a:cs typeface="+mn-ea"/>
                <a:sym typeface="+mn-lt"/>
              </a:rPr>
              <a:t>项目痛点：</a:t>
            </a:r>
            <a:endParaRPr lang="en-US" altLang="zh-CN" dirty="0">
              <a:solidFill>
                <a:srgbClr val="811C21"/>
              </a:solidFill>
              <a:cs typeface="+mn-ea"/>
              <a:sym typeface="+mn-lt"/>
            </a:endParaRPr>
          </a:p>
          <a:p>
            <a:pPr>
              <a:lnSpc>
                <a:spcPct val="125000"/>
              </a:lnSpc>
            </a:pPr>
            <a:r>
              <a:rPr lang="zh-CN" altLang="en-US" dirty="0">
                <a:cs typeface="+mn-ea"/>
              </a:rPr>
              <a:t>有效刻画需求不确定性、全局优化安全库存节点布局、优化安全库存量平衡成本与满足率、保证求解效率</a:t>
            </a:r>
            <a:endParaRPr lang="en-US" altLang="zh-CN" dirty="0">
              <a:cs typeface="+mn-ea"/>
              <a:sym typeface="+mn-lt"/>
            </a:endParaRPr>
          </a:p>
        </p:txBody>
      </p:sp>
    </p:spTree>
    <p:extLst>
      <p:ext uri="{BB962C8B-B14F-4D97-AF65-F5344CB8AC3E}">
        <p14:creationId xmlns:p14="http://schemas.microsoft.com/office/powerpoint/2010/main" val="4034766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1AFDB3-6409-4B95-9418-200B555E25DD}"/>
              </a:ext>
            </a:extLst>
          </p:cNvPr>
          <p:cNvSpPr>
            <a:spLocks noGrp="1"/>
          </p:cNvSpPr>
          <p:nvPr>
            <p:ph type="title"/>
          </p:nvPr>
        </p:nvSpPr>
        <p:spPr/>
        <p:txBody>
          <a:bodyPr wrap="square"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某大型制造企业案例</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3" name="矩形 2">
            <a:extLst>
              <a:ext uri="{FF2B5EF4-FFF2-40B4-BE49-F238E27FC236}">
                <a16:creationId xmlns:a16="http://schemas.microsoft.com/office/drawing/2014/main" id="{B0971E08-5F5D-44FE-B595-EBEFD4DA80BE}"/>
              </a:ext>
            </a:extLst>
          </p:cNvPr>
          <p:cNvSpPr/>
          <p:nvPr/>
        </p:nvSpPr>
        <p:spPr>
          <a:xfrm>
            <a:off x="412683" y="737771"/>
            <a:ext cx="10588993" cy="1122743"/>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制造网络中包含</a:t>
            </a:r>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数十万个节点，数百万条边</a:t>
            </a:r>
            <a:endParaRPr lang="en-US" altLang="zh-CN"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海量业务约束</a:t>
            </a: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4" name="矩形 3">
            <a:extLst>
              <a:ext uri="{FF2B5EF4-FFF2-40B4-BE49-F238E27FC236}">
                <a16:creationId xmlns:a16="http://schemas.microsoft.com/office/drawing/2014/main" id="{F85DB33C-D629-42D9-9210-66013E8C8E85}"/>
              </a:ext>
            </a:extLst>
          </p:cNvPr>
          <p:cNvSpPr/>
          <p:nvPr/>
        </p:nvSpPr>
        <p:spPr>
          <a:xfrm>
            <a:off x="635008" y="1878418"/>
            <a:ext cx="10921983" cy="1403076"/>
          </a:xfrm>
          <a:prstGeom prst="rect">
            <a:avLst/>
          </a:prstGeom>
        </p:spPr>
        <p:txBody>
          <a:bodyPr wrap="square">
            <a:spAutoFit/>
          </a:bodyPr>
          <a:lstStyle/>
          <a:p>
            <a:pPr algn="ctr">
              <a:lnSpc>
                <a:spcPct val="200000"/>
              </a:lnSpc>
            </a:pPr>
            <a:r>
              <a:rPr lang="zh-CN" altLang="en-US" sz="16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过去主要由各业务线业务员独立的对单个节点进行设置安全库存，流程繁琐、没有深度挖掘全网络安全库存共享的价值我们建立了一套智能化安全库存优化方案，同时优化所有节点的安全库存</a:t>
            </a:r>
          </a:p>
          <a:p>
            <a:pPr algn="ctr">
              <a:lnSpc>
                <a:spcPct val="150000"/>
              </a:lnSpc>
            </a:pPr>
            <a:r>
              <a:rPr lang="en-US" sz="14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p>
        </p:txBody>
      </p:sp>
      <p:sp>
        <p:nvSpPr>
          <p:cNvPr id="18" name="内容占位符 2">
            <a:extLst>
              <a:ext uri="{FF2B5EF4-FFF2-40B4-BE49-F238E27FC236}">
                <a16:creationId xmlns:a16="http://schemas.microsoft.com/office/drawing/2014/main" id="{7B06D98B-9222-4C03-8298-177AF9A95B1D}"/>
              </a:ext>
            </a:extLst>
          </p:cNvPr>
          <p:cNvSpPr txBox="1">
            <a:spLocks/>
          </p:cNvSpPr>
          <p:nvPr/>
        </p:nvSpPr>
        <p:spPr>
          <a:xfrm>
            <a:off x="1776395" y="3619566"/>
            <a:ext cx="3078314" cy="2709754"/>
          </a:xfrm>
          <a:prstGeom prst="rect">
            <a:avLst/>
          </a:prstGeom>
          <a:solidFill>
            <a:schemeClr val="bg1">
              <a:lumMod val="95000"/>
            </a:schemeClr>
          </a:solidFill>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节点的加工周期</a:t>
            </a:r>
            <a:r>
              <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rPr>
              <a:t>/</a:t>
            </a: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采购周期分开考虑</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a:p>
            <a:endParaRPr lang="en-US" altLang="zh-CN" sz="20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endParaRPr lang="en-US" altLang="zh-CN" sz="20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endParaRPr lang="en-US" altLang="zh-CN" sz="20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0" indent="0">
              <a:buFont typeface="Arial"/>
              <a:buNone/>
            </a:pPr>
            <a:endParaRPr lang="en-US" altLang="zh-CN" sz="20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0" indent="0" algn="ctr">
              <a:buNone/>
            </a:pP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节点安全库存各自单独优化</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9" name="文本框 3">
            <a:extLst>
              <a:ext uri="{FF2B5EF4-FFF2-40B4-BE49-F238E27FC236}">
                <a16:creationId xmlns:a16="http://schemas.microsoft.com/office/drawing/2014/main" id="{BE73BB38-7FAB-46AE-A8EF-446F2952EE1A}"/>
              </a:ext>
            </a:extLst>
          </p:cNvPr>
          <p:cNvSpPr txBox="1"/>
          <p:nvPr/>
        </p:nvSpPr>
        <p:spPr>
          <a:xfrm>
            <a:off x="7228622" y="3139969"/>
            <a:ext cx="2391508" cy="400110"/>
          </a:xfrm>
          <a:prstGeom prst="rect">
            <a:avLst/>
          </a:prstGeom>
          <a:noFill/>
        </p:spPr>
        <p:txBody>
          <a:bodyPr wrap="square" rtlCol="0">
            <a:spAutoFit/>
          </a:bodyPr>
          <a:lstStyle/>
          <a:p>
            <a:pPr algn="ctr"/>
            <a:r>
              <a:rPr lang="zh-CN" altLang="en-US" sz="2000"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我们的方法</a:t>
            </a:r>
          </a:p>
        </p:txBody>
      </p:sp>
      <p:sp>
        <p:nvSpPr>
          <p:cNvPr id="20" name="矩形 19">
            <a:extLst>
              <a:ext uri="{FF2B5EF4-FFF2-40B4-BE49-F238E27FC236}">
                <a16:creationId xmlns:a16="http://schemas.microsoft.com/office/drawing/2014/main" id="{D0E2803E-0A23-4087-84CF-BEA804630FF9}"/>
              </a:ext>
            </a:extLst>
          </p:cNvPr>
          <p:cNvSpPr/>
          <p:nvPr/>
        </p:nvSpPr>
        <p:spPr>
          <a:xfrm>
            <a:off x="6752742" y="3619565"/>
            <a:ext cx="3343273" cy="2709754"/>
          </a:xfrm>
          <a:prstGeom prst="rect">
            <a:avLst/>
          </a:prstGeom>
          <a:solidFill>
            <a:schemeClr val="bg1">
              <a:lumMod val="95000"/>
            </a:schemeClr>
          </a:solidFill>
        </p:spPr>
        <p:txBody>
          <a:bodyPr vert="horz" lIns="91440" tIns="45720" rIns="91440" bIns="45720" rtlCol="0">
            <a:noAutofit/>
          </a:bodyPr>
          <a:lstStyle/>
          <a:p>
            <a:pPr marL="285750" indent="-285750">
              <a:lnSpc>
                <a:spcPct val="90000"/>
              </a:lnSpc>
              <a:spcBef>
                <a:spcPts val="1000"/>
              </a:spcBef>
              <a:buFont typeface="Arial" panose="020B0604020202020204" pitchFamily="34" charset="0"/>
              <a:buChar char="•"/>
            </a:pP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同时考虑所有节点的加工周期</a:t>
            </a:r>
            <a:r>
              <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rPr>
              <a:t>/</a:t>
            </a: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采购周期</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90000"/>
              </a:lnSpc>
              <a:spcBef>
                <a:spcPts val="1000"/>
              </a:spcBef>
              <a:buFont typeface="Arial" panose="020B0604020202020204" pitchFamily="34" charset="0"/>
              <a:buChar char="•"/>
            </a:pPr>
            <a:r>
              <a:rPr lang="zh-CN" altLang="en-US" sz="16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考虑</a:t>
            </a:r>
            <a:r>
              <a:rPr lang="en-US" altLang="zh-CN" sz="16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BOM</a:t>
            </a:r>
            <a:r>
              <a:rPr lang="zh-CN" altLang="en-US" sz="16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结构</a:t>
            </a:r>
            <a:endParaRPr lang="en-US" altLang="zh-CN" sz="16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algn="ctr">
              <a:lnSpc>
                <a:spcPct val="90000"/>
              </a:lnSpc>
              <a:spcBef>
                <a:spcPts val="1000"/>
              </a:spcBef>
              <a:buFont typeface="Arial" panose="020B0604020202020204" pitchFamily="34" charset="0"/>
              <a:buNone/>
            </a:pPr>
            <a:endParaRPr lang="en-US" altLang="zh-CN" sz="16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algn="ctr">
              <a:lnSpc>
                <a:spcPct val="90000"/>
              </a:lnSpc>
              <a:spcBef>
                <a:spcPts val="1000"/>
              </a:spcBef>
              <a:buFont typeface="Arial" panose="020B0604020202020204" pitchFamily="34" charset="0"/>
              <a:buNone/>
            </a:pPr>
            <a:endParaRPr lang="en-US" altLang="zh-CN" sz="16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algn="ctr">
              <a:lnSpc>
                <a:spcPct val="90000"/>
              </a:lnSpc>
              <a:spcBef>
                <a:spcPts val="1000"/>
              </a:spcBef>
              <a:buFont typeface="Arial" panose="020B0604020202020204" pitchFamily="34" charset="0"/>
              <a:buNone/>
            </a:pP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所有节点安全库存联合优化</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a:p>
            <a:pPr algn="ctr">
              <a:lnSpc>
                <a:spcPct val="90000"/>
              </a:lnSpc>
              <a:spcBef>
                <a:spcPts val="1000"/>
              </a:spcBef>
              <a:buFont typeface="Arial" panose="020B0604020202020204" pitchFamily="34" charset="0"/>
              <a:buNone/>
            </a:pP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满足服务水平的同时最小化系统总安全库存成本</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21" name="文本框 20">
            <a:extLst>
              <a:ext uri="{FF2B5EF4-FFF2-40B4-BE49-F238E27FC236}">
                <a16:creationId xmlns:a16="http://schemas.microsoft.com/office/drawing/2014/main" id="{51F6B5D2-EB07-4B7C-BA27-563BCC5F492F}"/>
              </a:ext>
            </a:extLst>
          </p:cNvPr>
          <p:cNvSpPr txBox="1"/>
          <p:nvPr/>
        </p:nvSpPr>
        <p:spPr>
          <a:xfrm>
            <a:off x="1262774" y="3139969"/>
            <a:ext cx="4105555" cy="400110"/>
          </a:xfrm>
          <a:prstGeom prst="rect">
            <a:avLst/>
          </a:prstGeom>
          <a:noFill/>
        </p:spPr>
        <p:txBody>
          <a:bodyPr wrap="square" rtlCol="0">
            <a:spAutoFit/>
          </a:bodyPr>
          <a:lstStyle/>
          <a:p>
            <a:pPr algn="ctr"/>
            <a:r>
              <a:rPr lang="zh-CN" altLang="en-US" sz="2000"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过去</a:t>
            </a:r>
          </a:p>
        </p:txBody>
      </p:sp>
      <p:sp>
        <p:nvSpPr>
          <p:cNvPr id="22" name="下箭头 7">
            <a:extLst>
              <a:ext uri="{FF2B5EF4-FFF2-40B4-BE49-F238E27FC236}">
                <a16:creationId xmlns:a16="http://schemas.microsoft.com/office/drawing/2014/main" id="{5703F429-DFAC-4E7C-B81B-79D39AF1D6BA}"/>
              </a:ext>
            </a:extLst>
          </p:cNvPr>
          <p:cNvSpPr/>
          <p:nvPr/>
        </p:nvSpPr>
        <p:spPr>
          <a:xfrm>
            <a:off x="2417863" y="4675602"/>
            <a:ext cx="380945" cy="741739"/>
          </a:xfrm>
          <a:prstGeom prst="downArrow">
            <a:avLst/>
          </a:prstGeom>
          <a:solidFill>
            <a:srgbClr val="852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23" name="下箭头 8">
            <a:extLst>
              <a:ext uri="{FF2B5EF4-FFF2-40B4-BE49-F238E27FC236}">
                <a16:creationId xmlns:a16="http://schemas.microsoft.com/office/drawing/2014/main" id="{740B7E9E-B6C1-4D77-AAF5-B9A901589EDB}"/>
              </a:ext>
            </a:extLst>
          </p:cNvPr>
          <p:cNvSpPr/>
          <p:nvPr/>
        </p:nvSpPr>
        <p:spPr>
          <a:xfrm>
            <a:off x="3056835" y="4675601"/>
            <a:ext cx="380945" cy="741739"/>
          </a:xfrm>
          <a:prstGeom prst="downArrow">
            <a:avLst/>
          </a:prstGeom>
          <a:solidFill>
            <a:srgbClr val="852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24" name="下箭头 9">
            <a:extLst>
              <a:ext uri="{FF2B5EF4-FFF2-40B4-BE49-F238E27FC236}">
                <a16:creationId xmlns:a16="http://schemas.microsoft.com/office/drawing/2014/main" id="{E7CD54E9-27D5-4762-A160-FAC7FC7579FA}"/>
              </a:ext>
            </a:extLst>
          </p:cNvPr>
          <p:cNvSpPr/>
          <p:nvPr/>
        </p:nvSpPr>
        <p:spPr>
          <a:xfrm>
            <a:off x="3652691" y="4675602"/>
            <a:ext cx="380945" cy="741739"/>
          </a:xfrm>
          <a:prstGeom prst="downArrow">
            <a:avLst/>
          </a:prstGeom>
          <a:solidFill>
            <a:srgbClr val="852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25" name="下箭头 11">
            <a:extLst>
              <a:ext uri="{FF2B5EF4-FFF2-40B4-BE49-F238E27FC236}">
                <a16:creationId xmlns:a16="http://schemas.microsoft.com/office/drawing/2014/main" id="{5A716C56-3108-4EFF-AC75-9D0A6D6430F3}"/>
              </a:ext>
            </a:extLst>
          </p:cNvPr>
          <p:cNvSpPr/>
          <p:nvPr/>
        </p:nvSpPr>
        <p:spPr>
          <a:xfrm>
            <a:off x="8104248" y="4499862"/>
            <a:ext cx="640257" cy="744658"/>
          </a:xfrm>
          <a:prstGeom prst="downArrow">
            <a:avLst>
              <a:gd name="adj1" fmla="val 50000"/>
              <a:gd name="adj2" fmla="val 50813"/>
            </a:avLst>
          </a:prstGeom>
          <a:solidFill>
            <a:srgbClr val="852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26" name="下箭头 11">
            <a:extLst>
              <a:ext uri="{FF2B5EF4-FFF2-40B4-BE49-F238E27FC236}">
                <a16:creationId xmlns:a16="http://schemas.microsoft.com/office/drawing/2014/main" id="{4044BF95-B5A0-4A1B-A8B0-D4E00C2522D6}"/>
              </a:ext>
            </a:extLst>
          </p:cNvPr>
          <p:cNvSpPr/>
          <p:nvPr/>
        </p:nvSpPr>
        <p:spPr>
          <a:xfrm rot="16200000">
            <a:off x="5574196" y="4457711"/>
            <a:ext cx="628994" cy="1128218"/>
          </a:xfrm>
          <a:prstGeom prst="downArrow">
            <a:avLst>
              <a:gd name="adj1" fmla="val 50000"/>
              <a:gd name="adj2" fmla="val 50813"/>
            </a:avLst>
          </a:prstGeom>
          <a:solidFill>
            <a:srgbClr val="852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Tree>
    <p:extLst>
      <p:ext uri="{BB962C8B-B14F-4D97-AF65-F5344CB8AC3E}">
        <p14:creationId xmlns:p14="http://schemas.microsoft.com/office/powerpoint/2010/main" val="2744842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78A7517B-23E7-4FEF-B7DA-7DCBDC5A8C65}"/>
              </a:ext>
            </a:extLst>
          </p:cNvPr>
          <p:cNvSpPr>
            <a:spLocks noGrp="1"/>
          </p:cNvSpPr>
          <p:nvPr>
            <p:ph type="title"/>
          </p:nvPr>
        </p:nvSpPr>
        <p:spPr>
          <a:xfrm>
            <a:off x="412683" y="154613"/>
            <a:ext cx="9966107" cy="660486"/>
          </a:xfrm>
        </p:spPr>
        <p:txBody>
          <a:bodyPr wrap="square"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解决方案框架</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cxnSp>
        <p:nvCxnSpPr>
          <p:cNvPr id="28" name="直接箭头连接符 27">
            <a:extLst>
              <a:ext uri="{FF2B5EF4-FFF2-40B4-BE49-F238E27FC236}">
                <a16:creationId xmlns:a16="http://schemas.microsoft.com/office/drawing/2014/main" id="{02E69040-FB29-42A9-8E2D-DA5B998655DF}"/>
              </a:ext>
            </a:extLst>
          </p:cNvPr>
          <p:cNvCxnSpPr>
            <a:cxnSpLocks/>
            <a:stCxn id="26" idx="2"/>
            <a:endCxn id="7" idx="0"/>
          </p:cNvCxnSpPr>
          <p:nvPr/>
        </p:nvCxnSpPr>
        <p:spPr>
          <a:xfrm>
            <a:off x="7466833" y="4167142"/>
            <a:ext cx="6940" cy="630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ED6BE526-1251-486C-8170-4413FB38BFAE}"/>
              </a:ext>
            </a:extLst>
          </p:cNvPr>
          <p:cNvSpPr txBox="1"/>
          <p:nvPr/>
        </p:nvSpPr>
        <p:spPr>
          <a:xfrm>
            <a:off x="6808450" y="2339797"/>
            <a:ext cx="1191230" cy="369332"/>
          </a:xfrm>
          <a:prstGeom prst="rect">
            <a:avLst/>
          </a:prstGeom>
          <a:noFill/>
        </p:spPr>
        <p:txBody>
          <a:bodyPr wrap="square" rtlCol="0">
            <a:spAutoFit/>
          </a:bodyPr>
          <a:lstStyle/>
          <a:p>
            <a:r>
              <a:rPr lang="zh-CN" altLang="en-US" dirty="0">
                <a:latin typeface="Microsoft YaHei" panose="020B0503020204020204" pitchFamily="34" charset="-122"/>
                <a:ea typeface="微软雅黑" panose="020B0503020204020204" pitchFamily="34" charset="-122"/>
                <a:sym typeface="Microsoft YaHei" panose="020B0503020204020204" pitchFamily="34" charset="-122"/>
              </a:rPr>
              <a:t>业务 约束</a:t>
            </a:r>
            <a:endParaRPr lang="en-US" dirty="0">
              <a:latin typeface="Microsoft YaHei" panose="020B0503020204020204" pitchFamily="34" charset="-122"/>
              <a:ea typeface="微软雅黑" panose="020B0503020204020204" pitchFamily="34" charset="-122"/>
              <a:sym typeface="Microsoft YaHei" panose="020B0503020204020204" pitchFamily="34" charset="-122"/>
            </a:endParaRPr>
          </a:p>
        </p:txBody>
      </p:sp>
      <p:cxnSp>
        <p:nvCxnSpPr>
          <p:cNvPr id="30" name="直接箭头连接符 29">
            <a:extLst>
              <a:ext uri="{FF2B5EF4-FFF2-40B4-BE49-F238E27FC236}">
                <a16:creationId xmlns:a16="http://schemas.microsoft.com/office/drawing/2014/main" id="{F3B7A759-C333-4E4B-9786-516D3D4847AE}"/>
              </a:ext>
            </a:extLst>
          </p:cNvPr>
          <p:cNvCxnSpPr>
            <a:cxnSpLocks/>
            <a:endCxn id="26" idx="0"/>
          </p:cNvCxnSpPr>
          <p:nvPr/>
        </p:nvCxnSpPr>
        <p:spPr>
          <a:xfrm>
            <a:off x="7464532" y="2315661"/>
            <a:ext cx="2301" cy="972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2" name="组合 31">
            <a:extLst>
              <a:ext uri="{FF2B5EF4-FFF2-40B4-BE49-F238E27FC236}">
                <a16:creationId xmlns:a16="http://schemas.microsoft.com/office/drawing/2014/main" id="{C8ED85F0-322A-4E97-B5FC-E2C589D701E2}"/>
              </a:ext>
            </a:extLst>
          </p:cNvPr>
          <p:cNvGrpSpPr/>
          <p:nvPr/>
        </p:nvGrpSpPr>
        <p:grpSpPr>
          <a:xfrm>
            <a:off x="279832" y="1463637"/>
            <a:ext cx="11771752" cy="4653272"/>
            <a:chOff x="210124" y="1201208"/>
            <a:chExt cx="11771752" cy="4653272"/>
          </a:xfrm>
        </p:grpSpPr>
        <p:grpSp>
          <p:nvGrpSpPr>
            <p:cNvPr id="4" name="组合 3">
              <a:extLst>
                <a:ext uri="{FF2B5EF4-FFF2-40B4-BE49-F238E27FC236}">
                  <a16:creationId xmlns:a16="http://schemas.microsoft.com/office/drawing/2014/main" id="{7AD944D7-B622-4A2D-99FD-EEF1AAFD05F1}"/>
                </a:ext>
              </a:extLst>
            </p:cNvPr>
            <p:cNvGrpSpPr/>
            <p:nvPr/>
          </p:nvGrpSpPr>
          <p:grpSpPr>
            <a:xfrm>
              <a:off x="210124" y="1201208"/>
              <a:ext cx="11771752" cy="4653272"/>
              <a:chOff x="0" y="1117318"/>
              <a:chExt cx="11771752" cy="4653272"/>
            </a:xfrm>
          </p:grpSpPr>
          <p:grpSp>
            <p:nvGrpSpPr>
              <p:cNvPr id="5" name="组合 4">
                <a:extLst>
                  <a:ext uri="{FF2B5EF4-FFF2-40B4-BE49-F238E27FC236}">
                    <a16:creationId xmlns:a16="http://schemas.microsoft.com/office/drawing/2014/main" id="{70037252-7288-4AB3-87E2-8101208880A2}"/>
                  </a:ext>
                </a:extLst>
              </p:cNvPr>
              <p:cNvGrpSpPr/>
              <p:nvPr/>
            </p:nvGrpSpPr>
            <p:grpSpPr>
              <a:xfrm>
                <a:off x="0" y="1117318"/>
                <a:ext cx="11771752" cy="4653272"/>
                <a:chOff x="308609" y="1043654"/>
                <a:chExt cx="10803424" cy="4653272"/>
              </a:xfrm>
            </p:grpSpPr>
            <p:sp>
              <p:nvSpPr>
                <p:cNvPr id="10" name="矩形: 圆角 7">
                  <a:extLst>
                    <a:ext uri="{FF2B5EF4-FFF2-40B4-BE49-F238E27FC236}">
                      <a16:creationId xmlns:a16="http://schemas.microsoft.com/office/drawing/2014/main" id="{EA018DC8-BF1D-4CDE-9731-C1FDAAE90132}"/>
                    </a:ext>
                  </a:extLst>
                </p:cNvPr>
                <p:cNvSpPr/>
                <p:nvPr/>
              </p:nvSpPr>
              <p:spPr>
                <a:xfrm>
                  <a:off x="308609" y="1043654"/>
                  <a:ext cx="10803424" cy="4653272"/>
                </a:xfrm>
                <a:prstGeom prst="roundRect">
                  <a:avLst>
                    <a:gd name="adj" fmla="val 1161"/>
                  </a:avLst>
                </a:prstGeom>
                <a:solidFill>
                  <a:schemeClr val="bg1"/>
                </a:solidFill>
                <a:ln w="9525">
                  <a:solidFill>
                    <a:schemeClr val="bg1">
                      <a:lumMod val="95000"/>
                    </a:schemeClr>
                  </a:solidFill>
                </a:ln>
                <a:effectLst>
                  <a:outerShdw blurRad="3175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dirty="0">
                    <a:solidFill>
                      <a:prstClr val="white"/>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1" name="文本框 4">
                  <a:extLst>
                    <a:ext uri="{FF2B5EF4-FFF2-40B4-BE49-F238E27FC236}">
                      <a16:creationId xmlns:a16="http://schemas.microsoft.com/office/drawing/2014/main" id="{3616C37E-93E1-48FC-A30B-774DF7A6B04D}"/>
                    </a:ext>
                  </a:extLst>
                </p:cNvPr>
                <p:cNvSpPr txBox="1"/>
                <p:nvPr/>
              </p:nvSpPr>
              <p:spPr>
                <a:xfrm>
                  <a:off x="1124805" y="1252533"/>
                  <a:ext cx="1299313" cy="338554"/>
                </a:xfrm>
                <a:prstGeom prst="rect">
                  <a:avLst/>
                </a:prstGeom>
                <a:noFill/>
              </p:spPr>
              <p:txBody>
                <a:bodyPr wrap="none" rtlCol="0">
                  <a:spAutoFit/>
                </a:bodyPr>
                <a:lstStyle/>
                <a:p>
                  <a:r>
                    <a:rPr kumimoji="1" lang="zh-CN" altLang="en-US" sz="1600" dirty="0">
                      <a:solidFill>
                        <a:srgbClr val="5E5E5E"/>
                      </a:solidFill>
                      <a:latin typeface="Microsoft YaHei" panose="020B0503020204020204" pitchFamily="34" charset="-122"/>
                      <a:ea typeface="微软雅黑" panose="020B0503020204020204" pitchFamily="34" charset="-122"/>
                      <a:sym typeface="Microsoft YaHei" panose="020B0503020204020204" pitchFamily="34" charset="-122"/>
                    </a:rPr>
                    <a:t>安全库存优化</a:t>
                  </a:r>
                </a:p>
              </p:txBody>
            </p:sp>
            <p:sp>
              <p:nvSpPr>
                <p:cNvPr id="12" name="圆角矩形 32">
                  <a:extLst>
                    <a:ext uri="{FF2B5EF4-FFF2-40B4-BE49-F238E27FC236}">
                      <a16:creationId xmlns:a16="http://schemas.microsoft.com/office/drawing/2014/main" id="{96FD965D-A838-469F-8451-860CAAD097A0}"/>
                    </a:ext>
                  </a:extLst>
                </p:cNvPr>
                <p:cNvSpPr/>
                <p:nvPr/>
              </p:nvSpPr>
              <p:spPr>
                <a:xfrm>
                  <a:off x="3454959" y="1683315"/>
                  <a:ext cx="1689950" cy="1874791"/>
                </a:xfrm>
                <a:prstGeom prst="roundRect">
                  <a:avLst>
                    <a:gd name="adj" fmla="val 9024"/>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endParaRPr kumimoji="1" lang="en-US" altLang="zh-CN" sz="12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输入：</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BOM</a:t>
                  </a: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结构</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运营数据</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业务规则</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r>
                    <a:rPr kumimoji="1" lang="zh-CN" altLang="mr-I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输出</a:t>
                  </a: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处理后的网络</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节点属性集合</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关键节点</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algn="ctr"/>
                  <a:endParaRPr kumimoji="1" lang="zh-CN" altLang="en-US" sz="12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3" name="圆角矩形 42">
                  <a:extLst>
                    <a:ext uri="{FF2B5EF4-FFF2-40B4-BE49-F238E27FC236}">
                      <a16:creationId xmlns:a16="http://schemas.microsoft.com/office/drawing/2014/main" id="{E459F616-09A6-4B5E-8F35-AE096C9DC7E4}"/>
                    </a:ext>
                  </a:extLst>
                </p:cNvPr>
                <p:cNvSpPr/>
                <p:nvPr/>
              </p:nvSpPr>
              <p:spPr>
                <a:xfrm>
                  <a:off x="876773" y="1895678"/>
                  <a:ext cx="1795377" cy="155045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核心模块：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参数控制模块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BOM</a:t>
                  </a: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结构处理模块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需求预测模块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安全库存优化模块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仿真模块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4" name="圆角矩形 28">
                  <a:extLst>
                    <a:ext uri="{FF2B5EF4-FFF2-40B4-BE49-F238E27FC236}">
                      <a16:creationId xmlns:a16="http://schemas.microsoft.com/office/drawing/2014/main" id="{8548BD5D-656D-43E8-85A0-C57FA7454815}"/>
                    </a:ext>
                  </a:extLst>
                </p:cNvPr>
                <p:cNvSpPr/>
                <p:nvPr/>
              </p:nvSpPr>
              <p:spPr>
                <a:xfrm>
                  <a:off x="8761334" y="1252533"/>
                  <a:ext cx="1782536" cy="3970769"/>
                </a:xfrm>
                <a:prstGeom prst="roundRect">
                  <a:avLst>
                    <a:gd name="adj" fmla="val 8485"/>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5" name="圆角矩形 47">
                  <a:extLst>
                    <a:ext uri="{FF2B5EF4-FFF2-40B4-BE49-F238E27FC236}">
                      <a16:creationId xmlns:a16="http://schemas.microsoft.com/office/drawing/2014/main" id="{D4A13FCD-DA84-4AD6-9ADE-E0DF511F524A}"/>
                    </a:ext>
                  </a:extLst>
                </p:cNvPr>
                <p:cNvSpPr/>
                <p:nvPr/>
              </p:nvSpPr>
              <p:spPr>
                <a:xfrm>
                  <a:off x="8848119" y="2561115"/>
                  <a:ext cx="1640819" cy="1219509"/>
                </a:xfrm>
                <a:prstGeom prst="roundRect">
                  <a:avLst>
                    <a:gd name="adj" fmla="val 9024"/>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zh-CN" altLang="en-US"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考虑承诺服务时间因素的仿真</a:t>
                  </a:r>
                </a:p>
                <a:p>
                  <a:pPr marL="228600" indent="-228600">
                    <a:buFontTx/>
                    <a:buAutoNum type="arabicPeriod"/>
                  </a:pPr>
                  <a:r>
                    <a:rPr kumimoji="1" lang="zh-CN" altLang="en-US"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排产补货模型</a:t>
                  </a:r>
                  <a:endParaRPr kumimoji="1" lang="en-US" altLang="zh-CN"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指定优先级补货</a:t>
                  </a:r>
                  <a:endParaRPr kumimoji="1" lang="en-US" altLang="zh-CN"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6" name="圆角矩形 48">
                  <a:extLst>
                    <a:ext uri="{FF2B5EF4-FFF2-40B4-BE49-F238E27FC236}">
                      <a16:creationId xmlns:a16="http://schemas.microsoft.com/office/drawing/2014/main" id="{70C7ACDF-1B65-4F97-970D-2D80ED7E25A5}"/>
                    </a:ext>
                  </a:extLst>
                </p:cNvPr>
                <p:cNvSpPr/>
                <p:nvPr/>
              </p:nvSpPr>
              <p:spPr>
                <a:xfrm>
                  <a:off x="8848119" y="4441376"/>
                  <a:ext cx="1640819" cy="322242"/>
                </a:xfrm>
                <a:prstGeom prst="roundRect">
                  <a:avLst>
                    <a:gd name="adj" fmla="val 9024"/>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zh-CN"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KPI</a:t>
                  </a:r>
                  <a:r>
                    <a:rPr kumimoji="1" lang="zh-CN" altLang="en-US"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分析模块</a:t>
                  </a:r>
                  <a:endParaRPr kumimoji="1" lang="en-US" altLang="zh-CN"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7" name="圆角矩形 39">
                  <a:extLst>
                    <a:ext uri="{FF2B5EF4-FFF2-40B4-BE49-F238E27FC236}">
                      <a16:creationId xmlns:a16="http://schemas.microsoft.com/office/drawing/2014/main" id="{8D251920-157E-45A6-861B-A0339661C626}"/>
                    </a:ext>
                  </a:extLst>
                </p:cNvPr>
                <p:cNvSpPr/>
                <p:nvPr/>
              </p:nvSpPr>
              <p:spPr>
                <a:xfrm>
                  <a:off x="3454959" y="3845937"/>
                  <a:ext cx="1689949" cy="137737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zh-CN" altLang="en-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方法</a:t>
                  </a: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随机森林中位数回归</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输出：</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未来一定周期需求的均值、方差、分位数</a:t>
                  </a:r>
                  <a:endParaRPr kumimoji="1" lang="en-US" altLang="zh-CN" sz="12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8" name="圆角矩形 28">
                  <a:extLst>
                    <a:ext uri="{FF2B5EF4-FFF2-40B4-BE49-F238E27FC236}">
                      <a16:creationId xmlns:a16="http://schemas.microsoft.com/office/drawing/2014/main" id="{64E05A36-5FC8-47B6-8A74-0FA3A53138C9}"/>
                    </a:ext>
                  </a:extLst>
                </p:cNvPr>
                <p:cNvSpPr/>
                <p:nvPr/>
              </p:nvSpPr>
              <p:spPr>
                <a:xfrm>
                  <a:off x="5912477" y="1240112"/>
                  <a:ext cx="1987236" cy="3970776"/>
                </a:xfrm>
                <a:prstGeom prst="roundRect">
                  <a:avLst>
                    <a:gd name="adj" fmla="val 8485"/>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9" name="文本框 4">
                  <a:extLst>
                    <a:ext uri="{FF2B5EF4-FFF2-40B4-BE49-F238E27FC236}">
                      <a16:creationId xmlns:a16="http://schemas.microsoft.com/office/drawing/2014/main" id="{89368306-EC99-4579-9EE6-C05164E99A56}"/>
                    </a:ext>
                  </a:extLst>
                </p:cNvPr>
                <p:cNvSpPr txBox="1"/>
                <p:nvPr/>
              </p:nvSpPr>
              <p:spPr>
                <a:xfrm>
                  <a:off x="3422986" y="1252533"/>
                  <a:ext cx="1753896" cy="338554"/>
                </a:xfrm>
                <a:prstGeom prst="rect">
                  <a:avLst/>
                </a:prstGeom>
                <a:noFill/>
              </p:spPr>
              <p:txBody>
                <a:bodyPr wrap="none" rtlCol="0">
                  <a:spAutoFit/>
                </a:bodyPr>
                <a:lstStyle/>
                <a:p>
                  <a:r>
                    <a:rPr kumimoji="1" lang="en-US" altLang="zh-CN" sz="1600" dirty="0">
                      <a:solidFill>
                        <a:srgbClr val="5E5E5E"/>
                      </a:solidFill>
                      <a:latin typeface="Microsoft YaHei" panose="020B0503020204020204" pitchFamily="34" charset="-122"/>
                      <a:ea typeface="微软雅黑" panose="020B0503020204020204" pitchFamily="34" charset="-122"/>
                      <a:sym typeface="Microsoft YaHei" panose="020B0503020204020204" pitchFamily="34" charset="-122"/>
                    </a:rPr>
                    <a:t>BOM</a:t>
                  </a:r>
                  <a:r>
                    <a:rPr kumimoji="1" lang="zh-CN" altLang="en-US" sz="1600" dirty="0">
                      <a:solidFill>
                        <a:srgbClr val="5E5E5E"/>
                      </a:solidFill>
                      <a:latin typeface="Microsoft YaHei" panose="020B0503020204020204" pitchFamily="34" charset="-122"/>
                      <a:ea typeface="微软雅黑" panose="020B0503020204020204" pitchFamily="34" charset="-122"/>
                      <a:sym typeface="Microsoft YaHei" panose="020B0503020204020204" pitchFamily="34" charset="-122"/>
                    </a:rPr>
                    <a:t>结构处理模块</a:t>
                  </a:r>
                </a:p>
              </p:txBody>
            </p:sp>
            <p:sp>
              <p:nvSpPr>
                <p:cNvPr id="20" name="圆角矩形 43">
                  <a:extLst>
                    <a:ext uri="{FF2B5EF4-FFF2-40B4-BE49-F238E27FC236}">
                      <a16:creationId xmlns:a16="http://schemas.microsoft.com/office/drawing/2014/main" id="{80F8AD6C-BAAB-4C54-926D-4256EB80CCBA}"/>
                    </a:ext>
                  </a:extLst>
                </p:cNvPr>
                <p:cNvSpPr/>
                <p:nvPr/>
              </p:nvSpPr>
              <p:spPr>
                <a:xfrm>
                  <a:off x="6023215" y="1390069"/>
                  <a:ext cx="1749193" cy="50561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kumimoji="1" lang="zh-CN" altLang="en-US" sz="12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优化目标：最小化安全库存总持有成本</a:t>
                  </a:r>
                  <a:endParaRPr kumimoji="1" lang="en-US" altLang="zh-CN" sz="12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cxnSp>
              <p:nvCxnSpPr>
                <p:cNvPr id="21" name="直线箭头连接符 53">
                  <a:extLst>
                    <a:ext uri="{FF2B5EF4-FFF2-40B4-BE49-F238E27FC236}">
                      <a16:creationId xmlns:a16="http://schemas.microsoft.com/office/drawing/2014/main" id="{37B871D3-2818-4875-96BA-ABDC3FF23EA1}"/>
                    </a:ext>
                  </a:extLst>
                </p:cNvPr>
                <p:cNvCxnSpPr>
                  <a:cxnSpLocks/>
                  <a:stCxn id="18" idx="3"/>
                </p:cNvCxnSpPr>
                <p:nvPr/>
              </p:nvCxnSpPr>
              <p:spPr>
                <a:xfrm>
                  <a:off x="7899713" y="3225500"/>
                  <a:ext cx="5950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9">
                  <a:extLst>
                    <a:ext uri="{FF2B5EF4-FFF2-40B4-BE49-F238E27FC236}">
                      <a16:creationId xmlns:a16="http://schemas.microsoft.com/office/drawing/2014/main" id="{0F6BA028-0F14-406A-9071-D14087D7386C}"/>
                    </a:ext>
                  </a:extLst>
                </p:cNvPr>
                <p:cNvSpPr txBox="1"/>
                <p:nvPr/>
              </p:nvSpPr>
              <p:spPr>
                <a:xfrm>
                  <a:off x="6031035" y="5264703"/>
                  <a:ext cx="1732123" cy="338554"/>
                </a:xfrm>
                <a:prstGeom prst="rect">
                  <a:avLst/>
                </a:prstGeom>
                <a:noFill/>
              </p:spPr>
              <p:txBody>
                <a:bodyPr wrap="none" rtlCol="0">
                  <a:spAutoFit/>
                </a:bodyPr>
                <a:lstStyle/>
                <a:p>
                  <a:pPr algn="ctr"/>
                  <a:r>
                    <a:rPr kumimoji="1" lang="zh-CN" altLang="en-US" sz="1600" dirty="0">
                      <a:solidFill>
                        <a:srgbClr val="5E5E5E"/>
                      </a:solidFill>
                      <a:latin typeface="Microsoft YaHei" panose="020B0503020204020204" pitchFamily="34" charset="-122"/>
                      <a:ea typeface="微软雅黑" panose="020B0503020204020204" pitchFamily="34" charset="-122"/>
                      <a:sym typeface="Microsoft YaHei" panose="020B0503020204020204" pitchFamily="34" charset="-122"/>
                    </a:rPr>
                    <a:t>安全库存优化模块</a:t>
                  </a:r>
                </a:p>
              </p:txBody>
            </p:sp>
            <p:sp>
              <p:nvSpPr>
                <p:cNvPr id="23" name="文本框 29">
                  <a:extLst>
                    <a:ext uri="{FF2B5EF4-FFF2-40B4-BE49-F238E27FC236}">
                      <a16:creationId xmlns:a16="http://schemas.microsoft.com/office/drawing/2014/main" id="{06A3937C-D00B-4848-BCBE-11DFE838B571}"/>
                    </a:ext>
                  </a:extLst>
                </p:cNvPr>
                <p:cNvSpPr txBox="1"/>
                <p:nvPr/>
              </p:nvSpPr>
              <p:spPr>
                <a:xfrm>
                  <a:off x="3650277" y="5283363"/>
                  <a:ext cx="1299313" cy="338554"/>
                </a:xfrm>
                <a:prstGeom prst="rect">
                  <a:avLst/>
                </a:prstGeom>
                <a:noFill/>
              </p:spPr>
              <p:txBody>
                <a:bodyPr wrap="none" rtlCol="0">
                  <a:spAutoFit/>
                </a:bodyPr>
                <a:lstStyle/>
                <a:p>
                  <a:r>
                    <a:rPr kumimoji="1" lang="zh-CN" altLang="en-US" sz="1600" dirty="0">
                      <a:solidFill>
                        <a:srgbClr val="5E5E5E"/>
                      </a:solidFill>
                      <a:latin typeface="Microsoft YaHei" panose="020B0503020204020204" pitchFamily="34" charset="-122"/>
                      <a:ea typeface="微软雅黑" panose="020B0503020204020204" pitchFamily="34" charset="-122"/>
                      <a:sym typeface="Microsoft YaHei" panose="020B0503020204020204" pitchFamily="34" charset="-122"/>
                    </a:rPr>
                    <a:t>需求预测模块</a:t>
                  </a:r>
                </a:p>
              </p:txBody>
            </p:sp>
            <p:cxnSp>
              <p:nvCxnSpPr>
                <p:cNvPr id="24" name="肘形连接符 22">
                  <a:extLst>
                    <a:ext uri="{FF2B5EF4-FFF2-40B4-BE49-F238E27FC236}">
                      <a16:creationId xmlns:a16="http://schemas.microsoft.com/office/drawing/2014/main" id="{9E38F73A-454F-4093-9547-46BE66CC631A}"/>
                    </a:ext>
                  </a:extLst>
                </p:cNvPr>
                <p:cNvCxnSpPr>
                  <a:cxnSpLocks/>
                  <a:stCxn id="12" idx="3"/>
                  <a:endCxn id="18" idx="1"/>
                </p:cNvCxnSpPr>
                <p:nvPr/>
              </p:nvCxnSpPr>
              <p:spPr>
                <a:xfrm>
                  <a:off x="5144909" y="2620711"/>
                  <a:ext cx="767569" cy="60478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ight Arrow 48">
                  <a:extLst>
                    <a:ext uri="{FF2B5EF4-FFF2-40B4-BE49-F238E27FC236}">
                      <a16:creationId xmlns:a16="http://schemas.microsoft.com/office/drawing/2014/main" id="{71451A67-5AAC-4157-BBF1-610045F82BE7}"/>
                    </a:ext>
                  </a:extLst>
                </p:cNvPr>
                <p:cNvSpPr/>
                <p:nvPr/>
              </p:nvSpPr>
              <p:spPr>
                <a:xfrm>
                  <a:off x="2786141" y="3221016"/>
                  <a:ext cx="538843" cy="3646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26" name="圆角矩形 43">
                  <a:extLst>
                    <a:ext uri="{FF2B5EF4-FFF2-40B4-BE49-F238E27FC236}">
                      <a16:creationId xmlns:a16="http://schemas.microsoft.com/office/drawing/2014/main" id="{2B5EF62D-32D4-4195-A67C-E5D1415640EA}"/>
                    </a:ext>
                  </a:extLst>
                </p:cNvPr>
                <p:cNvSpPr/>
                <p:nvPr/>
              </p:nvSpPr>
              <p:spPr>
                <a:xfrm>
                  <a:off x="5964054" y="2868577"/>
                  <a:ext cx="1880727" cy="8785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1400" b="1" dirty="0">
                      <a:solidFill>
                        <a:schemeClr val="bg1"/>
                      </a:solidFill>
                      <a:latin typeface="Microsoft YaHei" panose="020B0503020204020204" pitchFamily="34" charset="-122"/>
                      <a:ea typeface="微软雅黑" panose="020B0503020204020204" pitchFamily="34" charset="-122"/>
                      <a:sym typeface="Microsoft YaHei" panose="020B0503020204020204" pitchFamily="34" charset="-122"/>
                    </a:rPr>
                    <a:t>定制化的承诺服务模型</a:t>
                  </a:r>
                  <a:endParaRPr kumimoji="1" lang="en-US" altLang="zh-CN" sz="1400" b="1" dirty="0">
                    <a:solidFill>
                      <a:schemeClr val="bg1"/>
                    </a:solidFill>
                    <a:latin typeface="Microsoft YaHei" panose="020B0503020204020204" pitchFamily="34" charset="-122"/>
                    <a:ea typeface="微软雅黑" panose="020B0503020204020204" pitchFamily="34" charset="-122"/>
                    <a:sym typeface="Microsoft YaHei" panose="020B0503020204020204" pitchFamily="34" charset="-122"/>
                  </a:endParaRPr>
                </a:p>
                <a:p>
                  <a:pPr algn="ctr"/>
                  <a:r>
                    <a:rPr kumimoji="1" lang="zh-CN" altLang="en-US" sz="1400" dirty="0">
                      <a:solidFill>
                        <a:schemeClr val="bg1"/>
                      </a:solidFill>
                      <a:latin typeface="Microsoft YaHei" panose="020B0503020204020204" pitchFamily="34" charset="-122"/>
                      <a:ea typeface="微软雅黑" panose="020B0503020204020204" pitchFamily="34" charset="-122"/>
                      <a:sym typeface="Microsoft YaHei" panose="020B0503020204020204" pitchFamily="34" charset="-122"/>
                    </a:rPr>
                    <a:t>由</a:t>
                  </a:r>
                  <a:r>
                    <a:rPr kumimoji="1" lang="en-US" altLang="zh-CN" sz="1400" dirty="0">
                      <a:solidFill>
                        <a:schemeClr val="bg1"/>
                      </a:solidFill>
                      <a:latin typeface="Microsoft YaHei" panose="020B0503020204020204" pitchFamily="34" charset="-122"/>
                      <a:ea typeface="微软雅黑" panose="020B0503020204020204" pitchFamily="34" charset="-122"/>
                      <a:sym typeface="Microsoft YaHei" panose="020B0503020204020204" pitchFamily="34" charset="-122"/>
                    </a:rPr>
                    <a:t>COPT</a:t>
                  </a:r>
                  <a:r>
                    <a:rPr kumimoji="1" lang="zh-CN" altLang="en-US" sz="1400" dirty="0">
                      <a:solidFill>
                        <a:schemeClr val="bg1"/>
                      </a:solidFill>
                      <a:latin typeface="Microsoft YaHei" panose="020B0503020204020204" pitchFamily="34" charset="-122"/>
                      <a:ea typeface="微软雅黑" panose="020B0503020204020204" pitchFamily="34" charset="-122"/>
                      <a:sym typeface="Microsoft YaHei" panose="020B0503020204020204" pitchFamily="34" charset="-122"/>
                    </a:rPr>
                    <a:t>支持的近似求解算法进行求解</a:t>
                  </a:r>
                  <a:endParaRPr kumimoji="1" lang="en-US" altLang="zh-CN" sz="1400" dirty="0">
                    <a:solidFill>
                      <a:schemeClr val="bg1"/>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grpSp>
          <p:cxnSp>
            <p:nvCxnSpPr>
              <p:cNvPr id="6" name="肘形连接符 22">
                <a:extLst>
                  <a:ext uri="{FF2B5EF4-FFF2-40B4-BE49-F238E27FC236}">
                    <a16:creationId xmlns:a16="http://schemas.microsoft.com/office/drawing/2014/main" id="{1BF4C6A7-CC50-4CFA-8E09-1DAA315B3422}"/>
                  </a:ext>
                </a:extLst>
              </p:cNvPr>
              <p:cNvCxnSpPr>
                <a:cxnSpLocks/>
                <a:stCxn id="17" idx="3"/>
                <a:endCxn id="18" idx="1"/>
              </p:cNvCxnSpPr>
              <p:nvPr/>
            </p:nvCxnSpPr>
            <p:spPr>
              <a:xfrm flipV="1">
                <a:off x="5269784" y="3299164"/>
                <a:ext cx="836368" cy="130912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圆角矩形 43">
                <a:extLst>
                  <a:ext uri="{FF2B5EF4-FFF2-40B4-BE49-F238E27FC236}">
                    <a16:creationId xmlns:a16="http://schemas.microsoft.com/office/drawing/2014/main" id="{9AEAF2D3-A1CC-49B5-80CD-00958459F61B}"/>
                  </a:ext>
                </a:extLst>
              </p:cNvPr>
              <p:cNvSpPr/>
              <p:nvPr/>
            </p:nvSpPr>
            <p:spPr>
              <a:xfrm>
                <a:off x="6235336" y="4451206"/>
                <a:ext cx="1917210" cy="51634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输出</a:t>
                </a:r>
                <a:r>
                  <a:rPr kumimoji="1" lang="zh-CN" altLang="en-US" sz="130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：安全</a:t>
                </a: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库存策略</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8" name="文本框 4">
                <a:extLst>
                  <a:ext uri="{FF2B5EF4-FFF2-40B4-BE49-F238E27FC236}">
                    <a16:creationId xmlns:a16="http://schemas.microsoft.com/office/drawing/2014/main" id="{EB166D26-04A8-4B93-88CA-726CB4254366}"/>
                  </a:ext>
                </a:extLst>
              </p:cNvPr>
              <p:cNvSpPr txBox="1"/>
              <p:nvPr/>
            </p:nvSpPr>
            <p:spPr>
              <a:xfrm>
                <a:off x="9699109" y="5357027"/>
                <a:ext cx="1005403" cy="338554"/>
              </a:xfrm>
              <a:prstGeom prst="rect">
                <a:avLst/>
              </a:prstGeom>
              <a:noFill/>
            </p:spPr>
            <p:txBody>
              <a:bodyPr wrap="none" rtlCol="0">
                <a:spAutoFit/>
              </a:bodyPr>
              <a:lstStyle/>
              <a:p>
                <a:r>
                  <a:rPr kumimoji="1" lang="zh-CN" altLang="en-US" sz="1600" dirty="0">
                    <a:solidFill>
                      <a:srgbClr val="5E5E5E"/>
                    </a:solidFill>
                    <a:latin typeface="Microsoft YaHei" panose="020B0503020204020204" pitchFamily="34" charset="-122"/>
                    <a:ea typeface="微软雅黑" panose="020B0503020204020204" pitchFamily="34" charset="-122"/>
                    <a:sym typeface="Microsoft YaHei" panose="020B0503020204020204" pitchFamily="34" charset="-122"/>
                  </a:rPr>
                  <a:t>仿真模块</a:t>
                </a:r>
              </a:p>
            </p:txBody>
          </p:sp>
          <p:sp>
            <p:nvSpPr>
              <p:cNvPr id="9" name="圆角矩形 48">
                <a:extLst>
                  <a:ext uri="{FF2B5EF4-FFF2-40B4-BE49-F238E27FC236}">
                    <a16:creationId xmlns:a16="http://schemas.microsoft.com/office/drawing/2014/main" id="{52467FA6-1AEB-4850-8B36-F5FD8541C3ED}"/>
                  </a:ext>
                </a:extLst>
              </p:cNvPr>
              <p:cNvSpPr/>
              <p:nvPr/>
            </p:nvSpPr>
            <p:spPr>
              <a:xfrm>
                <a:off x="9304920" y="1593574"/>
                <a:ext cx="1787888" cy="322242"/>
              </a:xfrm>
              <a:prstGeom prst="roundRect">
                <a:avLst>
                  <a:gd name="adj" fmla="val 9024"/>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zh-CN" altLang="en-US"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需求样本生成模块</a:t>
                </a:r>
                <a:endParaRPr kumimoji="1" lang="en-US" altLang="zh-CN" sz="14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grpSp>
        <p:sp>
          <p:nvSpPr>
            <p:cNvPr id="27" name="圆角矩形 42">
              <a:extLst>
                <a:ext uri="{FF2B5EF4-FFF2-40B4-BE49-F238E27FC236}">
                  <a16:creationId xmlns:a16="http://schemas.microsoft.com/office/drawing/2014/main" id="{6A0D2622-DD35-47D5-A12B-6CB9C180B44D}"/>
                </a:ext>
              </a:extLst>
            </p:cNvPr>
            <p:cNvSpPr/>
            <p:nvPr/>
          </p:nvSpPr>
          <p:spPr>
            <a:xfrm>
              <a:off x="829213" y="4037615"/>
              <a:ext cx="1956299" cy="127519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业务功能模块：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数据分析模块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策略可解释性模块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a:p>
              <a:pPr marL="228600" indent="-228600">
                <a:buFontTx/>
                <a:buAutoNum type="arabicPeriod"/>
              </a:pPr>
              <a:r>
                <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What if (</a:t>
              </a: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灵敏度分析</a:t>
              </a:r>
              <a:r>
                <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 </a:t>
              </a:r>
              <a:r>
                <a:rPr kumimoji="1" lang="zh-CN" altLang="en-US"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rPr>
                <a:t>模块</a:t>
              </a:r>
              <a:endParaRPr kumimoji="1" lang="en-US" altLang="zh-CN" sz="1300" dirty="0">
                <a:solidFill>
                  <a:srgbClr val="FFFFFF"/>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grpSp>
      <p:sp>
        <p:nvSpPr>
          <p:cNvPr id="33" name="矩形 32">
            <a:extLst>
              <a:ext uri="{FF2B5EF4-FFF2-40B4-BE49-F238E27FC236}">
                <a16:creationId xmlns:a16="http://schemas.microsoft.com/office/drawing/2014/main" id="{55FC39E5-0B4C-42CA-B582-5D13078AD61E}"/>
              </a:ext>
            </a:extLst>
          </p:cNvPr>
          <p:cNvSpPr/>
          <p:nvPr/>
        </p:nvSpPr>
        <p:spPr>
          <a:xfrm>
            <a:off x="1197888" y="895326"/>
            <a:ext cx="11636071" cy="369332"/>
          </a:xfrm>
          <a:prstGeom prst="rect">
            <a:avLst/>
          </a:prstGeom>
        </p:spPr>
        <p:txBody>
          <a:bodyPr wrap="square">
            <a:spAutoFit/>
          </a:bodyPr>
          <a:lstStyle/>
          <a:p>
            <a:r>
              <a:rPr lang="zh-CN" altLang="en-US" dirty="0">
                <a:cs typeface="+mn-ea"/>
                <a:sym typeface="+mn-lt"/>
              </a:rPr>
              <a:t>网络关键节点分析</a:t>
            </a:r>
            <a:r>
              <a:rPr lang="en-US" altLang="zh-CN" dirty="0">
                <a:cs typeface="+mn-ea"/>
                <a:sym typeface="+mn-lt"/>
              </a:rPr>
              <a:t>+</a:t>
            </a:r>
            <a:r>
              <a:rPr lang="zh-CN" altLang="en-US" dirty="0">
                <a:cs typeface="+mn-ea"/>
                <a:sym typeface="+mn-lt"/>
              </a:rPr>
              <a:t>网络节点需求波动刻画</a:t>
            </a:r>
            <a:r>
              <a:rPr lang="en-US" altLang="zh-CN" dirty="0">
                <a:cs typeface="+mn-ea"/>
                <a:sym typeface="+mn-lt"/>
              </a:rPr>
              <a:t>+</a:t>
            </a:r>
            <a:r>
              <a:rPr lang="zh-CN" altLang="en-US" dirty="0">
                <a:cs typeface="+mn-ea"/>
                <a:sym typeface="+mn-lt"/>
              </a:rPr>
              <a:t>全网络联合安全库存优化</a:t>
            </a:r>
            <a:r>
              <a:rPr lang="en-US" altLang="zh-CN" dirty="0">
                <a:cs typeface="+mn-ea"/>
                <a:sym typeface="+mn-lt"/>
              </a:rPr>
              <a:t>+</a:t>
            </a:r>
            <a:r>
              <a:rPr lang="zh-CN" altLang="en-US" dirty="0">
                <a:cs typeface="+mn-ea"/>
                <a:sym typeface="+mn-lt"/>
              </a:rPr>
              <a:t>全库存模拟仿真调优</a:t>
            </a:r>
            <a:endParaRPr lang="en-US" dirty="0"/>
          </a:p>
        </p:txBody>
      </p:sp>
    </p:spTree>
    <p:extLst>
      <p:ext uri="{BB962C8B-B14F-4D97-AF65-F5344CB8AC3E}">
        <p14:creationId xmlns:p14="http://schemas.microsoft.com/office/powerpoint/2010/main" val="3341435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ECB927-3B46-42EF-B267-46FDDB234B0B}"/>
              </a:ext>
            </a:extLst>
          </p:cNvPr>
          <p:cNvSpPr>
            <a:spLocks noGrp="1"/>
          </p:cNvSpPr>
          <p:nvPr>
            <p:ph type="title"/>
          </p:nvPr>
        </p:nvSpPr>
        <p:spPr/>
        <p:txBody>
          <a:bodyPr vert="horz" lIns="91440" tIns="45720" rIns="91440" bIns="45720" rtlCol="0"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实施框架</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pic>
        <p:nvPicPr>
          <p:cNvPr id="5" name="图片 4">
            <a:extLst>
              <a:ext uri="{FF2B5EF4-FFF2-40B4-BE49-F238E27FC236}">
                <a16:creationId xmlns:a16="http://schemas.microsoft.com/office/drawing/2014/main" id="{520A1BBB-EBCA-48C8-A083-708DE07EF66D}"/>
              </a:ext>
            </a:extLst>
          </p:cNvPr>
          <p:cNvPicPr>
            <a:picLocks noChangeAspect="1"/>
          </p:cNvPicPr>
          <p:nvPr/>
        </p:nvPicPr>
        <p:blipFill>
          <a:blip r:embed="rId2"/>
          <a:stretch>
            <a:fillRect/>
          </a:stretch>
        </p:blipFill>
        <p:spPr>
          <a:xfrm>
            <a:off x="1188113" y="689097"/>
            <a:ext cx="9815773" cy="5629887"/>
          </a:xfrm>
          <a:prstGeom prst="rect">
            <a:avLst/>
          </a:prstGeom>
        </p:spPr>
      </p:pic>
    </p:spTree>
    <p:extLst>
      <p:ext uri="{BB962C8B-B14F-4D97-AF65-F5344CB8AC3E}">
        <p14:creationId xmlns:p14="http://schemas.microsoft.com/office/powerpoint/2010/main" val="3390582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32F62E-F096-4D61-B24E-EB698E9DDD7F}"/>
              </a:ext>
            </a:extLst>
          </p:cNvPr>
          <p:cNvSpPr>
            <a:spLocks noGrp="1"/>
          </p:cNvSpPr>
          <p:nvPr>
            <p:ph type="title"/>
          </p:nvPr>
        </p:nvSpPr>
        <p:spPr/>
        <p:txBody>
          <a:bodyPr vert="horz" wrap="square" lIns="91440" tIns="45720" rIns="91440" bIns="45720" rtlCol="0"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安全库存优化模型</a:t>
            </a:r>
            <a:r>
              <a:rPr lang="en-US" altLang="zh-CN"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a:t>
            </a:r>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承诺服务模型</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3" name="矩形 2">
            <a:extLst>
              <a:ext uri="{FF2B5EF4-FFF2-40B4-BE49-F238E27FC236}">
                <a16:creationId xmlns:a16="http://schemas.microsoft.com/office/drawing/2014/main" id="{BA9E12EF-223A-4453-BC52-31030B7CECD5}"/>
              </a:ext>
            </a:extLst>
          </p:cNvPr>
          <p:cNvSpPr/>
          <p:nvPr/>
        </p:nvSpPr>
        <p:spPr>
          <a:xfrm>
            <a:off x="412683" y="902642"/>
            <a:ext cx="10945128" cy="369332"/>
          </a:xfrm>
          <a:prstGeom prst="rect">
            <a:avLst/>
          </a:prstGeom>
        </p:spPr>
        <p:txBody>
          <a:bodyPr wrap="square">
            <a:spAutoFit/>
          </a:bodyPr>
          <a:lstStyle/>
          <a:p>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我们同时考虑所有节点的加工</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采购时间，在满足服务水平的同时最小化安全库存总成本</a:t>
            </a:r>
            <a:endParaRPr lang="en-US" dirty="0">
              <a:solidFill>
                <a:schemeClr val="accent3">
                  <a:lumMod val="50000"/>
                </a:schemeClr>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grpSp>
        <p:nvGrpSpPr>
          <p:cNvPr id="4" name="组合 3">
            <a:extLst>
              <a:ext uri="{FF2B5EF4-FFF2-40B4-BE49-F238E27FC236}">
                <a16:creationId xmlns:a16="http://schemas.microsoft.com/office/drawing/2014/main" id="{FD3494AF-16DC-489F-8CE2-33D53A5C029A}"/>
              </a:ext>
            </a:extLst>
          </p:cNvPr>
          <p:cNvGrpSpPr/>
          <p:nvPr/>
        </p:nvGrpSpPr>
        <p:grpSpPr>
          <a:xfrm>
            <a:off x="485702" y="1601062"/>
            <a:ext cx="7176021" cy="2688167"/>
            <a:chOff x="2630755" y="1714845"/>
            <a:chExt cx="7176021" cy="2688167"/>
          </a:xfrm>
        </p:grpSpPr>
        <p:grpSp>
          <p:nvGrpSpPr>
            <p:cNvPr id="5" name="组合 4">
              <a:extLst>
                <a:ext uri="{FF2B5EF4-FFF2-40B4-BE49-F238E27FC236}">
                  <a16:creationId xmlns:a16="http://schemas.microsoft.com/office/drawing/2014/main" id="{F3203D43-402C-4BF2-85CE-1094518CA8FE}"/>
                </a:ext>
              </a:extLst>
            </p:cNvPr>
            <p:cNvGrpSpPr/>
            <p:nvPr/>
          </p:nvGrpSpPr>
          <p:grpSpPr>
            <a:xfrm>
              <a:off x="2630755" y="1762144"/>
              <a:ext cx="7172645" cy="2040046"/>
              <a:chOff x="3678246" y="1643265"/>
              <a:chExt cx="7172645" cy="2040046"/>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CD089DC-BA02-4A8C-BF7E-17C3A7F27690}"/>
                      </a:ext>
                    </a:extLst>
                  </p:cNvPr>
                  <p:cNvSpPr/>
                  <p:nvPr/>
                </p:nvSpPr>
                <p:spPr>
                  <a:xfrm>
                    <a:off x="3678246" y="1643265"/>
                    <a:ext cx="4331506" cy="20400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en-US" i="1" smtClean="0">
                                  <a:latin typeface="Cambria Math" panose="02040503050406030204" pitchFamily="18" charset="0"/>
                                  <a:sym typeface="Microsoft YaHei" panose="020B0503020204020204" pitchFamily="34" charset="-122"/>
                                </a:rPr>
                              </m:ctrlPr>
                            </m:mPr>
                            <m:mr>
                              <m:e/>
                              <m:e>
                                <m:limLow>
                                  <m:limLowPr>
                                    <m:ctrlPr>
                                      <a:rPr lang="en-US" i="1">
                                        <a:latin typeface="Cambria Math" panose="02040503050406030204" pitchFamily="18" charset="0"/>
                                        <a:sym typeface="Microsoft YaHei" panose="020B0503020204020204" pitchFamily="34" charset="-122"/>
                                      </a:rPr>
                                    </m:ctrlPr>
                                  </m:limLowPr>
                                  <m:e>
                                    <m:r>
                                      <m:rPr>
                                        <m:nor/>
                                      </m:rPr>
                                      <a:rPr lang="en-US">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min</m:t>
                                    </m:r>
                                  </m:e>
                                  <m:lim>
                                    <m:r>
                                      <a:rPr lang="en-US" i="0">
                                        <a:latin typeface="Cambria Math" panose="02040503050406030204" pitchFamily="18" charset="0"/>
                                        <a:sym typeface="Microsoft YaHei" panose="020B0503020204020204" pitchFamily="34" charset="-122"/>
                                      </a:rPr>
                                      <m:t>​</m:t>
                                    </m:r>
                                  </m:lim>
                                </m:limLow>
                              </m:e>
                              <m:e/>
                              <m:e>
                                <m:nary>
                                  <m:naryPr>
                                    <m:chr m:val="∑"/>
                                    <m:limLoc m:val="undOvr"/>
                                    <m:supHide m:val="on"/>
                                    <m:ctrlPr>
                                      <a:rPr lang="en-US" i="1">
                                        <a:latin typeface="Cambria Math" panose="02040503050406030204" pitchFamily="18" charset="0"/>
                                        <a:sym typeface="Microsoft YaHei" panose="020B0503020204020204" pitchFamily="34" charset="-122"/>
                                      </a:rPr>
                                    </m:ctrlPr>
                                  </m:naryPr>
                                  <m:sub>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𝑁</m:t>
                                    </m:r>
                                  </m:sub>
                                  <m:sup/>
                                  <m:e>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h</m:t>
                                        </m:r>
                                      </m:e>
                                      <m:sub>
                                        <m:r>
                                          <a:rPr lang="en-US" i="1">
                                            <a:latin typeface="Cambria Math" panose="02040503050406030204" pitchFamily="18" charset="0"/>
                                            <a:sym typeface="Microsoft YaHei" panose="020B0503020204020204" pitchFamily="34" charset="-122"/>
                                          </a:rPr>
                                          <m:t>𝑗</m:t>
                                        </m:r>
                                      </m:sub>
                                    </m:sSub>
                                  </m:e>
                                </m:nary>
                                <m:d>
                                  <m:dPr>
                                    <m:begChr m:val="["/>
                                    <m:endChr m:val="]"/>
                                    <m:ctrlPr>
                                      <a:rPr lang="en-US" i="1">
                                        <a:latin typeface="Cambria Math" panose="02040503050406030204" pitchFamily="18" charset="0"/>
                                        <a:sym typeface="Microsoft YaHei" panose="020B0503020204020204" pitchFamily="34" charset="-122"/>
                                      </a:rPr>
                                    </m:ctrlPr>
                                  </m:dPr>
                                  <m:e>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𝐷</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𝐶</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𝐶</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𝑗</m:t>
                                        </m:r>
                                      </m:sub>
                                    </m:sSub>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𝜇</m:t>
                                        </m:r>
                                      </m:e>
                                      <m:sub>
                                        <m:r>
                                          <a:rPr lang="en-US" i="1">
                                            <a:latin typeface="Cambria Math" panose="02040503050406030204" pitchFamily="18" charset="0"/>
                                            <a:sym typeface="Microsoft YaHei" panose="020B0503020204020204" pitchFamily="34" charset="-122"/>
                                          </a:rPr>
                                          <m:t>𝑗</m:t>
                                        </m:r>
                                      </m:sub>
                                    </m:sSub>
                                  </m:e>
                                </m:d>
                              </m:e>
                            </m:mr>
                            <m:mr>
                              <m:e/>
                              <m:e>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s</m:t>
                                </m:r>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m:t>
                                </m:r>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t</m:t>
                                </m:r>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m:t>
                                </m:r>
                              </m:e>
                              <m:e/>
                              <m:e>
                                <m:r>
                                  <a:rPr lang="en-US" i="1">
                                    <a:latin typeface="Cambria Math" panose="02040503050406030204" pitchFamily="18" charset="0"/>
                                    <a:sym typeface="Microsoft YaHei" panose="020B0503020204020204" pitchFamily="34" charset="-122"/>
                                  </a:rPr>
                                  <m:t>𝐶</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𝐿</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b="0" i="1" smtClean="0">
                                    <a:latin typeface="Cambria Math" panose="02040503050406030204" pitchFamily="18" charset="0"/>
                                    <a:sym typeface="Microsoft YaHei" panose="020B0503020204020204" pitchFamily="34" charset="-122"/>
                                  </a:rPr>
                                  <m:t>𝑁</m:t>
                                </m:r>
                              </m:e>
                            </m:mr>
                            <m:mr>
                              <m:e/>
                              <m:e/>
                              <m:e/>
                              <m:e>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𝑖</m:t>
                                    </m:r>
                                  </m:sub>
                                </m:sSub>
                                <m:r>
                                  <a:rPr lang="en-US" i="0">
                                    <a:latin typeface="Cambria Math" panose="02040503050406030204" pitchFamily="18" charset="0"/>
                                    <a:sym typeface="Microsoft YaHei" panose="020B0503020204020204" pitchFamily="34" charset="-122"/>
                                  </a:rPr>
                                  <m:t>≥0,∀(</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𝑖</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𝐴</m:t>
                                </m:r>
                              </m:e>
                            </m:mr>
                            <m:mr>
                              <m:e/>
                              <m:e/>
                              <m:e/>
                              <m:e>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𝑠</m:t>
                                    </m:r>
                                    <m:r>
                                      <a:rPr lang="en-US" b="0" i="1" smtClean="0">
                                        <a:latin typeface="Cambria Math" panose="02040503050406030204" pitchFamily="18" charset="0"/>
                                        <a:sym typeface="Microsoft YaHei" panose="020B0503020204020204" pitchFamily="34" charset="-122"/>
                                      </a:rPr>
                                      <m:t>𝑙𝑎</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𝐸</m:t>
                                </m:r>
                              </m:e>
                            </m:mr>
                            <m:mr>
                              <m:e/>
                              <m:e/>
                              <m:e/>
                              <m:e>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𝐶</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≥0,∀</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𝑁</m:t>
                                </m:r>
                              </m:e>
                            </m:mr>
                          </m:m>
                          <m:r>
                            <a:rPr lang="en-US" i="0">
                              <a:latin typeface="Cambria Math" panose="02040503050406030204" pitchFamily="18" charset="0"/>
                              <a:sym typeface="Microsoft YaHei" panose="020B0503020204020204" pitchFamily="34" charset="-122"/>
                            </a:rPr>
                            <m:t> </m:t>
                          </m:r>
                        </m:oMath>
                      </m:oMathPara>
                    </a14:m>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mc:Choice>
            <mc:Fallback xmlns="">
              <p:sp>
                <p:nvSpPr>
                  <p:cNvPr id="8" name="矩形 7">
                    <a:extLst>
                      <a:ext uri="{FF2B5EF4-FFF2-40B4-BE49-F238E27FC236}">
                        <a16:creationId xmlns:a16="http://schemas.microsoft.com/office/drawing/2014/main" id="{9CD089DC-BA02-4A8C-BF7E-17C3A7F27690}"/>
                      </a:ext>
                    </a:extLst>
                  </p:cNvPr>
                  <p:cNvSpPr>
                    <a:spLocks noRot="1" noChangeAspect="1" noMove="1" noResize="1" noEditPoints="1" noAdjustHandles="1" noChangeArrowheads="1" noChangeShapeType="1" noTextEdit="1"/>
                  </p:cNvSpPr>
                  <p:nvPr/>
                </p:nvSpPr>
                <p:spPr>
                  <a:xfrm>
                    <a:off x="3678246" y="1643265"/>
                    <a:ext cx="4331506" cy="2040046"/>
                  </a:xfrm>
                  <a:prstGeom prst="rect">
                    <a:avLst/>
                  </a:prstGeom>
                  <a:blipFill>
                    <a:blip r:embed="rId2"/>
                    <a:stretch>
                      <a:fillRect t="-45679" b="-2469"/>
                    </a:stretch>
                  </a:blipFill>
                </p:spPr>
                <p:txBody>
                  <a:bodyPr/>
                  <a:lstStyle/>
                  <a:p>
                    <a:r>
                      <a:rPr lang="en-US">
                        <a:noFill/>
                      </a:rPr>
                      <a:t> </a:t>
                    </a:r>
                  </a:p>
                </p:txBody>
              </p:sp>
            </mc:Fallback>
          </mc:AlternateContent>
          <p:sp>
            <p:nvSpPr>
              <p:cNvPr id="9" name="文本框 8">
                <a:extLst>
                  <a:ext uri="{FF2B5EF4-FFF2-40B4-BE49-F238E27FC236}">
                    <a16:creationId xmlns:a16="http://schemas.microsoft.com/office/drawing/2014/main" id="{5BAA1514-F209-4398-8576-3E13758491B8}"/>
                  </a:ext>
                </a:extLst>
              </p:cNvPr>
              <p:cNvSpPr txBox="1"/>
              <p:nvPr/>
            </p:nvSpPr>
            <p:spPr>
              <a:xfrm>
                <a:off x="8237612" y="2678401"/>
                <a:ext cx="2613279" cy="369332"/>
              </a:xfrm>
              <a:prstGeom prst="rect">
                <a:avLst/>
              </a:prstGeom>
              <a:noFill/>
            </p:spPr>
            <p:txBody>
              <a:bodyPr wrap="none" rtlCol="0">
                <a:spAutoFit/>
              </a:bodyPr>
              <a:lstStyle/>
              <a:p>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Non-convex problem!</a:t>
                </a:r>
              </a:p>
            </p:txBody>
          </p:sp>
          <p:sp>
            <p:nvSpPr>
              <p:cNvPr id="10" name="矩形 9">
                <a:extLst>
                  <a:ext uri="{FF2B5EF4-FFF2-40B4-BE49-F238E27FC236}">
                    <a16:creationId xmlns:a16="http://schemas.microsoft.com/office/drawing/2014/main" id="{A2324337-9BEE-44DD-B586-E873C994AD01}"/>
                  </a:ext>
                </a:extLst>
              </p:cNvPr>
              <p:cNvSpPr/>
              <p:nvPr/>
            </p:nvSpPr>
            <p:spPr>
              <a:xfrm>
                <a:off x="5722349" y="1778731"/>
                <a:ext cx="1796051" cy="4151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11" name="文本框 10">
                <a:extLst>
                  <a:ext uri="{FF2B5EF4-FFF2-40B4-BE49-F238E27FC236}">
                    <a16:creationId xmlns:a16="http://schemas.microsoft.com/office/drawing/2014/main" id="{36DAB876-55F0-4FA2-8177-B3547CBBFBBA}"/>
                  </a:ext>
                </a:extLst>
              </p:cNvPr>
              <p:cNvSpPr txBox="1"/>
              <p:nvPr/>
            </p:nvSpPr>
            <p:spPr>
              <a:xfrm>
                <a:off x="8407400" y="1801649"/>
                <a:ext cx="2026517" cy="369332"/>
              </a:xfrm>
              <a:prstGeom prst="rect">
                <a:avLst/>
              </a:prstGeom>
              <a:noFill/>
            </p:spPr>
            <p:txBody>
              <a:bodyPr wrap="none" rtlCol="0">
                <a:spAutoFit/>
              </a:bodyPr>
              <a:lstStyle/>
              <a:p>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General function</a:t>
                </a:r>
              </a:p>
            </p:txBody>
          </p:sp>
          <p:cxnSp>
            <p:nvCxnSpPr>
              <p:cNvPr id="12" name="直接箭头连接符 11">
                <a:extLst>
                  <a:ext uri="{FF2B5EF4-FFF2-40B4-BE49-F238E27FC236}">
                    <a16:creationId xmlns:a16="http://schemas.microsoft.com/office/drawing/2014/main" id="{F317A7F2-34F0-4283-89C7-BEF0E2C79328}"/>
                  </a:ext>
                </a:extLst>
              </p:cNvPr>
              <p:cNvCxnSpPr>
                <a:cxnSpLocks/>
                <a:stCxn id="10" idx="3"/>
                <a:endCxn id="11" idx="1"/>
              </p:cNvCxnSpPr>
              <p:nvPr/>
            </p:nvCxnSpPr>
            <p:spPr>
              <a:xfrm>
                <a:off x="7518400" y="1986315"/>
                <a:ext cx="889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8D34A467-A487-4B7F-B50A-9DF37770EFC5}"/>
                </a:ext>
              </a:extLst>
            </p:cNvPr>
            <p:cNvSpPr txBox="1"/>
            <p:nvPr/>
          </p:nvSpPr>
          <p:spPr>
            <a:xfrm>
              <a:off x="4641688" y="3912331"/>
              <a:ext cx="3896516" cy="369332"/>
            </a:xfrm>
            <a:prstGeom prst="rect">
              <a:avLst/>
            </a:prstGeom>
            <a:noFill/>
          </p:spPr>
          <p:txBody>
            <a:bodyPr wrap="none" rtlCol="0">
              <a:spAutoFit/>
            </a:bodyPr>
            <a:lstStyle/>
            <a:p>
              <a:r>
                <a:rPr lang="en-US" b="1"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Basic guaranteed-service model</a:t>
              </a:r>
            </a:p>
          </p:txBody>
        </p:sp>
        <p:sp>
          <p:nvSpPr>
            <p:cNvPr id="7" name="矩形 6">
              <a:extLst>
                <a:ext uri="{FF2B5EF4-FFF2-40B4-BE49-F238E27FC236}">
                  <a16:creationId xmlns:a16="http://schemas.microsoft.com/office/drawing/2014/main" id="{9AC22495-6BE4-4E2D-A281-48DE36DC40DD}"/>
                </a:ext>
              </a:extLst>
            </p:cNvPr>
            <p:cNvSpPr/>
            <p:nvPr/>
          </p:nvSpPr>
          <p:spPr>
            <a:xfrm>
              <a:off x="2687801" y="1714845"/>
              <a:ext cx="7118975" cy="26881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74BAE8EE-4440-488F-A0C8-2A03A47A1E6B}"/>
                  </a:ext>
                </a:extLst>
              </p:cNvPr>
              <p:cNvSpPr/>
              <p:nvPr/>
            </p:nvSpPr>
            <p:spPr>
              <a:xfrm>
                <a:off x="339199" y="4749350"/>
                <a:ext cx="11440118" cy="1812869"/>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每个节点对其下游（需求）承诺在</a:t>
                </a:r>
                <a14:m>
                  <m:oMath xmlns:m="http://schemas.openxmlformats.org/officeDocument/2006/math">
                    <m:r>
                      <a:rPr lang="en-US" altLang="zh-CN" b="0" i="0" smtClean="0">
                        <a:latin typeface="Cambria Math" panose="02040503050406030204" pitchFamily="18" charset="0"/>
                      </a:rPr>
                      <m:t> </m:t>
                    </m:r>
                    <m:r>
                      <a:rPr lang="en-US" altLang="zh-CN">
                        <a:latin typeface="Cambria Math" panose="02040503050406030204" pitchFamily="18" charset="0"/>
                      </a:rPr>
                      <m:t>𝑡</m:t>
                    </m:r>
                  </m:oMath>
                </a14:m>
                <a:r>
                  <a:rPr lang="zh-CN" altLang="en-US" dirty="0"/>
                  <a:t> 时刻产生的需求，一定能在</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𝑡</m:t>
                        </m:r>
                        <m:r>
                          <a:rPr lang="en-US" altLang="zh-CN">
                            <a:latin typeface="Cambria Math" panose="02040503050406030204" pitchFamily="18" charset="0"/>
                          </a:rPr>
                          <m:t>+</m:t>
                        </m:r>
                        <m:r>
                          <a:rPr lang="en-US" altLang="zh-CN">
                            <a:latin typeface="Cambria Math" panose="02040503050406030204" pitchFamily="18" charset="0"/>
                          </a:rPr>
                          <m:t>𝑆</m:t>
                        </m:r>
                      </m:e>
                      <m:sub>
                        <m:r>
                          <a:rPr lang="en-US" altLang="zh-CN">
                            <a:latin typeface="Cambria Math" panose="02040503050406030204" pitchFamily="18" charset="0"/>
                          </a:rPr>
                          <m:t>𝑗</m:t>
                        </m:r>
                      </m:sub>
                    </m:sSub>
                  </m:oMath>
                </a14:m>
                <a:r>
                  <a:rPr lang="zh-CN" altLang="en-US" dirty="0"/>
                  <a:t>交货，</a:t>
                </a:r>
                <a14:m>
                  <m:oMath xmlns:m="http://schemas.openxmlformats.org/officeDocument/2006/math">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r>
                      <a:rPr lang="en-US" i="1">
                        <a:latin typeface="Cambria Math" panose="02040503050406030204" pitchFamily="18" charset="0"/>
                        <a:sym typeface="Microsoft YaHei" panose="020B0503020204020204" pitchFamily="34" charset="-122"/>
                      </a:rPr>
                      <m:t> </m:t>
                    </m:r>
                    <m:r>
                      <a:rPr lang="zh-CN" altLang="en-US" i="1">
                        <a:latin typeface="Cambria Math" panose="02040503050406030204" pitchFamily="18" charset="0"/>
                        <a:sym typeface="Microsoft YaHei" panose="020B0503020204020204" pitchFamily="34" charset="-122"/>
                      </a:rPr>
                      <m:t>称为</m:t>
                    </m:r>
                  </m:oMath>
                </a14:m>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承诺服务时间</a:t>
                </a:r>
                <a:endParaRPr 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被服务时间</a:t>
                </a:r>
                <a14:m>
                  <m:oMath xmlns:m="http://schemas.openxmlformats.org/officeDocument/2006/math">
                    <m:r>
                      <a:rPr lang="en-US" b="0" i="0" smtClean="0">
                        <a:latin typeface="Cambria Math" panose="02040503050406030204" pitchFamily="18" charset="0"/>
                        <a:sym typeface="Microsoft YaHei" panose="020B0503020204020204" pitchFamily="34" charset="-122"/>
                      </a:rPr>
                      <m:t> </m:t>
                    </m:r>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oMath>
                </a14:m>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表示需求来临时</a:t>
                </a:r>
                <a:r>
                  <a:rPr lang="zh-CN" altLang="en-US" dirty="0"/>
                  <a:t>从上游获得物资到开始加工的时间</a:t>
                </a: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如果</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14:m>
                  <m:oMath xmlns:m="http://schemas.openxmlformats.org/officeDocument/2006/math">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1">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𝐿</m:t>
                        </m:r>
                      </m:e>
                      <m:sub>
                        <m:r>
                          <a:rPr lang="en-US" i="1">
                            <a:latin typeface="Cambria Math" panose="02040503050406030204" pitchFamily="18" charset="0"/>
                            <a:sym typeface="Microsoft YaHei" panose="020B0503020204020204" pitchFamily="34" charset="-122"/>
                          </a:rPr>
                          <m:t>𝑗</m:t>
                        </m:r>
                      </m:sub>
                    </m:sSub>
                    <m:r>
                      <a:rPr lang="en-US" i="1">
                        <a:latin typeface="Cambria Math" panose="02040503050406030204" pitchFamily="18" charset="0"/>
                        <a:sym typeface="Microsoft YaHei" panose="020B0503020204020204" pitchFamily="34" charset="-122"/>
                      </a:rPr>
                      <m:t>&gt;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oMath>
                </a14:m>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节点</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14:m>
                  <m:oMath xmlns:m="http://schemas.openxmlformats.org/officeDocument/2006/math">
                    <m:r>
                      <a:rPr lang="en-US" i="1">
                        <a:latin typeface="Cambria Math" panose="02040503050406030204" pitchFamily="18" charset="0"/>
                        <a:sym typeface="Microsoft YaHei" panose="020B0503020204020204" pitchFamily="34" charset="-122"/>
                      </a:rPr>
                      <m:t>𝑗</m:t>
                    </m:r>
                  </m:oMath>
                </a14:m>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需要自己持有一定库存覆盖需求</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14:m>
                  <m:oMath xmlns:m="http://schemas.openxmlformats.org/officeDocument/2006/math">
                    <m:r>
                      <a:rPr lang="en-US" i="1">
                        <a:latin typeface="Cambria Math" panose="02040503050406030204" pitchFamily="18" charset="0"/>
                        <a:sym typeface="Microsoft YaHei" panose="020B0503020204020204" pitchFamily="34" charset="-122"/>
                      </a:rPr>
                      <m:t>𝐶</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𝑗</m:t>
                        </m:r>
                      </m:sub>
                    </m:sSub>
                    <m:r>
                      <a:rPr lang="en-US" i="1">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1">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𝐿</m:t>
                        </m:r>
                      </m:e>
                      <m:sub>
                        <m:r>
                          <a:rPr lang="en-US" i="1">
                            <a:latin typeface="Cambria Math" panose="02040503050406030204" pitchFamily="18" charset="0"/>
                            <a:sym typeface="Microsoft YaHei" panose="020B0503020204020204" pitchFamily="34" charset="-122"/>
                          </a:rPr>
                          <m:t>𝑗</m:t>
                        </m:r>
                      </m:sub>
                    </m:sSub>
                    <m:r>
                      <a:rPr lang="en-US" i="1">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oMath>
                </a14:m>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称为</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覆盖时间</a:t>
                </a:r>
                <a:endParaRPr 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a:lnSpc>
                    <a:spcPct val="150000"/>
                  </a:lnSpc>
                </a:pP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mc:Choice>
        <mc:Fallback xmlns="">
          <p:sp>
            <p:nvSpPr>
              <p:cNvPr id="13" name="矩形 12">
                <a:extLst>
                  <a:ext uri="{FF2B5EF4-FFF2-40B4-BE49-F238E27FC236}">
                    <a16:creationId xmlns:a16="http://schemas.microsoft.com/office/drawing/2014/main" id="{74BAE8EE-4440-488F-A0C8-2A03A47A1E6B}"/>
                  </a:ext>
                </a:extLst>
              </p:cNvPr>
              <p:cNvSpPr>
                <a:spLocks noRot="1" noChangeAspect="1" noMove="1" noResize="1" noEditPoints="1" noAdjustHandles="1" noChangeArrowheads="1" noChangeShapeType="1" noTextEdit="1"/>
              </p:cNvSpPr>
              <p:nvPr/>
            </p:nvSpPr>
            <p:spPr>
              <a:xfrm>
                <a:off x="339199" y="4749350"/>
                <a:ext cx="11440118" cy="1812869"/>
              </a:xfrm>
              <a:prstGeom prst="rect">
                <a:avLst/>
              </a:prstGeom>
              <a:blipFill>
                <a:blip r:embed="rId3"/>
                <a:stretch>
                  <a:fillRect l="-373"/>
                </a:stretch>
              </a:blipFill>
            </p:spPr>
            <p:txBody>
              <a:bodyPr/>
              <a:lstStyle/>
              <a:p>
                <a:r>
                  <a:rPr lang="en-US">
                    <a:noFill/>
                  </a:rPr>
                  <a:t> </a:t>
                </a:r>
              </a:p>
            </p:txBody>
          </p:sp>
        </mc:Fallback>
      </mc:AlternateContent>
      <p:sp>
        <p:nvSpPr>
          <p:cNvPr id="14" name="矩形 13">
            <a:extLst>
              <a:ext uri="{FF2B5EF4-FFF2-40B4-BE49-F238E27FC236}">
                <a16:creationId xmlns:a16="http://schemas.microsoft.com/office/drawing/2014/main" id="{DA170670-BEB6-4C78-B593-432D4C294EDC}"/>
              </a:ext>
            </a:extLst>
          </p:cNvPr>
          <p:cNvSpPr/>
          <p:nvPr/>
        </p:nvSpPr>
        <p:spPr>
          <a:xfrm>
            <a:off x="339199" y="4433803"/>
            <a:ext cx="1107996" cy="369332"/>
          </a:xfrm>
          <a:prstGeom prst="rect">
            <a:avLst/>
          </a:prstGeom>
        </p:spPr>
        <p:txBody>
          <a:bodyPr wrap="none">
            <a:spAutoFit/>
          </a:bodyPr>
          <a:lstStyle/>
          <a:p>
            <a:r>
              <a:rPr lang="zh-CN" altLang="en-US" b="1"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决策变量</a:t>
            </a:r>
            <a:endParaRPr lang="en-US" b="1"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9DF6521-A9CE-ED48-AC34-53BC055DD332}"/>
                  </a:ext>
                </a:extLst>
              </p:cNvPr>
              <p:cNvSpPr txBox="1"/>
              <p:nvPr/>
            </p:nvSpPr>
            <p:spPr>
              <a:xfrm>
                <a:off x="8425649" y="1402569"/>
                <a:ext cx="3836545" cy="3007426"/>
              </a:xfrm>
              <a:prstGeom prst="rect">
                <a:avLst/>
              </a:prstGeom>
              <a:noFill/>
            </p:spPr>
            <p:txBody>
              <a:bodyPr wrap="square">
                <a:spAutoFit/>
              </a:bodyPr>
              <a:lstStyle/>
              <a:p>
                <a:pPr marL="285750" indent="-285750">
                  <a:lnSpc>
                    <a:spcPct val="150000"/>
                  </a:lnSpc>
                  <a:buFont typeface="Arial" panose="020B0604020202020204" pitchFamily="34" charset="0"/>
                  <a:buChar char="•"/>
                </a:pPr>
                <a14:m>
                  <m:oMath xmlns:m="http://schemas.openxmlformats.org/officeDocument/2006/math">
                    <m:r>
                      <a:rPr lang="en-US" sz="1200" i="1" smtClean="0">
                        <a:latin typeface="Cambria Math" panose="02040503050406030204" pitchFamily="18" charset="0"/>
                        <a:sym typeface="Microsoft YaHei" panose="020B0503020204020204" pitchFamily="34" charset="-122"/>
                      </a:rPr>
                      <m:t>𝑗</m:t>
                    </m:r>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节点</a:t>
                </a:r>
                <a:endParaRPr lang="en-US" sz="1200" i="1"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r>
                      <a:rPr lang="en-US" sz="1200" i="1" smtClean="0">
                        <a:latin typeface="Cambria Math" panose="02040503050406030204" pitchFamily="18" charset="0"/>
                        <a:ea typeface="SimSun" panose="02010600030101010101" pitchFamily="2" charset="-122"/>
                        <a:cs typeface="Times New Roman" panose="02020603050405020304" pitchFamily="18" charset="0"/>
                        <a:sym typeface="Microsoft YaHei" panose="020B0503020204020204" pitchFamily="34" charset="-122"/>
                      </a:rPr>
                      <m:t>𝑁</m:t>
                    </m:r>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节点集合</a:t>
                </a:r>
                <a:endPar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r>
                      <a:rPr lang="en-US" sz="1200" i="1">
                        <a:latin typeface="Cambria Math" panose="02040503050406030204" pitchFamily="18" charset="0"/>
                        <a:ea typeface="SimSun" panose="02010600030101010101" pitchFamily="2" charset="-122"/>
                        <a:cs typeface="Times New Roman" panose="02020603050405020304" pitchFamily="18" charset="0"/>
                        <a:sym typeface="Microsoft YaHei" panose="020B0503020204020204" pitchFamily="34" charset="-122"/>
                      </a:rPr>
                      <m:t>𝐴</m:t>
                    </m:r>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网络边的集合</a:t>
                </a:r>
                <a:endPar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r>
                      <a:rPr lang="en-US" sz="1200" i="1">
                        <a:latin typeface="Cambria Math" panose="02040503050406030204" pitchFamily="18" charset="0"/>
                        <a:sym typeface="Microsoft YaHei" panose="020B0503020204020204" pitchFamily="34" charset="-122"/>
                      </a:rPr>
                      <m:t>𝐸</m:t>
                    </m:r>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需求节点集合</a:t>
                </a:r>
                <a:endPar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sym typeface="Microsoft YaHei" panose="020B0503020204020204" pitchFamily="34" charset="-122"/>
                          </a:rPr>
                        </m:ctrlPr>
                      </m:sSubPr>
                      <m:e>
                        <m:r>
                          <a:rPr lang="en-US" sz="1200" i="1">
                            <a:latin typeface="Cambria Math" panose="02040503050406030204" pitchFamily="18" charset="0"/>
                            <a:sym typeface="Microsoft YaHei" panose="020B0503020204020204" pitchFamily="34" charset="-122"/>
                          </a:rPr>
                          <m:t>𝐷</m:t>
                        </m:r>
                      </m:e>
                      <m:sub>
                        <m:r>
                          <a:rPr lang="en-US" sz="1200" i="1">
                            <a:latin typeface="Cambria Math" panose="02040503050406030204" pitchFamily="18" charset="0"/>
                            <a:sym typeface="Microsoft YaHei" panose="020B0503020204020204" pitchFamily="34" charset="-122"/>
                          </a:rPr>
                          <m:t>𝑗</m:t>
                        </m:r>
                      </m:sub>
                    </m:sSub>
                    <m:r>
                      <a:rPr lang="en-US" sz="1200" i="1">
                        <a:latin typeface="Cambria Math" panose="02040503050406030204" pitchFamily="18" charset="0"/>
                        <a:sym typeface="Microsoft YaHei" panose="020B0503020204020204" pitchFamily="34" charset="-122"/>
                      </a:rPr>
                      <m:t>(</m:t>
                    </m:r>
                    <m:r>
                      <a:rPr lang="en-US" sz="1200" b="0" i="1" smtClean="0">
                        <a:latin typeface="Cambria Math" panose="02040503050406030204" pitchFamily="18" charset="0"/>
                        <a:sym typeface="Microsoft YaHei" panose="020B0503020204020204" pitchFamily="34" charset="-122"/>
                      </a:rPr>
                      <m:t>𝐶</m:t>
                    </m:r>
                    <m:sSub>
                      <m:sSubPr>
                        <m:ctrlPr>
                          <a:rPr lang="en-US" sz="1200" b="0" i="1" smtClean="0">
                            <a:latin typeface="Cambria Math" panose="02040503050406030204" pitchFamily="18" charset="0"/>
                            <a:sym typeface="Microsoft YaHei" panose="020B0503020204020204" pitchFamily="34" charset="-122"/>
                          </a:rPr>
                        </m:ctrlPr>
                      </m:sSubPr>
                      <m:e>
                        <m:r>
                          <a:rPr lang="en-US" sz="1200" b="0" i="1" smtClean="0">
                            <a:latin typeface="Cambria Math" panose="02040503050406030204" pitchFamily="18" charset="0"/>
                            <a:sym typeface="Microsoft YaHei" panose="020B0503020204020204" pitchFamily="34" charset="-122"/>
                          </a:rPr>
                          <m:t>𝑇</m:t>
                        </m:r>
                      </m:e>
                      <m:sub>
                        <m:r>
                          <a:rPr lang="en-US" sz="1200" b="0" i="1" smtClean="0">
                            <a:latin typeface="Cambria Math" panose="02040503050406030204" pitchFamily="18" charset="0"/>
                            <a:sym typeface="Microsoft YaHei" panose="020B0503020204020204" pitchFamily="34" charset="-122"/>
                          </a:rPr>
                          <m:t>𝑗</m:t>
                        </m:r>
                      </m:sub>
                    </m:sSub>
                    <m:r>
                      <a:rPr lang="en-US" sz="1200" i="1">
                        <a:latin typeface="Cambria Math" panose="02040503050406030204" pitchFamily="18" charset="0"/>
                        <a:sym typeface="Microsoft YaHei" panose="020B0503020204020204" pitchFamily="34" charset="-122"/>
                      </a:rPr>
                      <m:t>)</m:t>
                    </m:r>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需求上界函数</a:t>
                </a:r>
                <a:endPar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lvl="1">
                  <a:lnSpc>
                    <a:spcPct val="150000"/>
                  </a:lnSpc>
                </a:pPr>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e.g., </a:t>
                </a:r>
                <a14:m>
                  <m:oMath xmlns:m="http://schemas.openxmlformats.org/officeDocument/2006/math">
                    <m:sSub>
                      <m:sSubPr>
                        <m:ctrlPr>
                          <a:rPr lang="en-US" sz="1200" i="1">
                            <a:latin typeface="Cambria Math" panose="02040503050406030204" pitchFamily="18" charset="0"/>
                            <a:sym typeface="Microsoft YaHei" panose="020B0503020204020204" pitchFamily="34" charset="-122"/>
                          </a:rPr>
                        </m:ctrlPr>
                      </m:sSubPr>
                      <m:e>
                        <m:r>
                          <a:rPr lang="en-US" sz="1200" i="1">
                            <a:latin typeface="Cambria Math" panose="02040503050406030204" pitchFamily="18" charset="0"/>
                            <a:sym typeface="Microsoft YaHei" panose="020B0503020204020204" pitchFamily="34" charset="-122"/>
                          </a:rPr>
                          <m:t>𝐷</m:t>
                        </m:r>
                      </m:e>
                      <m:sub>
                        <m:r>
                          <a:rPr lang="en-US" sz="1200" b="0" i="1" smtClean="0">
                            <a:latin typeface="Cambria Math" panose="02040503050406030204" pitchFamily="18" charset="0"/>
                            <a:sym typeface="Microsoft YaHei" panose="020B0503020204020204" pitchFamily="34" charset="-122"/>
                          </a:rPr>
                          <m:t>𝑗</m:t>
                        </m:r>
                      </m:sub>
                    </m:sSub>
                    <m:d>
                      <m:dPr>
                        <m:ctrlPr>
                          <a:rPr lang="en-US" sz="1200" i="1">
                            <a:latin typeface="Cambria Math" panose="02040503050406030204" pitchFamily="18" charset="0"/>
                            <a:sym typeface="Microsoft YaHei" panose="020B0503020204020204" pitchFamily="34" charset="-122"/>
                          </a:rPr>
                        </m:ctrlPr>
                      </m:dPr>
                      <m:e>
                        <m:sSub>
                          <m:sSubPr>
                            <m:ctrlPr>
                              <a:rPr lang="en-US" sz="1200" i="1">
                                <a:latin typeface="Cambria Math" panose="02040503050406030204" pitchFamily="18" charset="0"/>
                                <a:sym typeface="Microsoft YaHei" panose="020B0503020204020204" pitchFamily="34" charset="-122"/>
                              </a:rPr>
                            </m:ctrlPr>
                          </m:sSubPr>
                          <m:e>
                            <m:r>
                              <a:rPr lang="en-US" sz="1200" b="0" i="1" smtClean="0">
                                <a:latin typeface="Cambria Math" panose="02040503050406030204" pitchFamily="18" charset="0"/>
                                <a:sym typeface="Microsoft YaHei" panose="020B0503020204020204" pitchFamily="34" charset="-122"/>
                              </a:rPr>
                              <m:t>𝐶</m:t>
                            </m:r>
                            <m:r>
                              <a:rPr lang="en-US" sz="1200" i="1">
                                <a:latin typeface="Cambria Math" panose="02040503050406030204" pitchFamily="18" charset="0"/>
                                <a:sym typeface="Microsoft YaHei" panose="020B0503020204020204" pitchFamily="34" charset="-122"/>
                              </a:rPr>
                              <m:t>𝑇</m:t>
                            </m:r>
                          </m:e>
                          <m:sub>
                            <m:r>
                              <a:rPr lang="en-US" sz="1200" b="0" i="1" smtClean="0">
                                <a:latin typeface="Cambria Math" panose="02040503050406030204" pitchFamily="18" charset="0"/>
                                <a:sym typeface="Microsoft YaHei" panose="020B0503020204020204" pitchFamily="34" charset="-122"/>
                              </a:rPr>
                              <m:t>𝑗</m:t>
                            </m:r>
                          </m:sub>
                        </m:sSub>
                      </m:e>
                    </m:d>
                    <m:r>
                      <a:rPr lang="en-US" sz="1200" i="1">
                        <a:latin typeface="Cambria Math" panose="02040503050406030204" pitchFamily="18" charset="0"/>
                        <a:sym typeface="Microsoft YaHei" panose="020B0503020204020204" pitchFamily="34" charset="-122"/>
                      </a:rPr>
                      <m:t>=</m:t>
                    </m:r>
                    <m:sSub>
                      <m:sSubPr>
                        <m:ctrlPr>
                          <a:rPr lang="en-US" sz="1200" i="1">
                            <a:latin typeface="Cambria Math" panose="02040503050406030204" pitchFamily="18" charset="0"/>
                            <a:sym typeface="Microsoft YaHei" panose="020B0503020204020204" pitchFamily="34" charset="-122"/>
                          </a:rPr>
                        </m:ctrlPr>
                      </m:sSubPr>
                      <m:e>
                        <m:r>
                          <a:rPr lang="en-US" sz="1200" b="0" i="1" smtClean="0">
                            <a:latin typeface="Cambria Math" panose="02040503050406030204" pitchFamily="18" charset="0"/>
                            <a:sym typeface="Microsoft YaHei" panose="020B0503020204020204" pitchFamily="34" charset="-122"/>
                          </a:rPr>
                          <m:t>𝐶</m:t>
                        </m:r>
                        <m:r>
                          <a:rPr lang="en-US" sz="1200" i="1">
                            <a:latin typeface="Cambria Math" panose="02040503050406030204" pitchFamily="18" charset="0"/>
                            <a:sym typeface="Microsoft YaHei" panose="020B0503020204020204" pitchFamily="34" charset="-122"/>
                          </a:rPr>
                          <m:t>𝑇</m:t>
                        </m:r>
                      </m:e>
                      <m:sub>
                        <m:r>
                          <a:rPr lang="en-US" sz="1200" b="0" i="1" smtClean="0">
                            <a:latin typeface="Cambria Math" panose="02040503050406030204" pitchFamily="18" charset="0"/>
                            <a:sym typeface="Microsoft YaHei" panose="020B0503020204020204" pitchFamily="34" charset="-122"/>
                          </a:rPr>
                          <m:t>𝑗</m:t>
                        </m:r>
                      </m:sub>
                    </m:sSub>
                    <m:sSub>
                      <m:sSubPr>
                        <m:ctrlPr>
                          <a:rPr lang="en-US" sz="1200" i="1">
                            <a:latin typeface="Cambria Math" panose="02040503050406030204" pitchFamily="18" charset="0"/>
                            <a:sym typeface="Microsoft YaHei" panose="020B0503020204020204" pitchFamily="34" charset="-122"/>
                          </a:rPr>
                        </m:ctrlPr>
                      </m:sSubPr>
                      <m:e>
                        <m:r>
                          <a:rPr lang="en-US" sz="1200" i="1">
                            <a:latin typeface="Cambria Math" panose="02040503050406030204" pitchFamily="18" charset="0"/>
                            <a:sym typeface="Microsoft YaHei" panose="020B0503020204020204" pitchFamily="34" charset="-122"/>
                          </a:rPr>
                          <m:t>𝜇</m:t>
                        </m:r>
                      </m:e>
                      <m:sub>
                        <m:r>
                          <a:rPr lang="en-US" sz="1200" b="0" i="1" smtClean="0">
                            <a:latin typeface="Cambria Math" panose="02040503050406030204" pitchFamily="18" charset="0"/>
                            <a:sym typeface="Microsoft YaHei" panose="020B0503020204020204" pitchFamily="34" charset="-122"/>
                          </a:rPr>
                          <m:t>𝑗</m:t>
                        </m:r>
                      </m:sub>
                    </m:sSub>
                    <m:r>
                      <a:rPr lang="en-US" sz="1200" i="1">
                        <a:latin typeface="Cambria Math" panose="02040503050406030204" pitchFamily="18" charset="0"/>
                        <a:sym typeface="Microsoft YaHei" panose="020B0503020204020204" pitchFamily="34" charset="-122"/>
                      </a:rPr>
                      <m:t>+</m:t>
                    </m:r>
                    <m:sSub>
                      <m:sSubPr>
                        <m:ctrlPr>
                          <a:rPr lang="en-US" sz="1200" b="0" i="1" smtClean="0">
                            <a:latin typeface="Cambria Math" panose="02040503050406030204" pitchFamily="18" charset="0"/>
                            <a:sym typeface="Microsoft YaHei" panose="020B0503020204020204" pitchFamily="34" charset="-122"/>
                          </a:rPr>
                        </m:ctrlPr>
                      </m:sSubPr>
                      <m:e>
                        <m:r>
                          <a:rPr lang="en-US" sz="1200" b="0" i="1" smtClean="0">
                            <a:latin typeface="Cambria Math" panose="02040503050406030204" pitchFamily="18" charset="0"/>
                            <a:sym typeface="Microsoft YaHei" panose="020B0503020204020204" pitchFamily="34" charset="-122"/>
                          </a:rPr>
                          <m:t>𝑘</m:t>
                        </m:r>
                      </m:e>
                      <m:sub>
                        <m:r>
                          <a:rPr lang="en-US" sz="1200" b="0" i="1" smtClean="0">
                            <a:latin typeface="Cambria Math" panose="02040503050406030204" pitchFamily="18" charset="0"/>
                            <a:sym typeface="Microsoft YaHei" panose="020B0503020204020204" pitchFamily="34" charset="-122"/>
                          </a:rPr>
                          <m:t>𝑗</m:t>
                        </m:r>
                      </m:sub>
                    </m:sSub>
                    <m:sSub>
                      <m:sSubPr>
                        <m:ctrlPr>
                          <a:rPr lang="en-US" sz="1200" i="1">
                            <a:latin typeface="Cambria Math" panose="02040503050406030204" pitchFamily="18" charset="0"/>
                            <a:sym typeface="Microsoft YaHei" panose="020B0503020204020204" pitchFamily="34" charset="-122"/>
                          </a:rPr>
                        </m:ctrlPr>
                      </m:sSubPr>
                      <m:e>
                        <m:r>
                          <a:rPr lang="en-US" sz="1200" i="1">
                            <a:latin typeface="Cambria Math" panose="02040503050406030204" pitchFamily="18" charset="0"/>
                            <a:sym typeface="Microsoft YaHei" panose="020B0503020204020204" pitchFamily="34" charset="-122"/>
                          </a:rPr>
                          <m:t>𝜎</m:t>
                        </m:r>
                      </m:e>
                      <m:sub>
                        <m:r>
                          <a:rPr lang="en-US" sz="1200" b="0" i="1" smtClean="0">
                            <a:latin typeface="Cambria Math" panose="02040503050406030204" pitchFamily="18" charset="0"/>
                            <a:sym typeface="Microsoft YaHei" panose="020B0503020204020204" pitchFamily="34" charset="-122"/>
                          </a:rPr>
                          <m:t>𝑗</m:t>
                        </m:r>
                      </m:sub>
                    </m:sSub>
                    <m:rad>
                      <m:radPr>
                        <m:degHide m:val="on"/>
                        <m:ctrlPr>
                          <a:rPr lang="en-US" sz="1200" i="1">
                            <a:latin typeface="Cambria Math" panose="02040503050406030204" pitchFamily="18" charset="0"/>
                            <a:sym typeface="Microsoft YaHei" panose="020B0503020204020204" pitchFamily="34" charset="-122"/>
                          </a:rPr>
                        </m:ctrlPr>
                      </m:radPr>
                      <m:deg/>
                      <m:e>
                        <m:sSub>
                          <m:sSubPr>
                            <m:ctrlPr>
                              <a:rPr lang="en-US" sz="1200" i="1">
                                <a:latin typeface="Cambria Math" panose="02040503050406030204" pitchFamily="18" charset="0"/>
                                <a:sym typeface="Microsoft YaHei" panose="020B0503020204020204" pitchFamily="34" charset="-122"/>
                              </a:rPr>
                            </m:ctrlPr>
                          </m:sSubPr>
                          <m:e>
                            <m:r>
                              <a:rPr lang="en-US" sz="1200" b="0" i="1" smtClean="0">
                                <a:latin typeface="Cambria Math" panose="02040503050406030204" pitchFamily="18" charset="0"/>
                                <a:sym typeface="Microsoft YaHei" panose="020B0503020204020204" pitchFamily="34" charset="-122"/>
                              </a:rPr>
                              <m:t>𝐶</m:t>
                            </m:r>
                            <m:r>
                              <a:rPr lang="en-US" sz="1200" i="1">
                                <a:latin typeface="Cambria Math" panose="02040503050406030204" pitchFamily="18" charset="0"/>
                                <a:sym typeface="Microsoft YaHei" panose="020B0503020204020204" pitchFamily="34" charset="-122"/>
                              </a:rPr>
                              <m:t>𝑇</m:t>
                            </m:r>
                          </m:e>
                          <m:sub>
                            <m:r>
                              <a:rPr lang="en-US" sz="1200" b="0" i="1" smtClean="0">
                                <a:latin typeface="Cambria Math" panose="02040503050406030204" pitchFamily="18" charset="0"/>
                                <a:sym typeface="Microsoft YaHei" panose="020B0503020204020204" pitchFamily="34" charset="-122"/>
                              </a:rPr>
                              <m:t>𝑗</m:t>
                            </m:r>
                          </m:sub>
                        </m:sSub>
                      </m:e>
                    </m:rad>
                  </m:oMath>
                </a14:m>
                <a:endPar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sym typeface="Microsoft YaHei" panose="020B0503020204020204" pitchFamily="34" charset="-122"/>
                          </a:rPr>
                        </m:ctrlPr>
                      </m:sSubPr>
                      <m:e>
                        <m:r>
                          <a:rPr lang="en-US" sz="1200" i="1">
                            <a:latin typeface="Cambria Math" panose="02040503050406030204" pitchFamily="18" charset="0"/>
                            <a:sym typeface="Microsoft YaHei" panose="020B0503020204020204" pitchFamily="34" charset="-122"/>
                          </a:rPr>
                          <m:t>𝜇</m:t>
                        </m:r>
                      </m:e>
                      <m:sub>
                        <m:r>
                          <a:rPr lang="en-US" sz="1200" i="1">
                            <a:latin typeface="Cambria Math" panose="02040503050406030204" pitchFamily="18" charset="0"/>
                            <a:sym typeface="Microsoft YaHei" panose="020B0503020204020204" pitchFamily="34" charset="-122"/>
                          </a:rPr>
                          <m:t>𝑗</m:t>
                        </m:r>
                      </m:sub>
                    </m:sSub>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需求</a:t>
                </a:r>
                <a14:m>
                  <m:oMath xmlns:m="http://schemas.openxmlformats.org/officeDocument/2006/math">
                    <m:r>
                      <a:rPr lang="zh-CN" altLang="en-US" sz="1200" i="1" dirty="0">
                        <a:latin typeface="Cambria Math" panose="02040503050406030204" pitchFamily="18" charset="0"/>
                        <a:sym typeface="Microsoft YaHei" panose="020B0503020204020204" pitchFamily="34" charset="-122"/>
                      </a:rPr>
                      <m:t>均值</m:t>
                    </m:r>
                  </m:oMath>
                </a14:m>
                <a:endParaRPr lang="en-US" altLang="zh-CN" sz="1200" i="1" dirty="0">
                  <a:latin typeface="Cambria Math" panose="02040503050406030204" pitchFamily="18"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sym typeface="Microsoft YaHei" panose="020B0503020204020204" pitchFamily="34" charset="-122"/>
                          </a:rPr>
                        </m:ctrlPr>
                      </m:sSubPr>
                      <m:e>
                        <m:r>
                          <a:rPr lang="en-US" sz="1200" i="1">
                            <a:latin typeface="Cambria Math" panose="02040503050406030204" pitchFamily="18" charset="0"/>
                            <a:sym typeface="Microsoft YaHei" panose="020B0503020204020204" pitchFamily="34" charset="-122"/>
                          </a:rPr>
                          <m:t>𝐿</m:t>
                        </m:r>
                      </m:e>
                      <m:sub>
                        <m:r>
                          <a:rPr lang="en-US" sz="1200" i="1">
                            <a:latin typeface="Cambria Math" panose="02040503050406030204" pitchFamily="18" charset="0"/>
                            <a:sym typeface="Microsoft YaHei" panose="020B0503020204020204" pitchFamily="34" charset="-122"/>
                          </a:rPr>
                          <m:t>𝑗</m:t>
                        </m:r>
                      </m:sub>
                    </m:sSub>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提前期</a:t>
                </a:r>
                <a:endPar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sym typeface="Microsoft YaHei" panose="020B0503020204020204" pitchFamily="34" charset="-122"/>
                          </a:rPr>
                        </m:ctrlPr>
                      </m:sSubPr>
                      <m:e>
                        <m:r>
                          <a:rPr lang="en-US" sz="1200" i="1">
                            <a:latin typeface="Cambria Math" panose="02040503050406030204" pitchFamily="18" charset="0"/>
                            <a:sym typeface="Microsoft YaHei" panose="020B0503020204020204" pitchFamily="34" charset="-122"/>
                          </a:rPr>
                          <m:t>𝑠𝑙𝑎</m:t>
                        </m:r>
                      </m:e>
                      <m:sub>
                        <m:r>
                          <a:rPr lang="en-US" sz="1200" i="1">
                            <a:latin typeface="Cambria Math" panose="02040503050406030204" pitchFamily="18" charset="0"/>
                            <a:sym typeface="Microsoft YaHei" panose="020B0503020204020204" pitchFamily="34" charset="-122"/>
                          </a:rPr>
                          <m:t>𝑗</m:t>
                        </m:r>
                      </m:sub>
                    </m:sSub>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服务</a:t>
                </a:r>
                <a14:m>
                  <m:oMath xmlns:m="http://schemas.openxmlformats.org/officeDocument/2006/math">
                    <m:r>
                      <a:rPr lang="zh-CN" altLang="en-US" sz="1200" i="1" dirty="0">
                        <a:latin typeface="Cambria Math" panose="02040503050406030204" pitchFamily="18" charset="0"/>
                        <a:sym typeface="Microsoft YaHei" panose="020B0503020204020204" pitchFamily="34" charset="-122"/>
                      </a:rPr>
                      <m:t>级别</m:t>
                    </m:r>
                    <m:r>
                      <a:rPr lang="zh-CN" altLang="en-US" sz="1200" i="1" dirty="0" smtClean="0">
                        <a:latin typeface="Cambria Math" panose="02040503050406030204" pitchFamily="18" charset="0"/>
                        <a:sym typeface="Microsoft YaHei" panose="020B0503020204020204" pitchFamily="34" charset="-122"/>
                      </a:rPr>
                      <m:t>协议</m:t>
                    </m:r>
                  </m:oMath>
                </a14:m>
                <a:endParaRPr lang="en-US" altLang="zh-CN" sz="1200" i="1" dirty="0">
                  <a:latin typeface="Cambria Math" panose="02040503050406030204" pitchFamily="18" charset="0"/>
                  <a:sym typeface="Microsoft YaHei" panose="020B0503020204020204" pitchFamily="34" charset="-122"/>
                </a:endParaRPr>
              </a:p>
              <a:p>
                <a:pPr marL="285750" indent="-285750">
                  <a:lnSpc>
                    <a:spcPct val="150000"/>
                  </a:lnSpc>
                  <a:buFont typeface="Arial" panose="020B0604020202020204" pitchFamily="34" charset="0"/>
                  <a:buChar char="•"/>
                </a:pPr>
                <a14:m>
                  <m:oMath xmlns:m="http://schemas.openxmlformats.org/officeDocument/2006/math">
                    <m:sSub>
                      <m:sSubPr>
                        <m:ctrlPr>
                          <a:rPr lang="en-US" sz="1200" i="1">
                            <a:latin typeface="Cambria Math" panose="02040503050406030204" pitchFamily="18" charset="0"/>
                            <a:sym typeface="Microsoft YaHei" panose="020B0503020204020204" pitchFamily="34" charset="-122"/>
                          </a:rPr>
                        </m:ctrlPr>
                      </m:sSubPr>
                      <m:e>
                        <m:r>
                          <a:rPr lang="en-US" sz="1200" b="0" i="1" smtClean="0">
                            <a:latin typeface="Cambria Math" panose="02040503050406030204" pitchFamily="18" charset="0"/>
                            <a:sym typeface="Microsoft YaHei" panose="020B0503020204020204" pitchFamily="34" charset="-122"/>
                          </a:rPr>
                          <m:t>h</m:t>
                        </m:r>
                      </m:e>
                      <m:sub>
                        <m:r>
                          <a:rPr lang="en-US" sz="1200" i="1">
                            <a:latin typeface="Cambria Math" panose="02040503050406030204" pitchFamily="18" charset="0"/>
                            <a:sym typeface="Microsoft YaHei" panose="020B0503020204020204" pitchFamily="34" charset="-122"/>
                          </a:rPr>
                          <m:t>𝑗</m:t>
                        </m:r>
                      </m:sub>
                    </m:sSub>
                  </m:oMath>
                </a14:m>
                <a:r>
                  <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单位持货成本</a:t>
                </a:r>
                <a:endParaRPr lang="en-US" sz="12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mc:Choice>
        <mc:Fallback xmlns="">
          <p:sp>
            <p:nvSpPr>
              <p:cNvPr id="16" name="TextBox 15">
                <a:extLst>
                  <a:ext uri="{FF2B5EF4-FFF2-40B4-BE49-F238E27FC236}">
                    <a16:creationId xmlns:a16="http://schemas.microsoft.com/office/drawing/2014/main" id="{D9DF6521-A9CE-ED48-AC34-53BC055DD332}"/>
                  </a:ext>
                </a:extLst>
              </p:cNvPr>
              <p:cNvSpPr txBox="1">
                <a:spLocks noRot="1" noChangeAspect="1" noMove="1" noResize="1" noEditPoints="1" noAdjustHandles="1" noChangeArrowheads="1" noChangeShapeType="1" noTextEdit="1"/>
              </p:cNvSpPr>
              <p:nvPr/>
            </p:nvSpPr>
            <p:spPr>
              <a:xfrm>
                <a:off x="8425649" y="1402569"/>
                <a:ext cx="3836545" cy="3007426"/>
              </a:xfrm>
              <a:prstGeom prst="rect">
                <a:avLst/>
              </a:prstGeom>
              <a:blipFill>
                <a:blip r:embed="rId4"/>
                <a:stretch>
                  <a:fillRect b="-203"/>
                </a:stretch>
              </a:blipFill>
            </p:spPr>
            <p:txBody>
              <a:bodyPr/>
              <a:lstStyle/>
              <a:p>
                <a:r>
                  <a:rPr lang="en-US">
                    <a:noFill/>
                  </a:rPr>
                  <a:t> </a:t>
                </a:r>
              </a:p>
            </p:txBody>
          </p:sp>
        </mc:Fallback>
      </mc:AlternateContent>
    </p:spTree>
    <p:extLst>
      <p:ext uri="{BB962C8B-B14F-4D97-AF65-F5344CB8AC3E}">
        <p14:creationId xmlns:p14="http://schemas.microsoft.com/office/powerpoint/2010/main" val="2811790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9F342B-3C59-4918-ADAA-A61B55520939}"/>
              </a:ext>
            </a:extLst>
          </p:cNvPr>
          <p:cNvSpPr>
            <a:spLocks noGrp="1"/>
          </p:cNvSpPr>
          <p:nvPr>
            <p:ph type="title"/>
          </p:nvPr>
        </p:nvSpPr>
        <p:spPr/>
        <p:txBody>
          <a:bodyPr vert="horz" wrap="square" lIns="91440" tIns="45720" rIns="91440" bIns="45720" rtlCol="0"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rPr>
              <a:t>需求预测</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endParaRPr>
          </a:p>
        </p:txBody>
      </p:sp>
      <p:sp>
        <p:nvSpPr>
          <p:cNvPr id="3" name="文本框 2">
            <a:extLst>
              <a:ext uri="{FF2B5EF4-FFF2-40B4-BE49-F238E27FC236}">
                <a16:creationId xmlns:a16="http://schemas.microsoft.com/office/drawing/2014/main" id="{E9289390-D58F-4935-B4B9-39B7751903CD}"/>
              </a:ext>
            </a:extLst>
          </p:cNvPr>
          <p:cNvSpPr txBox="1"/>
          <p:nvPr/>
        </p:nvSpPr>
        <p:spPr>
          <a:xfrm>
            <a:off x="369114" y="1518407"/>
            <a:ext cx="4966283" cy="369331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将产品根据产品族，产品类型等信息汇聚成不同的群组</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利用历史数据得到训练样本。利用训练样本基于</a:t>
            </a:r>
            <a:r>
              <a:rPr lang="zh-CN" altLang="en-US" dirty="0">
                <a:solidFill>
                  <a:srgbClr val="852432"/>
                </a:solidFill>
              </a:rPr>
              <a:t>随机森林中位数回归</a:t>
            </a:r>
            <a:r>
              <a:rPr lang="zh-CN" altLang="en-US" dirty="0"/>
              <a:t>算法学习预测模型</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将预测的信息转化为库存模块需要的格式，输出给库存模块</a:t>
            </a:r>
            <a:endParaRPr lang="en-US" altLang="zh-CN"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zh-CN" altLang="en-US" dirty="0"/>
              <a:t>相比业务人员预测提升</a:t>
            </a:r>
            <a:r>
              <a:rPr lang="en-US" altLang="zh-CN" dirty="0">
                <a:solidFill>
                  <a:srgbClr val="852432"/>
                </a:solidFill>
              </a:rPr>
              <a:t>10</a:t>
            </a:r>
            <a:r>
              <a:rPr lang="zh-CN" altLang="en-US" dirty="0">
                <a:solidFill>
                  <a:srgbClr val="852432"/>
                </a:solidFill>
              </a:rPr>
              <a:t>到</a:t>
            </a:r>
            <a:r>
              <a:rPr lang="en-US" altLang="zh-CN" dirty="0">
                <a:solidFill>
                  <a:srgbClr val="852432"/>
                </a:solidFill>
              </a:rPr>
              <a:t>15</a:t>
            </a:r>
            <a:r>
              <a:rPr lang="zh-CN" altLang="en-US" dirty="0">
                <a:solidFill>
                  <a:srgbClr val="852432"/>
                </a:solidFill>
              </a:rPr>
              <a:t>个</a:t>
            </a:r>
            <a:r>
              <a:rPr lang="zh-CN" altLang="en-US" dirty="0"/>
              <a:t>百分点</a:t>
            </a:r>
            <a:endParaRPr lang="en-US" dirty="0"/>
          </a:p>
          <a:p>
            <a:pPr marL="285750" indent="-285750">
              <a:buFont typeface="Arial" panose="020B0604020202020204" pitchFamily="34" charset="0"/>
              <a:buChar char="•"/>
            </a:pPr>
            <a:endParaRPr lang="en-US" dirty="0"/>
          </a:p>
        </p:txBody>
      </p:sp>
      <p:pic>
        <p:nvPicPr>
          <p:cNvPr id="4" name="图片 3">
            <a:extLst>
              <a:ext uri="{FF2B5EF4-FFF2-40B4-BE49-F238E27FC236}">
                <a16:creationId xmlns:a16="http://schemas.microsoft.com/office/drawing/2014/main" id="{51182139-C348-458B-8840-E1E717BE22B3}"/>
              </a:ext>
            </a:extLst>
          </p:cNvPr>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50157" y="1116330"/>
            <a:ext cx="6272728" cy="4831464"/>
          </a:xfrm>
          <a:prstGeom prst="rect">
            <a:avLst/>
          </a:prstGeom>
          <a:noFill/>
          <a:ln>
            <a:noFill/>
          </a:ln>
        </p:spPr>
      </p:pic>
    </p:spTree>
    <p:extLst>
      <p:ext uri="{BB962C8B-B14F-4D97-AF65-F5344CB8AC3E}">
        <p14:creationId xmlns:p14="http://schemas.microsoft.com/office/powerpoint/2010/main" val="1751413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5C22C-044A-4DAE-B35D-82AEFFBC5E9E}"/>
              </a:ext>
            </a:extLst>
          </p:cNvPr>
          <p:cNvSpPr>
            <a:spLocks noGrp="1"/>
          </p:cNvSpPr>
          <p:nvPr>
            <p:ph type="title"/>
          </p:nvPr>
        </p:nvSpPr>
        <p:spPr/>
        <p:txBody>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需求波动上界函数的设置</a:t>
            </a:r>
            <a:endParaRPr lang="en-US" sz="2000" dirty="0"/>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03EBD5AF-79D6-44C9-9046-45F9A70AF528}"/>
                  </a:ext>
                </a:extLst>
              </p:cNvPr>
              <p:cNvSpPr/>
              <p:nvPr/>
            </p:nvSpPr>
            <p:spPr>
              <a:xfrm>
                <a:off x="562855" y="975228"/>
                <a:ext cx="11447358" cy="428604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rPr>
                  <a:t>文献方法：</a:t>
                </a:r>
                <a:r>
                  <a:rPr lang="zh-CN" altLang="en-US" dirty="0">
                    <a:latin typeface="Microsoft YaHei" panose="020B0503020204020204" pitchFamily="34" charset="-122"/>
                    <a:ea typeface="微软雅黑" panose="020B0503020204020204" pitchFamily="34" charset="-122"/>
                    <a:sym typeface="Microsoft YaHei" panose="020B0503020204020204" pitchFamily="34" charset="-122"/>
                  </a:rPr>
                  <a:t>假设每个单位时间需求服从独立的正态分布。通过类似单级安全库存方法构造需求上界函数</a:t>
                </a: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15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sym typeface="Microsoft YaHei" panose="020B0503020204020204" pitchFamily="34" charset="-122"/>
                  </a:rPr>
                  <a:t>例如</a:t>
                </a:r>
                <a:r>
                  <a:rPr lang="en-US" dirty="0">
                    <a:latin typeface="Microsoft YaHei" panose="020B0503020204020204" pitchFamily="34" charset="-122"/>
                    <a:ea typeface="微软雅黑" panose="020B0503020204020204" pitchFamily="34" charset="-122"/>
                    <a:sym typeface="Microsoft YaHei" panose="020B0503020204020204" pitchFamily="34" charset="-122"/>
                  </a:rPr>
                  <a:t>Graves and Willems (2000)</a:t>
                </a:r>
                <a:r>
                  <a:rPr lang="zh-CN" altLang="en-US" dirty="0">
                    <a:latin typeface="Microsoft YaHei" panose="020B0503020204020204" pitchFamily="34" charset="-122"/>
                    <a:ea typeface="微软雅黑" panose="020B0503020204020204" pitchFamily="34" charset="-122"/>
                    <a:sym typeface="Microsoft YaHei" panose="020B0503020204020204" pitchFamily="34" charset="-122"/>
                  </a:rPr>
                  <a:t>中将有外部需求的节点的需求上界设定为如下形式：</a:t>
                </a: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lvl="1">
                  <a:lnSpc>
                    <a:spcPct val="150000"/>
                  </a:lnSpc>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𝐷</m:t>
                          </m:r>
                        </m:e>
                        <m:sub>
                          <m:r>
                            <a:rPr lang="en-US" i="1">
                              <a:latin typeface="Cambria Math" panose="02040503050406030204" pitchFamily="18" charset="0"/>
                              <a:sym typeface="Microsoft YaHei" panose="020B0503020204020204" pitchFamily="34" charset="-122"/>
                            </a:rPr>
                            <m:t>𝑖</m:t>
                          </m:r>
                        </m:sub>
                      </m:sSub>
                      <m:d>
                        <m:dPr>
                          <m:ctrlPr>
                            <a:rPr lang="en-US" i="1">
                              <a:latin typeface="Cambria Math" panose="02040503050406030204" pitchFamily="18" charset="0"/>
                              <a:sym typeface="Microsoft YaHei" panose="020B0503020204020204" pitchFamily="34" charset="-122"/>
                            </a:rPr>
                          </m:ctrlPr>
                        </m:dPr>
                        <m:e>
                          <m:sSub>
                            <m:sSubPr>
                              <m:ctrlPr>
                                <a:rPr lang="en-US" i="1">
                                  <a:latin typeface="Cambria Math" panose="02040503050406030204" pitchFamily="18" charset="0"/>
                                  <a:sym typeface="Microsoft YaHei" panose="020B0503020204020204" pitchFamily="34" charset="-122"/>
                                </a:rPr>
                              </m:ctrlPr>
                            </m:sSubPr>
                            <m:e>
                              <m:r>
                                <a:rPr lang="en-US" b="0" i="1" smtClean="0">
                                  <a:latin typeface="Cambria Math" panose="02040503050406030204" pitchFamily="18" charset="0"/>
                                  <a:sym typeface="Microsoft YaHei" panose="020B0503020204020204" pitchFamily="34" charset="-122"/>
                                </a:rPr>
                                <m:t>𝐶</m:t>
                              </m:r>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𝑖</m:t>
                              </m:r>
                            </m:sub>
                          </m:sSub>
                        </m:e>
                      </m:d>
                      <m:r>
                        <a:rPr lang="en-US" i="1">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b="0" i="1" smtClean="0">
                              <a:latin typeface="Cambria Math" panose="02040503050406030204" pitchFamily="18" charset="0"/>
                              <a:sym typeface="Microsoft YaHei" panose="020B0503020204020204" pitchFamily="34" charset="-122"/>
                            </a:rPr>
                            <m:t>𝐶</m:t>
                          </m:r>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𝑖</m:t>
                          </m:r>
                        </m:sub>
                      </m:sSub>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𝜇</m:t>
                          </m:r>
                        </m:e>
                        <m:sub>
                          <m:r>
                            <a:rPr lang="en-US" i="1">
                              <a:latin typeface="Cambria Math" panose="02040503050406030204" pitchFamily="18" charset="0"/>
                              <a:sym typeface="Microsoft YaHei" panose="020B0503020204020204" pitchFamily="34" charset="-122"/>
                            </a:rPr>
                            <m:t>𝑖</m:t>
                          </m:r>
                        </m:sub>
                      </m:sSub>
                      <m:r>
                        <a:rPr lang="en-US" i="1">
                          <a:latin typeface="Cambria Math" panose="02040503050406030204" pitchFamily="18" charset="0"/>
                          <a:sym typeface="Microsoft YaHei" panose="020B0503020204020204" pitchFamily="34" charset="-122"/>
                        </a:rPr>
                        <m:t>+</m:t>
                      </m:r>
                      <m:sSup>
                        <m:sSupPr>
                          <m:ctrlPr>
                            <a:rPr lang="en-US" i="1">
                              <a:latin typeface="Cambria Math" panose="02040503050406030204" pitchFamily="18" charset="0"/>
                              <a:sym typeface="Microsoft YaHei" panose="020B0503020204020204" pitchFamily="34" charset="-122"/>
                            </a:rPr>
                          </m:ctrlPr>
                        </m:sSupPr>
                        <m:e>
                          <m:r>
                            <a:rPr lang="en-US" b="0" i="1" smtClean="0">
                              <a:latin typeface="Cambria Math" panose="02040503050406030204" pitchFamily="18" charset="0"/>
                              <a:sym typeface="Microsoft YaHei" panose="020B0503020204020204" pitchFamily="34" charset="-122"/>
                            </a:rPr>
                            <m:t>𝐹</m:t>
                          </m:r>
                        </m:e>
                        <m:sup>
                          <m:r>
                            <a:rPr lang="en-US" i="1">
                              <a:latin typeface="Cambria Math" panose="02040503050406030204" pitchFamily="18" charset="0"/>
                              <a:sym typeface="Microsoft YaHei" panose="020B0503020204020204" pitchFamily="34" charset="-122"/>
                            </a:rPr>
                            <m:t>−1</m:t>
                          </m:r>
                        </m:sup>
                      </m:sSup>
                      <m:d>
                        <m:dPr>
                          <m:ctrlPr>
                            <a:rPr lang="en-US" i="1">
                              <a:latin typeface="Cambria Math" panose="02040503050406030204" pitchFamily="18" charset="0"/>
                              <a:sym typeface="Microsoft YaHei" panose="020B0503020204020204" pitchFamily="34" charset="-122"/>
                            </a:rPr>
                          </m:ctrlPr>
                        </m:dPr>
                        <m:e>
                          <m:r>
                            <a:rPr lang="en-US" b="0" i="1" smtClean="0">
                              <a:latin typeface="Cambria Math" panose="02040503050406030204" pitchFamily="18" charset="0"/>
                              <a:sym typeface="Microsoft YaHei" panose="020B0503020204020204" pitchFamily="34" charset="-122"/>
                            </a:rPr>
                            <m:t>𝐶𝑆𝐿</m:t>
                          </m:r>
                        </m:e>
                      </m:d>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𝜎</m:t>
                          </m:r>
                        </m:e>
                        <m:sub>
                          <m:r>
                            <a:rPr lang="en-US" i="1">
                              <a:latin typeface="Cambria Math" panose="02040503050406030204" pitchFamily="18" charset="0"/>
                              <a:sym typeface="Microsoft YaHei" panose="020B0503020204020204" pitchFamily="34" charset="-122"/>
                            </a:rPr>
                            <m:t>𝑖</m:t>
                          </m:r>
                        </m:sub>
                      </m:sSub>
                      <m:rad>
                        <m:radPr>
                          <m:degHide m:val="on"/>
                          <m:ctrlPr>
                            <a:rPr lang="en-US" i="1">
                              <a:latin typeface="Cambria Math" panose="02040503050406030204" pitchFamily="18" charset="0"/>
                              <a:sym typeface="Microsoft YaHei" panose="020B0503020204020204" pitchFamily="34" charset="-122"/>
                            </a:rPr>
                          </m:ctrlPr>
                        </m:radPr>
                        <m:deg/>
                        <m:e>
                          <m:sSub>
                            <m:sSubPr>
                              <m:ctrlPr>
                                <a:rPr lang="en-US" i="1">
                                  <a:latin typeface="Cambria Math" panose="02040503050406030204" pitchFamily="18" charset="0"/>
                                  <a:sym typeface="Microsoft YaHei" panose="020B0503020204020204" pitchFamily="34" charset="-122"/>
                                </a:rPr>
                              </m:ctrlPr>
                            </m:sSubPr>
                            <m:e>
                              <m:r>
                                <a:rPr lang="en-US" b="0" i="1" smtClean="0">
                                  <a:latin typeface="Cambria Math" panose="02040503050406030204" pitchFamily="18" charset="0"/>
                                  <a:sym typeface="Microsoft YaHei" panose="020B0503020204020204" pitchFamily="34" charset="-122"/>
                                </a:rPr>
                                <m:t>𝐶</m:t>
                              </m:r>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𝑖</m:t>
                              </m:r>
                            </m:sub>
                          </m:sSub>
                        </m:e>
                      </m:rad>
                    </m:oMath>
                  </m:oMathPara>
                </a14:m>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15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sym typeface="Microsoft YaHei" panose="020B0503020204020204" pitchFamily="34" charset="-122"/>
                  </a:rPr>
                  <a:t>上游节点的需求上界函数可以通过下游节点的需求推导得到：</a:t>
                </a: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15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a:lnSpc>
                    <a:spcPct val="150000"/>
                  </a:lnSpc>
                </a:pP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15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15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15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a:p>
                <a:pPr marL="285750" indent="-285750">
                  <a:lnSpc>
                    <a:spcPct val="15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sym typeface="Microsoft YaHei" panose="020B0503020204020204" pitchFamily="34" charset="-122"/>
                  </a:rPr>
                  <a:t>由于该方法不能考虑多维度的特征，实践中我们分三步构造：</a:t>
                </a:r>
                <a:endParaRPr lang="en-US" altLang="zh-CN" dirty="0">
                  <a:latin typeface="Microsoft YaHei" panose="020B0503020204020204" pitchFamily="34" charset="-122"/>
                  <a:ea typeface="微软雅黑" panose="020B0503020204020204" pitchFamily="34" charset="-122"/>
                  <a:sym typeface="Microsoft YaHei" panose="020B0503020204020204" pitchFamily="34" charset="-122"/>
                </a:endParaRPr>
              </a:p>
            </p:txBody>
          </p:sp>
        </mc:Choice>
        <mc:Fallback xmlns="">
          <p:sp>
            <p:nvSpPr>
              <p:cNvPr id="3" name="Rectangle 3">
                <a:extLst>
                  <a:ext uri="{FF2B5EF4-FFF2-40B4-BE49-F238E27FC236}">
                    <a16:creationId xmlns:a16="http://schemas.microsoft.com/office/drawing/2014/main" id="{03EBD5AF-79D6-44C9-9046-45F9A70AF528}"/>
                  </a:ext>
                </a:extLst>
              </p:cNvPr>
              <p:cNvSpPr>
                <a:spLocks noRot="1" noChangeAspect="1" noMove="1" noResize="1" noEditPoints="1" noAdjustHandles="1" noChangeArrowheads="1" noChangeShapeType="1" noTextEdit="1"/>
              </p:cNvSpPr>
              <p:nvPr/>
            </p:nvSpPr>
            <p:spPr>
              <a:xfrm>
                <a:off x="562855" y="975228"/>
                <a:ext cx="11447358" cy="4286045"/>
              </a:xfrm>
              <a:prstGeom prst="rect">
                <a:avLst/>
              </a:prstGeom>
              <a:blipFill>
                <a:blip r:embed="rId2"/>
                <a:stretch>
                  <a:fillRect l="-319" b="-12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4">
                <a:extLst>
                  <a:ext uri="{FF2B5EF4-FFF2-40B4-BE49-F238E27FC236}">
                    <a16:creationId xmlns:a16="http://schemas.microsoft.com/office/drawing/2014/main" id="{D6DDA9E1-9FF5-40B5-B146-BAB0E4D6FEA3}"/>
                  </a:ext>
                </a:extLst>
              </p:cNvPr>
              <p:cNvSpPr/>
              <p:nvPr/>
            </p:nvSpPr>
            <p:spPr>
              <a:xfrm>
                <a:off x="3090776" y="2804624"/>
                <a:ext cx="4917949" cy="17688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i="1">
                              <a:latin typeface="Cambria Math" panose="02040503050406030204" pitchFamily="18" charset="0"/>
                              <a:sym typeface="Microsoft YaHei" panose="020B0503020204020204" pitchFamily="34" charset="-122"/>
                            </a:rPr>
                          </m:ctrlPr>
                        </m:mPr>
                        <m:mr>
                          <m:e>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𝑣</m:t>
                                </m:r>
                              </m:e>
                              <m:sub>
                                <m:r>
                                  <a:rPr lang="en-US" i="1">
                                    <a:latin typeface="Cambria Math" panose="02040503050406030204" pitchFamily="18" charset="0"/>
                                    <a:sym typeface="Microsoft YaHei" panose="020B0503020204020204" pitchFamily="34" charset="-122"/>
                                  </a:rPr>
                                  <m:t>𝑗</m:t>
                                </m:r>
                              </m:sub>
                            </m:sSub>
                            <m:rad>
                              <m:radPr>
                                <m:ctrlPr>
                                  <a:rPr lang="en-US" i="1">
                                    <a:latin typeface="Cambria Math" panose="02040503050406030204" pitchFamily="18" charset="0"/>
                                    <a:sym typeface="Microsoft YaHei" panose="020B0503020204020204" pitchFamily="34" charset="-122"/>
                                  </a:rPr>
                                </m:ctrlPr>
                              </m:radPr>
                              <m:deg>
                                <m:r>
                                  <a:rPr lang="en-US" i="1">
                                    <a:latin typeface="Cambria Math" panose="02040503050406030204" pitchFamily="18" charset="0"/>
                                    <a:sym typeface="Microsoft YaHei" panose="020B0503020204020204" pitchFamily="34" charset="-122"/>
                                  </a:rPr>
                                  <m:t>𝑝</m:t>
                                </m:r>
                              </m:deg>
                              <m:e>
                                <m:r>
                                  <a:rPr lang="en-US" i="1">
                                    <a:latin typeface="Cambria Math" panose="02040503050406030204" pitchFamily="18" charset="0"/>
                                    <a:sym typeface="Microsoft YaHei" panose="020B0503020204020204" pitchFamily="34" charset="-122"/>
                                  </a:rPr>
                                  <m:t>𝐶𝑇</m:t>
                                </m:r>
                              </m:e>
                            </m:rad>
                          </m:e>
                          <m:e>
                            <m:r>
                              <a:rPr lang="en-US" i="1">
                                <a:latin typeface="Cambria Math" panose="02040503050406030204" pitchFamily="18" charset="0"/>
                                <a:sym typeface="Microsoft YaHei" panose="020B0503020204020204" pitchFamily="34" charset="-122"/>
                              </a:rPr>
                              <m:t>=</m:t>
                            </m:r>
                            <m:rad>
                              <m:radPr>
                                <m:ctrlPr>
                                  <a:rPr lang="en-US" i="1">
                                    <a:latin typeface="Cambria Math" panose="02040503050406030204" pitchFamily="18" charset="0"/>
                                    <a:sym typeface="Microsoft YaHei" panose="020B0503020204020204" pitchFamily="34" charset="-122"/>
                                  </a:rPr>
                                </m:ctrlPr>
                              </m:radPr>
                              <m:deg>
                                <m:r>
                                  <a:rPr lang="en-US" i="1">
                                    <a:latin typeface="Cambria Math" panose="02040503050406030204" pitchFamily="18" charset="0"/>
                                    <a:sym typeface="Microsoft YaHei" panose="020B0503020204020204" pitchFamily="34" charset="-122"/>
                                  </a:rPr>
                                  <m:t>𝑝</m:t>
                                </m:r>
                              </m:deg>
                              <m:e>
                                <m:r>
                                  <a:rPr lang="en-US" i="1">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𝑣</m:t>
                                    </m:r>
                                  </m:e>
                                  <m:sub>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𝑗</m:t>
                                        </m:r>
                                      </m:e>
                                      <m:sub>
                                        <m:r>
                                          <a:rPr lang="en-US" i="1">
                                            <a:latin typeface="Cambria Math" panose="02040503050406030204" pitchFamily="18" charset="0"/>
                                            <a:sym typeface="Microsoft YaHei" panose="020B0503020204020204" pitchFamily="34" charset="-122"/>
                                          </a:rPr>
                                          <m:t>0</m:t>
                                        </m:r>
                                      </m:sub>
                                    </m:sSub>
                                  </m:sub>
                                </m:sSub>
                                <m:rad>
                                  <m:radPr>
                                    <m:ctrlPr>
                                      <a:rPr lang="en-US" i="1">
                                        <a:latin typeface="Cambria Math" panose="02040503050406030204" pitchFamily="18" charset="0"/>
                                        <a:sym typeface="Microsoft YaHei" panose="020B0503020204020204" pitchFamily="34" charset="-122"/>
                                      </a:rPr>
                                    </m:ctrlPr>
                                  </m:radPr>
                                  <m:deg>
                                    <m:r>
                                      <a:rPr lang="en-US" i="1">
                                        <a:latin typeface="Cambria Math" panose="02040503050406030204" pitchFamily="18" charset="0"/>
                                        <a:sym typeface="Microsoft YaHei" panose="020B0503020204020204" pitchFamily="34" charset="-122"/>
                                      </a:rPr>
                                      <m:t>𝑝</m:t>
                                    </m:r>
                                  </m:deg>
                                  <m:e>
                                    <m:r>
                                      <a:rPr lang="en-US" i="1">
                                        <a:latin typeface="Cambria Math" panose="02040503050406030204" pitchFamily="18" charset="0"/>
                                        <a:sym typeface="Microsoft YaHei" panose="020B0503020204020204" pitchFamily="34" charset="-122"/>
                                      </a:rPr>
                                      <m:t>𝐶𝑇</m:t>
                                    </m:r>
                                  </m:e>
                                </m:rad>
                                <m:sSup>
                                  <m:sSupPr>
                                    <m:ctrlPr>
                                      <a:rPr lang="en-US" i="1">
                                        <a:latin typeface="Cambria Math" panose="02040503050406030204" pitchFamily="18" charset="0"/>
                                        <a:sym typeface="Microsoft YaHei" panose="020B0503020204020204" pitchFamily="34" charset="-122"/>
                                      </a:rPr>
                                    </m:ctrlPr>
                                  </m:sSupPr>
                                  <m:e>
                                    <m:r>
                                      <a:rPr lang="en-US" i="1">
                                        <a:latin typeface="Cambria Math" panose="02040503050406030204" pitchFamily="18" charset="0"/>
                                        <a:sym typeface="Microsoft YaHei" panose="020B0503020204020204" pitchFamily="34" charset="-122"/>
                                      </a:rPr>
                                      <m:t>)</m:t>
                                    </m:r>
                                  </m:e>
                                  <m:sup>
                                    <m:r>
                                      <a:rPr lang="en-US" i="1">
                                        <a:latin typeface="Cambria Math" panose="02040503050406030204" pitchFamily="18" charset="0"/>
                                        <a:sym typeface="Microsoft YaHei" panose="020B0503020204020204" pitchFamily="34" charset="-122"/>
                                      </a:rPr>
                                      <m:t>𝑝</m:t>
                                    </m:r>
                                  </m:sup>
                                </m:sSup>
                                <m:r>
                                  <a:rPr lang="en-US" i="1">
                                    <a:latin typeface="Cambria Math" panose="02040503050406030204" pitchFamily="18" charset="0"/>
                                    <a:sym typeface="Microsoft YaHei" panose="020B0503020204020204" pitchFamily="34" charset="-122"/>
                                  </a:rPr>
                                  <m:t>+</m:t>
                                </m:r>
                                <m:nary>
                                  <m:naryPr>
                                    <m:chr m:val="∑"/>
                                    <m:limLoc m:val="undOvr"/>
                                    <m:ctrlPr>
                                      <a:rPr lang="en-US" i="1">
                                        <a:latin typeface="Cambria Math" panose="02040503050406030204" pitchFamily="18" charset="0"/>
                                        <a:sym typeface="Microsoft YaHei" panose="020B0503020204020204" pitchFamily="34" charset="-122"/>
                                      </a:rPr>
                                    </m:ctrlPr>
                                  </m:naryPr>
                                  <m:sub>
                                    <m:r>
                                      <a:rPr lang="en-US" i="1">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𝑖</m:t>
                                    </m:r>
                                    <m:r>
                                      <a:rPr lang="en-US" i="1">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𝑗</m:t>
                                    </m:r>
                                    <m:r>
                                      <a:rPr lang="en-US" i="1">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𝐴</m:t>
                                    </m:r>
                                  </m:sub>
                                  <m:sup>
                                    <m:r>
                                      <a:rPr lang="en-US" i="1">
                                        <a:latin typeface="Cambria Math" panose="02040503050406030204" pitchFamily="18" charset="0"/>
                                        <a:sym typeface="Microsoft YaHei" panose="020B0503020204020204" pitchFamily="34" charset="-122"/>
                                      </a:rPr>
                                      <m:t>​</m:t>
                                    </m:r>
                                  </m:sup>
                                  <m:e>
                                    <m:r>
                                      <a:rPr lang="en-US" i="1">
                                        <a:latin typeface="Cambria Math" panose="02040503050406030204" pitchFamily="18" charset="0"/>
                                        <a:sym typeface="Microsoft YaHei" panose="020B0503020204020204" pitchFamily="34" charset="-122"/>
                                      </a:rPr>
                                      <m:t>[</m:t>
                                    </m:r>
                                  </m:e>
                                </m:nary>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𝑞</m:t>
                                    </m:r>
                                  </m:e>
                                  <m:sub>
                                    <m:r>
                                      <a:rPr lang="en-US" i="1">
                                        <a:latin typeface="Cambria Math" panose="02040503050406030204" pitchFamily="18" charset="0"/>
                                        <a:sym typeface="Microsoft YaHei" panose="020B0503020204020204" pitchFamily="34" charset="-122"/>
                                      </a:rPr>
                                      <m:t>𝑖𝑗</m:t>
                                    </m:r>
                                  </m:sub>
                                </m:sSub>
                                <m:r>
                                  <a:rPr lang="en-US" i="1">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𝑣</m:t>
                                    </m:r>
                                  </m:e>
                                  <m:sub>
                                    <m:r>
                                      <a:rPr lang="en-US" i="1">
                                        <a:latin typeface="Cambria Math" panose="02040503050406030204" pitchFamily="18" charset="0"/>
                                        <a:sym typeface="Microsoft YaHei" panose="020B0503020204020204" pitchFamily="34" charset="-122"/>
                                      </a:rPr>
                                      <m:t>𝑖</m:t>
                                    </m:r>
                                  </m:sub>
                                </m:sSub>
                                <m:rad>
                                  <m:radPr>
                                    <m:ctrlPr>
                                      <a:rPr lang="en-US" i="1">
                                        <a:latin typeface="Cambria Math" panose="02040503050406030204" pitchFamily="18" charset="0"/>
                                        <a:sym typeface="Microsoft YaHei" panose="020B0503020204020204" pitchFamily="34" charset="-122"/>
                                      </a:rPr>
                                    </m:ctrlPr>
                                  </m:radPr>
                                  <m:deg>
                                    <m:r>
                                      <a:rPr lang="en-US" i="1">
                                        <a:latin typeface="Cambria Math" panose="02040503050406030204" pitchFamily="18" charset="0"/>
                                        <a:sym typeface="Microsoft YaHei" panose="020B0503020204020204" pitchFamily="34" charset="-122"/>
                                      </a:rPr>
                                      <m:t>𝑝</m:t>
                                    </m:r>
                                  </m:deg>
                                  <m:e>
                                    <m:r>
                                      <a:rPr lang="en-US" i="1">
                                        <a:latin typeface="Cambria Math" panose="02040503050406030204" pitchFamily="18" charset="0"/>
                                        <a:sym typeface="Microsoft YaHei" panose="020B0503020204020204" pitchFamily="34" charset="-122"/>
                                      </a:rPr>
                                      <m:t>𝐶𝑇</m:t>
                                    </m:r>
                                  </m:e>
                                </m:rad>
                                <m:r>
                                  <a:rPr lang="en-US" i="1">
                                    <a:latin typeface="Cambria Math" panose="02040503050406030204" pitchFamily="18" charset="0"/>
                                    <a:sym typeface="Microsoft YaHei" panose="020B0503020204020204" pitchFamily="34" charset="-122"/>
                                  </a:rPr>
                                  <m:t>)</m:t>
                                </m:r>
                                <m:sSup>
                                  <m:sSupPr>
                                    <m:ctrlPr>
                                      <a:rPr lang="en-US" i="1">
                                        <a:latin typeface="Cambria Math" panose="02040503050406030204" pitchFamily="18" charset="0"/>
                                        <a:sym typeface="Microsoft YaHei" panose="020B0503020204020204" pitchFamily="34" charset="-122"/>
                                      </a:rPr>
                                    </m:ctrlPr>
                                  </m:sSupPr>
                                  <m:e>
                                    <m:r>
                                      <a:rPr lang="en-US" i="1">
                                        <a:latin typeface="Cambria Math" panose="02040503050406030204" pitchFamily="18" charset="0"/>
                                        <a:sym typeface="Microsoft YaHei" panose="020B0503020204020204" pitchFamily="34" charset="-122"/>
                                      </a:rPr>
                                      <m:t>]</m:t>
                                    </m:r>
                                  </m:e>
                                  <m:sup>
                                    <m:r>
                                      <a:rPr lang="en-US" i="1">
                                        <a:latin typeface="Cambria Math" panose="02040503050406030204" pitchFamily="18" charset="0"/>
                                        <a:sym typeface="Microsoft YaHei" panose="020B0503020204020204" pitchFamily="34" charset="-122"/>
                                      </a:rPr>
                                      <m:t>𝑝</m:t>
                                    </m:r>
                                  </m:sup>
                                </m:sSup>
                              </m:e>
                            </m:rad>
                          </m:e>
                        </m:mr>
                        <m:mr>
                          <m:e/>
                          <m:e>
                            <m:r>
                              <a:rPr lang="en-US" i="1">
                                <a:latin typeface="Cambria Math" panose="02040503050406030204" pitchFamily="18" charset="0"/>
                                <a:sym typeface="Microsoft YaHei" panose="020B0503020204020204" pitchFamily="34" charset="-122"/>
                              </a:rPr>
                              <m:t>=</m:t>
                            </m:r>
                            <m:rad>
                              <m:radPr>
                                <m:ctrlPr>
                                  <a:rPr lang="en-US" i="1">
                                    <a:latin typeface="Cambria Math" panose="02040503050406030204" pitchFamily="18" charset="0"/>
                                    <a:sym typeface="Microsoft YaHei" panose="020B0503020204020204" pitchFamily="34" charset="-122"/>
                                  </a:rPr>
                                </m:ctrlPr>
                              </m:radPr>
                              <m:deg>
                                <m:r>
                                  <a:rPr lang="en-US" i="1">
                                    <a:latin typeface="Cambria Math" panose="02040503050406030204" pitchFamily="18" charset="0"/>
                                    <a:sym typeface="Microsoft YaHei" panose="020B0503020204020204" pitchFamily="34" charset="-122"/>
                                  </a:rPr>
                                  <m:t>𝑝</m:t>
                                </m:r>
                              </m:deg>
                              <m:e>
                                <m:r>
                                  <a:rPr lang="en-US" i="1">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𝑣</m:t>
                                    </m:r>
                                  </m:e>
                                  <m:sub>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𝑗</m:t>
                                        </m:r>
                                      </m:e>
                                      <m:sub>
                                        <m:r>
                                          <a:rPr lang="en-US" i="1">
                                            <a:latin typeface="Cambria Math" panose="02040503050406030204" pitchFamily="18" charset="0"/>
                                            <a:sym typeface="Microsoft YaHei" panose="020B0503020204020204" pitchFamily="34" charset="-122"/>
                                          </a:rPr>
                                          <m:t>0</m:t>
                                        </m:r>
                                      </m:sub>
                                    </m:sSub>
                                  </m:sub>
                                </m:sSub>
                                <m:sSup>
                                  <m:sSupPr>
                                    <m:ctrlPr>
                                      <a:rPr lang="en-US" i="1">
                                        <a:latin typeface="Cambria Math" panose="02040503050406030204" pitchFamily="18" charset="0"/>
                                        <a:sym typeface="Microsoft YaHei" panose="020B0503020204020204" pitchFamily="34" charset="-122"/>
                                      </a:rPr>
                                    </m:ctrlPr>
                                  </m:sSupPr>
                                  <m:e>
                                    <m:r>
                                      <a:rPr lang="en-US" i="1">
                                        <a:latin typeface="Cambria Math" panose="02040503050406030204" pitchFamily="18" charset="0"/>
                                        <a:sym typeface="Microsoft YaHei" panose="020B0503020204020204" pitchFamily="34" charset="-122"/>
                                      </a:rPr>
                                      <m:t>)</m:t>
                                    </m:r>
                                  </m:e>
                                  <m:sup>
                                    <m:r>
                                      <a:rPr lang="en-US" i="1">
                                        <a:latin typeface="Cambria Math" panose="02040503050406030204" pitchFamily="18" charset="0"/>
                                        <a:sym typeface="Microsoft YaHei" panose="020B0503020204020204" pitchFamily="34" charset="-122"/>
                                      </a:rPr>
                                      <m:t>𝑝</m:t>
                                    </m:r>
                                  </m:sup>
                                </m:sSup>
                                <m:r>
                                  <a:rPr lang="en-US" i="1">
                                    <a:latin typeface="Cambria Math" panose="02040503050406030204" pitchFamily="18" charset="0"/>
                                    <a:sym typeface="Microsoft YaHei" panose="020B0503020204020204" pitchFamily="34" charset="-122"/>
                                  </a:rPr>
                                  <m:t>+</m:t>
                                </m:r>
                                <m:nary>
                                  <m:naryPr>
                                    <m:chr m:val="∑"/>
                                    <m:limLoc m:val="undOvr"/>
                                    <m:ctrlPr>
                                      <a:rPr lang="en-US" i="1">
                                        <a:latin typeface="Cambria Math" panose="02040503050406030204" pitchFamily="18" charset="0"/>
                                        <a:sym typeface="Microsoft YaHei" panose="020B0503020204020204" pitchFamily="34" charset="-122"/>
                                      </a:rPr>
                                    </m:ctrlPr>
                                  </m:naryPr>
                                  <m:sub>
                                    <m:r>
                                      <a:rPr lang="en-US" i="1">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𝑖</m:t>
                                    </m:r>
                                    <m:r>
                                      <a:rPr lang="en-US" i="1">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𝑗</m:t>
                                    </m:r>
                                    <m:r>
                                      <a:rPr lang="en-US" i="1">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𝐴</m:t>
                                    </m:r>
                                  </m:sub>
                                  <m:sup>
                                    <m:r>
                                      <a:rPr lang="en-US" i="1">
                                        <a:latin typeface="Cambria Math" panose="02040503050406030204" pitchFamily="18" charset="0"/>
                                        <a:sym typeface="Microsoft YaHei" panose="020B0503020204020204" pitchFamily="34" charset="-122"/>
                                      </a:rPr>
                                      <m:t>​</m:t>
                                    </m:r>
                                  </m:sup>
                                  <m:e>
                                    <m:r>
                                      <a:rPr lang="en-US" i="1">
                                        <a:latin typeface="Cambria Math" panose="02040503050406030204" pitchFamily="18" charset="0"/>
                                        <a:sym typeface="Microsoft YaHei" panose="020B0503020204020204" pitchFamily="34" charset="-122"/>
                                      </a:rPr>
                                      <m:t>(</m:t>
                                    </m:r>
                                  </m:e>
                                </m:nary>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𝑞</m:t>
                                    </m:r>
                                  </m:e>
                                  <m:sub>
                                    <m:r>
                                      <a:rPr lang="en-US" i="1">
                                        <a:latin typeface="Cambria Math" panose="02040503050406030204" pitchFamily="18" charset="0"/>
                                        <a:sym typeface="Microsoft YaHei" panose="020B0503020204020204" pitchFamily="34" charset="-122"/>
                                      </a:rPr>
                                      <m:t>𝑖𝑗</m:t>
                                    </m:r>
                                  </m:sub>
                                </m:sSub>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𝑣</m:t>
                                    </m:r>
                                  </m:e>
                                  <m:sub>
                                    <m:r>
                                      <a:rPr lang="en-US" i="1">
                                        <a:latin typeface="Cambria Math" panose="02040503050406030204" pitchFamily="18" charset="0"/>
                                        <a:sym typeface="Microsoft YaHei" panose="020B0503020204020204" pitchFamily="34" charset="-122"/>
                                      </a:rPr>
                                      <m:t>𝑖</m:t>
                                    </m:r>
                                  </m:sub>
                                </m:sSub>
                                <m:sSup>
                                  <m:sSupPr>
                                    <m:ctrlPr>
                                      <a:rPr lang="en-US" i="1">
                                        <a:latin typeface="Cambria Math" panose="02040503050406030204" pitchFamily="18" charset="0"/>
                                        <a:sym typeface="Microsoft YaHei" panose="020B0503020204020204" pitchFamily="34" charset="-122"/>
                                      </a:rPr>
                                    </m:ctrlPr>
                                  </m:sSupPr>
                                  <m:e>
                                    <m:r>
                                      <a:rPr lang="en-US" i="1">
                                        <a:latin typeface="Cambria Math" panose="02040503050406030204" pitchFamily="18" charset="0"/>
                                        <a:sym typeface="Microsoft YaHei" panose="020B0503020204020204" pitchFamily="34" charset="-122"/>
                                      </a:rPr>
                                      <m:t>)</m:t>
                                    </m:r>
                                  </m:e>
                                  <m:sup>
                                    <m:r>
                                      <a:rPr lang="en-US" i="1">
                                        <a:latin typeface="Cambria Math" panose="02040503050406030204" pitchFamily="18" charset="0"/>
                                        <a:sym typeface="Microsoft YaHei" panose="020B0503020204020204" pitchFamily="34" charset="-122"/>
                                      </a:rPr>
                                      <m:t>𝑝</m:t>
                                    </m:r>
                                  </m:sup>
                                </m:sSup>
                              </m:e>
                            </m:rad>
                            <m:r>
                              <a:rPr lang="en-US" i="1">
                                <a:latin typeface="Cambria Math" panose="02040503050406030204" pitchFamily="18" charset="0"/>
                                <a:sym typeface="Microsoft YaHei" panose="020B0503020204020204" pitchFamily="34" charset="-122"/>
                              </a:rPr>
                              <m:t>⋅</m:t>
                            </m:r>
                            <m:rad>
                              <m:radPr>
                                <m:ctrlPr>
                                  <a:rPr lang="en-US" i="1">
                                    <a:latin typeface="Cambria Math" panose="02040503050406030204" pitchFamily="18" charset="0"/>
                                    <a:sym typeface="Microsoft YaHei" panose="020B0503020204020204" pitchFamily="34" charset="-122"/>
                                  </a:rPr>
                                </m:ctrlPr>
                              </m:radPr>
                              <m:deg>
                                <m:r>
                                  <a:rPr lang="en-US" i="1">
                                    <a:latin typeface="Cambria Math" panose="02040503050406030204" pitchFamily="18" charset="0"/>
                                    <a:sym typeface="Microsoft YaHei" panose="020B0503020204020204" pitchFamily="34" charset="-122"/>
                                  </a:rPr>
                                  <m:t>𝑝</m:t>
                                </m:r>
                              </m:deg>
                              <m:e>
                                <m:r>
                                  <a:rPr lang="en-US" i="1">
                                    <a:latin typeface="Cambria Math" panose="02040503050406030204" pitchFamily="18" charset="0"/>
                                    <a:sym typeface="Microsoft YaHei" panose="020B0503020204020204" pitchFamily="34" charset="-122"/>
                                  </a:rPr>
                                  <m:t>𝐶𝑇</m:t>
                                </m:r>
                              </m:e>
                            </m:rad>
                          </m:e>
                        </m:mr>
                      </m:m>
                    </m:oMath>
                  </m:oMathPara>
                </a14:m>
                <a:endParaRPr lang="en-US" dirty="0">
                  <a:latin typeface="Microsoft YaHei" panose="020B0503020204020204" pitchFamily="34" charset="-122"/>
                  <a:ea typeface="微软雅黑" panose="020B0503020204020204" pitchFamily="34" charset="-122"/>
                  <a:sym typeface="Microsoft YaHei" panose="020B0503020204020204" pitchFamily="34" charset="-122"/>
                </a:endParaRPr>
              </a:p>
            </p:txBody>
          </p:sp>
        </mc:Choice>
        <mc:Fallback xmlns="">
          <p:sp>
            <p:nvSpPr>
              <p:cNvPr id="4" name="Rectangle 4">
                <a:extLst>
                  <a:ext uri="{FF2B5EF4-FFF2-40B4-BE49-F238E27FC236}">
                    <a16:creationId xmlns:a16="http://schemas.microsoft.com/office/drawing/2014/main" id="{D6DDA9E1-9FF5-40B5-B146-BAB0E4D6FEA3}"/>
                  </a:ext>
                </a:extLst>
              </p:cNvPr>
              <p:cNvSpPr>
                <a:spLocks noRot="1" noChangeAspect="1" noMove="1" noResize="1" noEditPoints="1" noAdjustHandles="1" noChangeArrowheads="1" noChangeShapeType="1" noTextEdit="1"/>
              </p:cNvSpPr>
              <p:nvPr/>
            </p:nvSpPr>
            <p:spPr>
              <a:xfrm>
                <a:off x="3090776" y="2804624"/>
                <a:ext cx="4917949" cy="1768882"/>
              </a:xfrm>
              <a:prstGeom prst="rect">
                <a:avLst/>
              </a:prstGeom>
              <a:blipFill>
                <a:blip r:embed="rId3"/>
                <a:stretch>
                  <a:fillRect/>
                </a:stretch>
              </a:blipFill>
            </p:spPr>
            <p:txBody>
              <a:bodyPr/>
              <a:lstStyle/>
              <a:p>
                <a:r>
                  <a:rPr lang="en-US">
                    <a:noFill/>
                  </a:rPr>
                  <a:t> </a:t>
                </a:r>
              </a:p>
            </p:txBody>
          </p:sp>
        </mc:Fallback>
      </mc:AlternateContent>
      <p:grpSp>
        <p:nvGrpSpPr>
          <p:cNvPr id="5" name="组合 14">
            <a:extLst>
              <a:ext uri="{FF2B5EF4-FFF2-40B4-BE49-F238E27FC236}">
                <a16:creationId xmlns:a16="http://schemas.microsoft.com/office/drawing/2014/main" id="{A6E6CF07-DD6C-4E81-9C2A-416D5CE999F1}"/>
              </a:ext>
            </a:extLst>
          </p:cNvPr>
          <p:cNvGrpSpPr/>
          <p:nvPr/>
        </p:nvGrpSpPr>
        <p:grpSpPr>
          <a:xfrm>
            <a:off x="703259" y="5421402"/>
            <a:ext cx="10635653" cy="597453"/>
            <a:chOff x="634090" y="3763847"/>
            <a:chExt cx="10635653" cy="597453"/>
          </a:xfrm>
        </p:grpSpPr>
        <p:sp>
          <p:nvSpPr>
            <p:cNvPr id="6" name="五边形 63">
              <a:extLst>
                <a:ext uri="{FF2B5EF4-FFF2-40B4-BE49-F238E27FC236}">
                  <a16:creationId xmlns:a16="http://schemas.microsoft.com/office/drawing/2014/main" id="{255CB507-30EF-44E5-8965-6491DE57079D}"/>
                </a:ext>
              </a:extLst>
            </p:cNvPr>
            <p:cNvSpPr/>
            <p:nvPr/>
          </p:nvSpPr>
          <p:spPr>
            <a:xfrm>
              <a:off x="689274" y="3781426"/>
              <a:ext cx="3562432" cy="561974"/>
            </a:xfrm>
            <a:prstGeom prst="homePlate">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7" name="燕尾形 65">
              <a:extLst>
                <a:ext uri="{FF2B5EF4-FFF2-40B4-BE49-F238E27FC236}">
                  <a16:creationId xmlns:a16="http://schemas.microsoft.com/office/drawing/2014/main" id="{4A61D84E-DF22-4FBD-A5FA-4815756B2C8F}"/>
                </a:ext>
              </a:extLst>
            </p:cNvPr>
            <p:cNvSpPr/>
            <p:nvPr/>
          </p:nvSpPr>
          <p:spPr>
            <a:xfrm>
              <a:off x="4046521" y="3770025"/>
              <a:ext cx="3122090" cy="572423"/>
            </a:xfrm>
            <a:prstGeom prst="chevron">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8" name="燕尾形 66">
              <a:extLst>
                <a:ext uri="{FF2B5EF4-FFF2-40B4-BE49-F238E27FC236}">
                  <a16:creationId xmlns:a16="http://schemas.microsoft.com/office/drawing/2014/main" id="{BA632245-9630-4BB1-BA9C-10A444A7125A}"/>
                </a:ext>
              </a:extLst>
            </p:cNvPr>
            <p:cNvSpPr/>
            <p:nvPr/>
          </p:nvSpPr>
          <p:spPr>
            <a:xfrm>
              <a:off x="6974532" y="3780473"/>
              <a:ext cx="4295211" cy="561975"/>
            </a:xfrm>
            <a:prstGeom prst="chevron">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BC539CA9-377F-4CC9-A374-6C84D43D75DF}"/>
                </a:ext>
              </a:extLst>
            </p:cNvPr>
            <p:cNvSpPr txBox="1"/>
            <p:nvPr/>
          </p:nvSpPr>
          <p:spPr>
            <a:xfrm>
              <a:off x="634090" y="3763847"/>
              <a:ext cx="3467616" cy="584775"/>
            </a:xfrm>
            <a:prstGeom prst="rect">
              <a:avLst/>
            </a:prstGeom>
            <a:noFill/>
          </p:spPr>
          <p:txBody>
            <a:bodyPr wrap="none" rtlCol="0">
              <a:spAutoFit/>
            </a:bodyPr>
            <a:lstStyle/>
            <a:p>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使用机器学习方法，考虑多维度特征</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a:p>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预测未来需求的均值与波动</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0" name="文本框 11">
              <a:extLst>
                <a:ext uri="{FF2B5EF4-FFF2-40B4-BE49-F238E27FC236}">
                  <a16:creationId xmlns:a16="http://schemas.microsoft.com/office/drawing/2014/main" id="{03F8A93A-21F6-4DE9-9ACD-90CF679EFABB}"/>
                </a:ext>
              </a:extLst>
            </p:cNvPr>
            <p:cNvSpPr txBox="1"/>
            <p:nvPr/>
          </p:nvSpPr>
          <p:spPr>
            <a:xfrm>
              <a:off x="4251706" y="3776525"/>
              <a:ext cx="3057247" cy="584775"/>
            </a:xfrm>
            <a:prstGeom prst="rect">
              <a:avLst/>
            </a:prstGeom>
            <a:noFill/>
          </p:spPr>
          <p:txBody>
            <a:bodyPr wrap="none" rtlCol="0">
              <a:spAutoFit/>
            </a:bodyPr>
            <a:lstStyle/>
            <a:p>
              <a:r>
                <a:rPr lang="zh-CN" altLang="en-US" sz="1600"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rPr>
                <a:t>假设单位时间</a:t>
              </a:r>
              <a:r>
                <a:rPr lang="en-US" altLang="zh-CN" sz="1600"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rPr>
                <a:t>(</a:t>
              </a:r>
              <a:r>
                <a:rPr lang="zh-CN" altLang="en-US" sz="1600"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rPr>
                <a:t>天</a:t>
              </a:r>
              <a:r>
                <a:rPr lang="en-US" altLang="zh-CN" sz="1600"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rPr>
                <a:t>)</a:t>
              </a: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的需求独立，</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a:p>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将预测分解为天颗粒度</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p:txBody>
        </p:sp>
        <p:sp>
          <p:nvSpPr>
            <p:cNvPr id="11" name="文本框 12">
              <a:extLst>
                <a:ext uri="{FF2B5EF4-FFF2-40B4-BE49-F238E27FC236}">
                  <a16:creationId xmlns:a16="http://schemas.microsoft.com/office/drawing/2014/main" id="{C4BF3DB6-96C3-4D0B-955A-0588C8EB2E84}"/>
                </a:ext>
              </a:extLst>
            </p:cNvPr>
            <p:cNvSpPr txBox="1"/>
            <p:nvPr/>
          </p:nvSpPr>
          <p:spPr>
            <a:xfrm>
              <a:off x="7207439" y="3776525"/>
              <a:ext cx="3939757" cy="584775"/>
            </a:xfrm>
            <a:prstGeom prst="rect">
              <a:avLst/>
            </a:prstGeom>
            <a:noFill/>
          </p:spPr>
          <p:txBody>
            <a:bodyPr wrap="square" rtlCol="0">
              <a:spAutoFit/>
            </a:bodyPr>
            <a:lstStyle/>
            <a:p>
              <a:r>
                <a:rPr lang="zh-CN" altLang="en-US" sz="1600"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rPr>
                <a:t>假设需求服从正态分布</a:t>
              </a: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，利用 </a:t>
              </a:r>
              <a:r>
                <a:rPr lang="en-US" sz="1600" dirty="0">
                  <a:latin typeface="Microsoft YaHei" panose="020B0503020204020204" pitchFamily="34" charset="-122"/>
                  <a:ea typeface="微软雅黑" panose="020B0503020204020204" pitchFamily="34" charset="-122"/>
                  <a:sym typeface="Microsoft YaHei" panose="020B0503020204020204" pitchFamily="34" charset="-122"/>
                </a:rPr>
                <a:t>Graves and Willems (2000) </a:t>
              </a:r>
              <a:r>
                <a:rPr lang="zh-CN" altLang="en-US" sz="1600" dirty="0">
                  <a:latin typeface="Microsoft YaHei" panose="020B0503020204020204" pitchFamily="34" charset="-122"/>
                  <a:ea typeface="微软雅黑" panose="020B0503020204020204" pitchFamily="34" charset="-122"/>
                  <a:sym typeface="Microsoft YaHei" panose="020B0503020204020204" pitchFamily="34" charset="-122"/>
                </a:rPr>
                <a:t>构造需求上界</a:t>
              </a:r>
              <a:endParaRPr lang="en-US" altLang="zh-CN" sz="1600" dirty="0">
                <a:latin typeface="Microsoft YaHei" panose="020B0503020204020204" pitchFamily="34" charset="-122"/>
                <a:ea typeface="微软雅黑" panose="020B0503020204020204" pitchFamily="34" charset="-122"/>
                <a:sym typeface="Microsoft YaHei" panose="020B0503020204020204" pitchFamily="34" charset="-122"/>
              </a:endParaRPr>
            </a:p>
          </p:txBody>
        </p:sp>
      </p:grpSp>
    </p:spTree>
    <p:extLst>
      <p:ext uri="{BB962C8B-B14F-4D97-AF65-F5344CB8AC3E}">
        <p14:creationId xmlns:p14="http://schemas.microsoft.com/office/powerpoint/2010/main" val="2142510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3D73E-2174-46F9-BA80-9006B8BF8543}"/>
              </a:ext>
            </a:extLst>
          </p:cNvPr>
          <p:cNvSpPr>
            <a:spLocks noGrp="1"/>
          </p:cNvSpPr>
          <p:nvPr>
            <p:ph type="title"/>
          </p:nvPr>
        </p:nvSpPr>
        <p:spPr/>
        <p:txBody>
          <a:bodyPr/>
          <a:lstStyle/>
          <a:p>
            <a:r>
              <a:rPr lang="en-US" dirty="0" err="1">
                <a:solidFill>
                  <a:srgbClr val="000000"/>
                </a:solidFill>
              </a:rPr>
              <a:t>模型求解</a:t>
            </a:r>
            <a:endParaRPr lang="en-US" dirty="0">
              <a:solidFill>
                <a:srgbClr val="000000"/>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E423665-091E-4470-9EC3-4569185D5079}"/>
                  </a:ext>
                </a:extLst>
              </p:cNvPr>
              <p:cNvSpPr txBox="1"/>
              <p:nvPr/>
            </p:nvSpPr>
            <p:spPr>
              <a:xfrm>
                <a:off x="746621" y="1082180"/>
                <a:ext cx="6400800" cy="5137240"/>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m>
                        <m:mPr>
                          <m:plcHide m:val="on"/>
                          <m:mcs>
                            <m:mc>
                              <m:mcPr>
                                <m:count m:val="4"/>
                                <m:mcJc m:val="center"/>
                              </m:mcPr>
                            </m:mc>
                          </m:mcs>
                          <m:ctrlPr>
                            <a:rPr lang="en-US" i="1">
                              <a:latin typeface="Cambria Math" panose="02040503050406030204" pitchFamily="18" charset="0"/>
                            </a:rPr>
                          </m:ctrlPr>
                        </m:mPr>
                        <m:mr>
                          <m:e/>
                          <m:e>
                            <m:limLow>
                              <m:limLowPr>
                                <m:ctrlPr>
                                  <a:rPr lang="en-US" i="1">
                                    <a:latin typeface="Cambria Math" panose="02040503050406030204" pitchFamily="18" charset="0"/>
                                  </a:rPr>
                                </m:ctrlPr>
                              </m:limLowPr>
                              <m:e>
                                <m:r>
                                  <m:rPr>
                                    <m:nor/>
                                  </m:rPr>
                                  <a:rPr lang="en-US"/>
                                  <m:t>min</m:t>
                                </m:r>
                              </m:e>
                              <m:lim>
                                <m:r>
                                  <a:rPr lang="en-US" i="1">
                                    <a:latin typeface="Cambria Math" panose="02040503050406030204" pitchFamily="18" charset="0"/>
                                  </a:rPr>
                                  <m:t>​</m:t>
                                </m:r>
                              </m:lim>
                            </m:limLow>
                          </m:e>
                          <m:e/>
                          <m:e>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𝑁</m:t>
                                </m:r>
                              </m:sub>
                              <m:sup>
                                <m:r>
                                  <a:rPr lang="en-US" i="1">
                                    <a:latin typeface="Cambria Math" panose="02040503050406030204" pitchFamily="18" charset="0"/>
                                  </a:rPr>
                                  <m:t>​</m:t>
                                </m:r>
                              </m:sup>
                              <m:e>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𝑗</m:t>
                                    </m:r>
                                  </m:sub>
                                </m:sSub>
                              </m:e>
                            </m:nary>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=1</m:t>
                                </m:r>
                              </m:sub>
                              <m:sup>
                                <m:r>
                                  <a:rPr lang="en-US" i="1">
                                    <a:latin typeface="Cambria Math" panose="02040503050406030204" pitchFamily="18" charset="0"/>
                                  </a:rPr>
                                  <m:t>𝑅</m:t>
                                </m:r>
                              </m:sup>
                              <m:e>
                                <m:r>
                                  <a:rPr lang="en-US" i="1">
                                    <a:latin typeface="Cambria Math" panose="02040503050406030204" pitchFamily="18" charset="0"/>
                                  </a:rPr>
                                  <m:t>(</m:t>
                                </m:r>
                              </m:e>
                            </m:nary>
                            <m:sSubSup>
                              <m:sSubSupPr>
                                <m:ctrlPr>
                                  <a:rPr lang="en-US" i="1">
                                    <a:latin typeface="Cambria Math" panose="02040503050406030204" pitchFamily="18" charset="0"/>
                                  </a:rPr>
                                </m:ctrlPr>
                              </m:sSubSupPr>
                              <m:e>
                                <m:r>
                                  <a:rPr lang="en-US" i="1">
                                    <a:latin typeface="Cambria Math" panose="02040503050406030204" pitchFamily="18" charset="0"/>
                                  </a:rPr>
                                  <m:t>𝑓</m:t>
                                </m:r>
                              </m:e>
                              <m:sub>
                                <m:r>
                                  <a:rPr lang="en-US" i="1">
                                    <a:latin typeface="Cambria Math" panose="02040503050406030204" pitchFamily="18" charset="0"/>
                                  </a:rPr>
                                  <m:t>𝑟</m:t>
                                </m:r>
                              </m:sub>
                              <m:sup>
                                <m:r>
                                  <a:rPr lang="en-US" i="1">
                                    <a:latin typeface="Cambria Math" panose="02040503050406030204" pitchFamily="18" charset="0"/>
                                  </a:rPr>
                                  <m:t>𝑗</m:t>
                                </m:r>
                              </m:sup>
                            </m:sSubSup>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𝑟</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𝑟</m:t>
                                </m:r>
                              </m:sub>
                              <m:sup>
                                <m:r>
                                  <a:rPr lang="en-US" i="1">
                                    <a:latin typeface="Cambria Math" panose="02040503050406030204" pitchFamily="18" charset="0"/>
                                  </a:rPr>
                                  <m:t>𝑗</m:t>
                                </m:r>
                              </m:sup>
                            </m:sSubSup>
                            <m:sSubSup>
                              <m:sSubSupPr>
                                <m:ctrlPr>
                                  <a:rPr lang="en-US" i="1">
                                    <a:latin typeface="Cambria Math" panose="02040503050406030204" pitchFamily="18" charset="0"/>
                                  </a:rPr>
                                </m:ctrlPr>
                              </m:sSubSupPr>
                              <m:e>
                                <m:r>
                                  <a:rPr lang="en-US" i="1">
                                    <a:latin typeface="Cambria Math" panose="02040503050406030204" pitchFamily="18" charset="0"/>
                                  </a:rPr>
                                  <m:t>𝑧</m:t>
                                </m:r>
                              </m:e>
                              <m:sub>
                                <m:r>
                                  <a:rPr lang="en-US" i="1">
                                    <a:latin typeface="Cambria Math" panose="02040503050406030204" pitchFamily="18" charset="0"/>
                                  </a:rPr>
                                  <m:t>𝑟</m:t>
                                </m:r>
                              </m:sub>
                              <m:sup>
                                <m:r>
                                  <a:rPr lang="en-US" i="1">
                                    <a:latin typeface="Cambria Math" panose="02040503050406030204" pitchFamily="18" charset="0"/>
                                  </a:rPr>
                                  <m:t>𝑗</m:t>
                                </m:r>
                              </m:sup>
                            </m:sSubSup>
                            <m:r>
                              <a:rPr lang="en-US" i="1">
                                <a:latin typeface="Cambria Math" panose="02040503050406030204" pitchFamily="18" charset="0"/>
                              </a:rPr>
                              <m:t>)</m:t>
                            </m:r>
                          </m:e>
                        </m:mr>
                        <m:mr>
                          <m:e/>
                          <m:e>
                            <m:r>
                              <m:rPr>
                                <m:nor/>
                              </m:rPr>
                              <a:rPr lang="en-US"/>
                              <m:t>s</m:t>
                            </m:r>
                            <m:r>
                              <m:rPr>
                                <m:nor/>
                              </m:rPr>
                              <a:rPr lang="en-US"/>
                              <m:t>.</m:t>
                            </m:r>
                            <m:r>
                              <m:rPr>
                                <m:nor/>
                              </m:rPr>
                              <a:rPr lang="en-US"/>
                              <m:t>t</m:t>
                            </m:r>
                            <m:r>
                              <m:rPr>
                                <m:nor/>
                              </m:rPr>
                              <a:rPr lang="en-US"/>
                              <m:t>.</m:t>
                            </m:r>
                          </m:e>
                          <m:e/>
                          <m:e>
                            <m:r>
                              <a:rPr lang="en-US" i="1">
                                <a:latin typeface="Cambria Math" panose="02040503050406030204" pitchFamily="18" charset="0"/>
                              </a:rPr>
                              <m:t>𝐶</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𝑗</m:t>
                                </m:r>
                              </m:sub>
                            </m:sSub>
                            <m:r>
                              <a:rPr lang="en-U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=1</m:t>
                                </m:r>
                              </m:sub>
                              <m:sup>
                                <m:r>
                                  <a:rPr lang="en-US" i="1">
                                    <a:latin typeface="Cambria Math" panose="02040503050406030204" pitchFamily="18" charset="0"/>
                                  </a:rPr>
                                  <m:t>​</m:t>
                                </m:r>
                              </m:sup>
                              <m:e>
                                <m:sSubSup>
                                  <m:sSubSupPr>
                                    <m:ctrlPr>
                                      <a:rPr lang="en-US" i="1">
                                        <a:latin typeface="Cambria Math" panose="02040503050406030204" pitchFamily="18" charset="0"/>
                                      </a:rPr>
                                    </m:ctrlPr>
                                  </m:sSubSupPr>
                                  <m:e>
                                    <m:r>
                                      <a:rPr lang="en-US" i="1">
                                        <a:latin typeface="Cambria Math" panose="02040503050406030204" pitchFamily="18" charset="0"/>
                                      </a:rPr>
                                      <m:t>𝑧</m:t>
                                    </m:r>
                                  </m:e>
                                  <m:sub>
                                    <m:r>
                                      <a:rPr lang="en-US" i="1">
                                        <a:latin typeface="Cambria Math" panose="02040503050406030204" pitchFamily="18" charset="0"/>
                                      </a:rPr>
                                      <m:t>𝑟</m:t>
                                    </m:r>
                                  </m:sub>
                                  <m:sup>
                                    <m:r>
                                      <a:rPr lang="en-US" i="1">
                                        <a:latin typeface="Cambria Math" panose="02040503050406030204" pitchFamily="18" charset="0"/>
                                      </a:rPr>
                                      <m:t>𝑗</m:t>
                                    </m:r>
                                  </m:sup>
                                </m:sSubSup>
                              </m:e>
                            </m:nary>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𝑁</m:t>
                            </m:r>
                          </m:e>
                        </m:mr>
                        <m:mr>
                          <m:e/>
                          <m:e/>
                          <m:e/>
                          <m:e>
                            <m:sSubSup>
                              <m:sSubSupPr>
                                <m:ctrlPr>
                                  <a:rPr lang="en-US" i="1">
                                    <a:latin typeface="Cambria Math" panose="02040503050406030204" pitchFamily="18" charset="0"/>
                                  </a:rPr>
                                </m:ctrlPr>
                              </m:sSubSupPr>
                              <m:e>
                                <m:r>
                                  <a:rPr lang="en-US" i="1">
                                    <a:latin typeface="Cambria Math" panose="02040503050406030204" pitchFamily="18" charset="0"/>
                                  </a:rPr>
                                  <m:t>𝑀</m:t>
                                </m:r>
                              </m:e>
                              <m:sub>
                                <m:r>
                                  <a:rPr lang="en-US" i="1">
                                    <a:latin typeface="Cambria Math" panose="02040503050406030204" pitchFamily="18" charset="0"/>
                                  </a:rPr>
                                  <m:t>𝑟</m:t>
                                </m:r>
                                <m:r>
                                  <a:rPr lang="en-US" i="1">
                                    <a:latin typeface="Cambria Math" panose="02040503050406030204" pitchFamily="18" charset="0"/>
                                  </a:rPr>
                                  <m:t>−1</m:t>
                                </m:r>
                              </m:sub>
                              <m:sup>
                                <m:r>
                                  <a:rPr lang="en-US" i="1">
                                    <a:latin typeface="Cambria Math" panose="02040503050406030204" pitchFamily="18" charset="0"/>
                                  </a:rPr>
                                  <m:t>𝑗</m:t>
                                </m:r>
                              </m:sup>
                            </m:sSubSup>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𝑟</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𝑧</m:t>
                                </m:r>
                              </m:e>
                              <m:sub>
                                <m:r>
                                  <a:rPr lang="en-US" i="1">
                                    <a:latin typeface="Cambria Math" panose="02040503050406030204" pitchFamily="18" charset="0"/>
                                  </a:rPr>
                                  <m:t>𝑟</m:t>
                                </m:r>
                              </m:sub>
                              <m:sup>
                                <m:r>
                                  <a:rPr lang="en-US" i="1">
                                    <a:latin typeface="Cambria Math" panose="02040503050406030204" pitchFamily="18" charset="0"/>
                                  </a:rPr>
                                  <m:t>𝑗</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𝑀</m:t>
                                </m:r>
                              </m:e>
                              <m:sub>
                                <m:r>
                                  <a:rPr lang="en-US" i="1">
                                    <a:latin typeface="Cambria Math" panose="02040503050406030204" pitchFamily="18" charset="0"/>
                                  </a:rPr>
                                  <m:t>𝑟</m:t>
                                </m:r>
                              </m:sub>
                              <m:sup>
                                <m:r>
                                  <a:rPr lang="en-US" i="1">
                                    <a:latin typeface="Cambria Math" panose="02040503050406030204" pitchFamily="18" charset="0"/>
                                  </a:rPr>
                                  <m:t>𝑗</m:t>
                                </m:r>
                              </m:sup>
                            </m:sSubSup>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𝑟</m:t>
                                </m:r>
                              </m:sub>
                              <m:sup>
                                <m:r>
                                  <a:rPr lang="en-US" i="1">
                                    <a:latin typeface="Cambria Math" panose="02040503050406030204" pitchFamily="18" charset="0"/>
                                  </a:rPr>
                                  <m:t>𝑗</m:t>
                                </m:r>
                              </m:sup>
                            </m:sSubSup>
                          </m:e>
                        </m:mr>
                        <m:mr>
                          <m:e/>
                          <m:e/>
                          <m:e/>
                          <m:e>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=1</m:t>
                                </m:r>
                              </m:sub>
                              <m:sup>
                                <m:r>
                                  <a:rPr lang="en-US" i="1">
                                    <a:latin typeface="Cambria Math" panose="02040503050406030204" pitchFamily="18" charset="0"/>
                                  </a:rPr>
                                  <m:t>𝑅</m:t>
                                </m:r>
                              </m:sup>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𝑟</m:t>
                                    </m:r>
                                  </m:sub>
                                  <m:sup>
                                    <m:r>
                                      <a:rPr lang="en-US" i="1">
                                        <a:latin typeface="Cambria Math" panose="02040503050406030204" pitchFamily="18" charset="0"/>
                                      </a:rPr>
                                      <m:t>𝑗</m:t>
                                    </m:r>
                                  </m:sup>
                                </m:sSubSup>
                              </m:e>
                            </m:nary>
                            <m:r>
                              <a:rPr lang="en-US" i="1">
                                <a:latin typeface="Cambria Math" panose="02040503050406030204" pitchFamily="18" charset="0"/>
                              </a:rPr>
                              <m:t>≤1</m:t>
                            </m:r>
                          </m:e>
                        </m:mr>
                        <m:mr>
                          <m:e/>
                          <m:e/>
                          <m:e/>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𝑟</m:t>
                                </m:r>
                              </m:sub>
                              <m:sup>
                                <m:r>
                                  <a:rPr lang="en-US" i="1">
                                    <a:latin typeface="Cambria Math" panose="02040503050406030204" pitchFamily="18" charset="0"/>
                                  </a:rPr>
                                  <m:t>𝑗</m:t>
                                </m:r>
                              </m:sup>
                            </m:sSubSup>
                            <m:r>
                              <a:rPr lang="en-US" i="1">
                                <a:latin typeface="Cambria Math" panose="02040503050406030204" pitchFamily="18" charset="0"/>
                              </a:rPr>
                              <m:t>∈{0,1}</m:t>
                            </m:r>
                          </m:e>
                        </m:mr>
                        <m:mr>
                          <m:e/>
                          <m:e/>
                          <m:e/>
                          <m:e>
                            <m:sSubSup>
                              <m:sSubSupPr>
                                <m:ctrlPr>
                                  <a:rPr lang="en-US" i="1">
                                    <a:latin typeface="Cambria Math" panose="02040503050406030204" pitchFamily="18" charset="0"/>
                                  </a:rPr>
                                </m:ctrlPr>
                              </m:sSubSupPr>
                              <m:e>
                                <m:r>
                                  <a:rPr lang="en-US" i="1">
                                    <a:latin typeface="Cambria Math" panose="02040503050406030204" pitchFamily="18" charset="0"/>
                                  </a:rPr>
                                  <m:t>𝑧</m:t>
                                </m:r>
                              </m:e>
                              <m:sub>
                                <m:r>
                                  <a:rPr lang="en-US" i="1">
                                    <a:latin typeface="Cambria Math" panose="02040503050406030204" pitchFamily="18" charset="0"/>
                                  </a:rPr>
                                  <m:t>𝑟</m:t>
                                </m:r>
                              </m:sub>
                              <m:sup>
                                <m:r>
                                  <a:rPr lang="en-US" i="1">
                                    <a:latin typeface="Cambria Math" panose="02040503050406030204" pitchFamily="18" charset="0"/>
                                  </a:rPr>
                                  <m:t>𝑗</m:t>
                                </m:r>
                              </m:sup>
                            </m:sSubSup>
                            <m:r>
                              <a:rPr lang="en-US" i="1">
                                <a:latin typeface="Cambria Math" panose="02040503050406030204" pitchFamily="18" charset="0"/>
                              </a:rPr>
                              <m:t>≥0</m:t>
                            </m:r>
                          </m:e>
                        </m:mr>
                        <m:mr>
                          <m:e/>
                          <m:e/>
                          <m:e/>
                          <m:e>
                            <m:r>
                              <a:rPr lang="en-US" i="1">
                                <a:latin typeface="Cambria Math" panose="02040503050406030204" pitchFamily="18" charset="0"/>
                              </a:rPr>
                              <m:t>𝐶</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𝑀</m:t>
                            </m:r>
                          </m:e>
                        </m:mr>
                        <m:mr>
                          <m:e/>
                          <m:e/>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𝑃</m:t>
                            </m:r>
                          </m:e>
                        </m:mr>
                        <m:mr>
                          <m:e/>
                          <m:e/>
                          <m:e/>
                          <m:e>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r>
                              <a:rPr lang="en-US" i="1">
                                <a:latin typeface="Cambria Math" panose="02040503050406030204" pitchFamily="18" charset="0"/>
                              </a:rPr>
                              <m:t>≥0,∀(</m:t>
                            </m:r>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𝐴</m:t>
                            </m:r>
                          </m:e>
                        </m:mr>
                        <m:mr>
                          <m:e/>
                          <m:e/>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m:rPr>
                                    <m:nor/>
                                  </m:rPr>
                                  <a:rPr lang="en-US"/>
                                  <m:t>sla</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𝐸</m:t>
                            </m:r>
                          </m:e>
                        </m:mr>
                        <m:mr>
                          <m:e/>
                          <m:e/>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𝐶</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𝑗</m:t>
                                </m:r>
                              </m:sub>
                            </m:sSub>
                            <m:r>
                              <a:rPr lang="en-US" i="1">
                                <a:latin typeface="Cambria Math" panose="02040503050406030204" pitchFamily="18" charset="0"/>
                              </a:rPr>
                              <m:t>≥0,∀</m:t>
                            </m:r>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𝑁</m:t>
                            </m:r>
                          </m:e>
                        </m:mr>
                      </m:m>
                    </m:oMath>
                  </m:oMathPara>
                </a14:m>
                <a:endParaRPr lang="en-US" dirty="0"/>
              </a:p>
            </p:txBody>
          </p:sp>
        </mc:Choice>
        <mc:Fallback xmlns="">
          <p:sp>
            <p:nvSpPr>
              <p:cNvPr id="4" name="文本框 3">
                <a:extLst>
                  <a:ext uri="{FF2B5EF4-FFF2-40B4-BE49-F238E27FC236}">
                    <a16:creationId xmlns:a16="http://schemas.microsoft.com/office/drawing/2014/main" id="{4E423665-091E-4470-9EC3-4569185D5079}"/>
                  </a:ext>
                </a:extLst>
              </p:cNvPr>
              <p:cNvSpPr txBox="1">
                <a:spLocks noRot="1" noChangeAspect="1" noMove="1" noResize="1" noEditPoints="1" noAdjustHandles="1" noChangeArrowheads="1" noChangeShapeType="1" noTextEdit="1"/>
              </p:cNvSpPr>
              <p:nvPr/>
            </p:nvSpPr>
            <p:spPr>
              <a:xfrm>
                <a:off x="746621" y="1082180"/>
                <a:ext cx="6400800" cy="5137240"/>
              </a:xfrm>
              <a:prstGeom prst="rect">
                <a:avLst/>
              </a:prstGeom>
              <a:blipFill>
                <a:blip r:embed="rId2"/>
                <a:stretch>
                  <a:fillRect/>
                </a:stretch>
              </a:blipFill>
            </p:spPr>
            <p:txBody>
              <a:bodyPr/>
              <a:lstStyle/>
              <a:p>
                <a:r>
                  <a:rPr lang="en-US">
                    <a:noFill/>
                  </a:rPr>
                  <a:t> </a:t>
                </a:r>
              </a:p>
            </p:txBody>
          </p:sp>
        </mc:Fallback>
      </mc:AlternateContent>
      <p:pic>
        <p:nvPicPr>
          <p:cNvPr id="5" name="图片 4">
            <a:extLst>
              <a:ext uri="{FF2B5EF4-FFF2-40B4-BE49-F238E27FC236}">
                <a16:creationId xmlns:a16="http://schemas.microsoft.com/office/drawing/2014/main" id="{95E5D7C5-1DA2-40DC-8ECE-6913F8F20F6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215689" y="1663713"/>
            <a:ext cx="4229690" cy="3362794"/>
          </a:xfrm>
          <a:prstGeom prst="rect">
            <a:avLst/>
          </a:prstGeom>
        </p:spPr>
      </p:pic>
    </p:spTree>
    <p:extLst>
      <p:ext uri="{BB962C8B-B14F-4D97-AF65-F5344CB8AC3E}">
        <p14:creationId xmlns:p14="http://schemas.microsoft.com/office/powerpoint/2010/main" val="3750863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36DF2-2D2B-6D42-8929-3931C0A321AD}"/>
              </a:ext>
            </a:extLst>
          </p:cNvPr>
          <p:cNvSpPr>
            <a:spLocks noGrp="1"/>
          </p:cNvSpPr>
          <p:nvPr>
            <p:ph type="title"/>
          </p:nvPr>
        </p:nvSpPr>
        <p:spPr/>
        <p:txBody>
          <a:bodyPr vert="horz" wrap="square" lIns="91440" tIns="45720" rIns="91440" bIns="45720" rtlCol="0"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基于序列线性规划的近似算法</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ED953B-EB85-A54B-A1AB-63A425001C01}"/>
                  </a:ext>
                </a:extLst>
              </p:cNvPr>
              <p:cNvSpPr txBox="1"/>
              <p:nvPr/>
            </p:nvSpPr>
            <p:spPr>
              <a:xfrm>
                <a:off x="412682" y="1167972"/>
                <a:ext cx="10895783" cy="3211392"/>
              </a:xfrm>
              <a:prstGeom prst="rect">
                <a:avLst/>
              </a:prstGeom>
              <a:noFill/>
            </p:spPr>
            <p:txBody>
              <a:bodyPr wrap="square">
                <a:spAutoFit/>
              </a:bodyPr>
              <a:lstStyle/>
              <a:p>
                <a:pPr marL="285750" marR="0" indent="-285750" algn="just">
                  <a:lnSpc>
                    <a:spcPct val="150000"/>
                  </a:lnSpc>
                  <a:spcBef>
                    <a:spcPts val="0"/>
                  </a:spcBef>
                  <a:spcAft>
                    <a:spcPts val="0"/>
                  </a:spcAft>
                  <a:buFont typeface="Arial" panose="020B0604020202020204" pitchFamily="34" charset="0"/>
                  <a:buChar char="•"/>
                </a:pPr>
                <a:r>
                  <a:rPr lang="zh-CN" kern="100" dirty="0">
                    <a:effectLst/>
                    <a:latin typeface="Calibri" panose="020F0502020204030204" pitchFamily="34" charset="0"/>
                    <a:ea typeface="DengXian" panose="02010600030101010101" pitchFamily="2" charset="-122"/>
                    <a:cs typeface="Times New Roman" panose="02020603050405020304" pitchFamily="18" charset="0"/>
                  </a:rPr>
                  <a:t>使用</a:t>
                </a:r>
                <a:r>
                  <a:rPr lang="en-US" kern="100" dirty="0">
                    <a:effectLst/>
                    <a:latin typeface="Calibri" panose="020F0502020204030204" pitchFamily="34" charset="0"/>
                    <a:ea typeface="DengXian" panose="02010600030101010101" pitchFamily="2" charset="-122"/>
                    <a:cs typeface="Times New Roman" panose="02020603050405020304" pitchFamily="18" charset="0"/>
                  </a:rPr>
                  <a:t>SLP</a:t>
                </a:r>
                <a:r>
                  <a:rPr lang="zh-CN" kern="100" dirty="0">
                    <a:effectLst/>
                    <a:latin typeface="Calibri" panose="020F0502020204030204" pitchFamily="34" charset="0"/>
                    <a:ea typeface="DengXian" panose="02010600030101010101" pitchFamily="2" charset="-122"/>
                    <a:cs typeface="Times New Roman" panose="02020603050405020304" pitchFamily="18" charset="0"/>
                  </a:rPr>
                  <a:t>求解的思路是给定一组初始解 </a:t>
                </a:r>
                <a14:m>
                  <m:oMath xmlns:m="http://schemas.openxmlformats.org/officeDocument/2006/math">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𝐶</m:t>
                    </m:r>
                    <m:sSubSup>
                      <m:sSubSup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𝑇</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US" i="1" kern="100">
                            <a:effectLst/>
                            <a:latin typeface="Cambria Math" panose="02040503050406030204" pitchFamily="18" charset="0"/>
                            <a:ea typeface="DengXian" panose="02010600030101010101" pitchFamily="2" charset="-122"/>
                            <a:cs typeface="Times New Roman" panose="02020603050405020304" pitchFamily="18" charset="0"/>
                          </a:rPr>
                          <m:t>0</m:t>
                        </m:r>
                      </m:sup>
                    </m:sSubSup>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𝑁</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zh-CN" kern="100" dirty="0">
                    <a:effectLst/>
                    <a:latin typeface="Calibri" panose="020F0502020204030204" pitchFamily="34" charset="0"/>
                    <a:ea typeface="DengXian" panose="02010600030101010101" pitchFamily="2" charset="-122"/>
                    <a:cs typeface="Times New Roman" panose="02020603050405020304" pitchFamily="18" charset="0"/>
                  </a:rPr>
                  <a:t>，将初始解作为输入，使用一阶泰勒展开近似目标函数得到子问题，将最小化子问题得到的解作为下一轮的初始解。重复这一过程直至收敛</a:t>
                </a:r>
                <a:endParaRPr lang="en-US" altLang="zh-CN"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marR="0" indent="-285750" algn="just">
                  <a:lnSpc>
                    <a:spcPct val="150000"/>
                  </a:lnSpc>
                  <a:spcBef>
                    <a:spcPts val="0"/>
                  </a:spcBef>
                  <a:spcAft>
                    <a:spcPts val="0"/>
                  </a:spcAft>
                  <a:buFont typeface="Arial" panose="020B0604020202020204" pitchFamily="34" charset="0"/>
                  <a:buChar char="•"/>
                </a:pPr>
                <a:r>
                  <a:rPr lang="zh-CN" altLang="en-US" kern="100" dirty="0">
                    <a:latin typeface="Calibri" panose="020F0502020204030204" pitchFamily="34" charset="0"/>
                    <a:ea typeface="DengXian" panose="02010600030101010101" pitchFamily="2" charset="-122"/>
                    <a:cs typeface="Times New Roman" panose="02020603050405020304" pitchFamily="18" charset="0"/>
                  </a:rPr>
                  <a:t>对于第</a:t>
                </a:r>
                <a14:m>
                  <m:oMath xmlns:m="http://schemas.openxmlformats.org/officeDocument/2006/math">
                    <m:r>
                      <a:rPr lang="en-US" i="1" kern="100">
                        <a:latin typeface="Cambria Math" panose="02040503050406030204" pitchFamily="18" charset="0"/>
                        <a:ea typeface="DengXian" panose="02010600030101010101" pitchFamily="2" charset="-122"/>
                        <a:cs typeface="Times New Roman" panose="02020603050405020304" pitchFamily="18" charset="0"/>
                      </a:rPr>
                      <m:t>𝑘</m:t>
                    </m:r>
                  </m:oMath>
                </a14:m>
                <a:r>
                  <a:rPr lang="zh-CN" altLang="en-US" kern="100" dirty="0">
                    <a:latin typeface="Calibri" panose="020F0502020204030204" pitchFamily="34" charset="0"/>
                    <a:ea typeface="DengXian" panose="02010600030101010101" pitchFamily="2" charset="-122"/>
                    <a:cs typeface="Times New Roman" panose="02020603050405020304" pitchFamily="18" charset="0"/>
                  </a:rPr>
                  <a:t>个子问题，目标函数被近似为：</a:t>
                </a:r>
                <a:endParaRPr lang="en-US" altLang="zh-CN"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zh-CN"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zh-CN"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latin typeface="Calibri" panose="020F0502020204030204" pitchFamily="34" charset="0"/>
                    <a:ea typeface="DengXian" panose="02010600030101010101" pitchFamily="2" charset="-122"/>
                    <a:cs typeface="Times New Roman" panose="02020603050405020304" pitchFamily="18" charset="0"/>
                  </a:rPr>
                  <a:t>第</a:t>
                </a:r>
                <a14:m>
                  <m:oMath xmlns:m="http://schemas.openxmlformats.org/officeDocument/2006/math">
                    <m:r>
                      <a:rPr lang="en-US" i="1" kern="100">
                        <a:latin typeface="Cambria Math" panose="02040503050406030204" pitchFamily="18" charset="0"/>
                        <a:ea typeface="DengXian" panose="02010600030101010101" pitchFamily="2" charset="-122"/>
                        <a:cs typeface="Times New Roman" panose="02020603050405020304" pitchFamily="18" charset="0"/>
                      </a:rPr>
                      <m:t>𝑘</m:t>
                    </m:r>
                  </m:oMath>
                </a14:m>
                <a:r>
                  <a:rPr lang="zh-CN" altLang="en-US" kern="100" dirty="0">
                    <a:latin typeface="Calibri" panose="020F0502020204030204" pitchFamily="34" charset="0"/>
                    <a:ea typeface="DengXian" panose="02010600030101010101" pitchFamily="2" charset="-122"/>
                    <a:cs typeface="Times New Roman" panose="02020603050405020304" pitchFamily="18" charset="0"/>
                  </a:rPr>
                  <a:t>个子问题为：</a:t>
                </a:r>
                <a:endParaRPr lang="en-US" kern="1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lgn="just">
                  <a:buFont typeface="Arial" panose="020B0604020202020204" pitchFamily="34" charset="0"/>
                  <a:buChar char="•"/>
                </a:pPr>
                <a:endParaRPr lang="en-US" kern="100" dirty="0">
                  <a:latin typeface="Calibri" panose="020F0502020204030204" pitchFamily="34" charset="0"/>
                  <a:ea typeface="DengXian" panose="02010600030101010101" pitchFamily="2" charset="-122"/>
                  <a:cs typeface="Times New Roman" panose="02020603050405020304" pitchFamily="18" charset="0"/>
                </a:endParaRPr>
              </a:p>
              <a:p>
                <a:pPr marL="285750" marR="0" indent="-285750" algn="just">
                  <a:spcBef>
                    <a:spcPts val="0"/>
                  </a:spcBef>
                  <a:spcAft>
                    <a:spcPts val="0"/>
                  </a:spcAft>
                  <a:buFont typeface="Arial" panose="020B0604020202020204" pitchFamily="34" charset="0"/>
                  <a:buChar char="•"/>
                </a:pPr>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51ED953B-EB85-A54B-A1AB-63A425001C01}"/>
                  </a:ext>
                </a:extLst>
              </p:cNvPr>
              <p:cNvSpPr txBox="1">
                <a:spLocks noRot="1" noChangeAspect="1" noMove="1" noResize="1" noEditPoints="1" noAdjustHandles="1" noChangeArrowheads="1" noChangeShapeType="1" noTextEdit="1"/>
              </p:cNvSpPr>
              <p:nvPr/>
            </p:nvSpPr>
            <p:spPr>
              <a:xfrm>
                <a:off x="412682" y="1167972"/>
                <a:ext cx="10895783" cy="3211392"/>
              </a:xfrm>
              <a:prstGeom prst="rect">
                <a:avLst/>
              </a:prstGeom>
              <a:blipFill>
                <a:blip r:embed="rId2"/>
                <a:stretch>
                  <a:fillRect l="-349" r="-4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312228-E097-DB46-B560-41DDA07A9223}"/>
                  </a:ext>
                </a:extLst>
              </p:cNvPr>
              <p:cNvSpPr txBox="1"/>
              <p:nvPr/>
            </p:nvSpPr>
            <p:spPr>
              <a:xfrm>
                <a:off x="3046071" y="2697216"/>
                <a:ext cx="6099858" cy="795859"/>
              </a:xfrm>
              <a:prstGeom prst="rect">
                <a:avLst/>
              </a:prstGeom>
              <a:noFill/>
            </p:spPr>
            <p:txBody>
              <a:bodyPr wrap="square">
                <a:spAutoFit/>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nary>
                        <m:naryPr>
                          <m:chr m:val="∑"/>
                          <m:limLoc m:val="undOvr"/>
                          <m:ctrlPr>
                            <a:rPr lang="en-US" i="1" kern="100" smtClean="0">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𝑁</m:t>
                          </m:r>
                        </m:sub>
                        <m:sup>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sup>
                        <m:e>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𝜙</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Sub>
                        </m:e>
                      </m:nary>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𝐶</m:t>
                      </m:r>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𝑇</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nary>
                        <m:naryPr>
                          <m:chr m:val="∑"/>
                          <m:limLoc m:val="undOv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𝑁</m:t>
                          </m:r>
                        </m:sub>
                        <m:sup>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sup>
                        <m:e>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e>
                      </m:nary>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𝜙</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𝐶</m:t>
                      </m:r>
                      <m:sSubSup>
                        <m:sSubSup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𝑇</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US" i="1" kern="100">
                              <a:effectLst/>
                              <a:latin typeface="Cambria Math" panose="02040503050406030204" pitchFamily="18" charset="0"/>
                              <a:ea typeface="DengXian" panose="02010600030101010101" pitchFamily="2" charset="-122"/>
                              <a:cs typeface="Times New Roman" panose="02020603050405020304" pitchFamily="18" charset="0"/>
                            </a:rPr>
                            <m:t>𝑘</m:t>
                          </m:r>
                        </m:sup>
                      </m:sSubSup>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𝜙</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Sub>
                              <m:d>
                                <m:d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𝐶</m:t>
                                  </m:r>
                                  <m:sSubSup>
                                    <m:sSubSup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𝑇</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US" i="1" kern="100">
                                          <a:effectLst/>
                                          <a:latin typeface="Cambria Math" panose="02040503050406030204" pitchFamily="18" charset="0"/>
                                          <a:ea typeface="DengXian" panose="02010600030101010101" pitchFamily="2" charset="-122"/>
                                          <a:cs typeface="Times New Roman" panose="02020603050405020304" pitchFamily="18" charset="0"/>
                                        </a:rPr>
                                        <m:t>𝑘</m:t>
                                      </m:r>
                                    </m:sup>
                                  </m:sSubSup>
                                </m:e>
                              </m:d>
                            </m:e>
                          </m:d>
                        </m:e>
                        <m:sup>
                          <m:r>
                            <a:rPr lang="en-US" i="1" kern="100">
                              <a:effectLst/>
                              <a:latin typeface="Cambria Math" panose="02040503050406030204" pitchFamily="18" charset="0"/>
                              <a:ea typeface="DengXian" panose="02010600030101010101" pitchFamily="2" charset="-122"/>
                              <a:cs typeface="Times New Roman" panose="02020603050405020304" pitchFamily="18" charset="0"/>
                            </a:rPr>
                            <m:t>𝑇</m:t>
                          </m:r>
                        </m:sup>
                      </m:sSup>
                      <m:d>
                        <m:d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𝐶</m:t>
                          </m:r>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𝑇</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i="1" kern="100">
                              <a:effectLst/>
                              <a:latin typeface="Cambria Math" panose="02040503050406030204" pitchFamily="18" charset="0"/>
                              <a:ea typeface="DengXian" panose="02010600030101010101" pitchFamily="2" charset="-122"/>
                              <a:cs typeface="Times New Roman" panose="02020603050405020304" pitchFamily="18" charset="0"/>
                            </a:rPr>
                            <m:t>𝐶</m:t>
                          </m:r>
                          <m:sSubSup>
                            <m:sSubSup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𝑇</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US" i="1" kern="100">
                                  <a:effectLst/>
                                  <a:latin typeface="Cambria Math" panose="02040503050406030204" pitchFamily="18" charset="0"/>
                                  <a:ea typeface="DengXian" panose="02010600030101010101" pitchFamily="2" charset="-122"/>
                                  <a:cs typeface="Times New Roman" panose="02020603050405020304" pitchFamily="18" charset="0"/>
                                </a:rPr>
                                <m:t>𝑘</m:t>
                              </m:r>
                            </m:sup>
                          </m:sSubSup>
                        </m:e>
                      </m:d>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en-US" kern="1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AD312228-E097-DB46-B560-41DDA07A9223}"/>
                  </a:ext>
                </a:extLst>
              </p:cNvPr>
              <p:cNvSpPr txBox="1">
                <a:spLocks noRot="1" noChangeAspect="1" noMove="1" noResize="1" noEditPoints="1" noAdjustHandles="1" noChangeArrowheads="1" noChangeShapeType="1" noTextEdit="1"/>
              </p:cNvSpPr>
              <p:nvPr/>
            </p:nvSpPr>
            <p:spPr>
              <a:xfrm>
                <a:off x="3046071" y="2697216"/>
                <a:ext cx="6099858" cy="795859"/>
              </a:xfrm>
              <a:prstGeom prst="rect">
                <a:avLst/>
              </a:prstGeom>
              <a:blipFill>
                <a:blip r:embed="rId3"/>
                <a:stretch>
                  <a:fillRect l="-10833" t="-117188" b="-15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矩形 7">
                <a:extLst>
                  <a:ext uri="{FF2B5EF4-FFF2-40B4-BE49-F238E27FC236}">
                    <a16:creationId xmlns:a16="http://schemas.microsoft.com/office/drawing/2014/main" id="{BABB63BB-DCE6-A940-8CD9-7CC0CA884F51}"/>
                  </a:ext>
                </a:extLst>
              </p:cNvPr>
              <p:cNvSpPr/>
              <p:nvPr/>
            </p:nvSpPr>
            <p:spPr>
              <a:xfrm>
                <a:off x="3110151" y="3996557"/>
                <a:ext cx="5971698" cy="20515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en-US" i="1" smtClean="0">
                              <a:latin typeface="Cambria Math" panose="02040503050406030204" pitchFamily="18" charset="0"/>
                              <a:sym typeface="Microsoft YaHei" panose="020B0503020204020204" pitchFamily="34" charset="-122"/>
                            </a:rPr>
                          </m:ctrlPr>
                        </m:mPr>
                        <m:mr>
                          <m:e/>
                          <m:e>
                            <m:limLow>
                              <m:limLowPr>
                                <m:ctrlPr>
                                  <a:rPr lang="en-US" i="1">
                                    <a:latin typeface="Cambria Math" panose="02040503050406030204" pitchFamily="18" charset="0"/>
                                    <a:sym typeface="Microsoft YaHei" panose="020B0503020204020204" pitchFamily="34" charset="-122"/>
                                  </a:rPr>
                                </m:ctrlPr>
                              </m:limLowPr>
                              <m:e>
                                <m:r>
                                  <m:rPr>
                                    <m:nor/>
                                  </m:rPr>
                                  <a:rPr lang="en-US">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min</m:t>
                                </m:r>
                              </m:e>
                              <m:lim>
                                <m:r>
                                  <a:rPr lang="en-US" i="0">
                                    <a:latin typeface="Cambria Math" panose="02040503050406030204" pitchFamily="18" charset="0"/>
                                    <a:sym typeface="Microsoft YaHei" panose="020B0503020204020204" pitchFamily="34" charset="-122"/>
                                  </a:rPr>
                                  <m:t>​</m:t>
                                </m:r>
                              </m:lim>
                            </m:limLow>
                          </m:e>
                          <m:e/>
                          <m:e>
                            <m:nary>
                              <m:naryPr>
                                <m:chr m:val="∑"/>
                                <m:limLoc m:val="undOvr"/>
                                <m:ctrlPr>
                                  <a:rPr lang="en-US" i="1">
                                    <a:latin typeface="Cambria Math" panose="02040503050406030204" pitchFamily="18" charset="0"/>
                                    <a:ea typeface="Calibri" panose="020F0502020204030204" pitchFamily="34" charset="0"/>
                                    <a:cs typeface="Times New Roman" panose="02020603050405020304" pitchFamily="18" charset="0"/>
                                  </a:rPr>
                                </m:ctrlPr>
                              </m:naryPr>
                              <m:sub>
                                <m:r>
                                  <a:rPr lang="en-US" i="1">
                                    <a:latin typeface="Cambria Math" panose="02040503050406030204" pitchFamily="18" charset="0"/>
                                    <a:ea typeface="Calibri" panose="020F0502020204030204" pitchFamily="34" charset="0"/>
                                    <a:cs typeface="Times New Roman" panose="02020603050405020304" pitchFamily="18" charset="0"/>
                                  </a:rPr>
                                  <m:t>𝑗</m:t>
                                </m:r>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𝑁</m:t>
                                </m:r>
                              </m:sub>
                              <m:sup>
                                <m:r>
                                  <a:rPr lang="en-US" i="1">
                                    <a:latin typeface="Cambria Math" panose="02040503050406030204" pitchFamily="18" charset="0"/>
                                    <a:ea typeface="Calibri" panose="020F0502020204030204" pitchFamily="34" charset="0"/>
                                    <a:cs typeface="Times New Roman" panose="02020603050405020304" pitchFamily="18" charset="0"/>
                                  </a:rPr>
                                  <m:t>​</m:t>
                                </m:r>
                              </m:sup>
                              <m:e>
                                <m:r>
                                  <a:rPr lang="en-US" i="1">
                                    <a:latin typeface="Cambria Math" panose="02040503050406030204" pitchFamily="18" charset="0"/>
                                    <a:ea typeface="Calibri" panose="020F0502020204030204" pitchFamily="34" charset="0"/>
                                    <a:cs typeface="Times New Roman" panose="02020603050405020304" pitchFamily="18" charset="0"/>
                                  </a:rPr>
                                  <m:t>[</m:t>
                                </m:r>
                              </m:e>
                            </m:nary>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𝜙</m:t>
                                </m:r>
                              </m:e>
                              <m:sub>
                                <m:r>
                                  <a:rPr lang="en-US" i="1">
                                    <a:latin typeface="Cambria Math" panose="02040503050406030204" pitchFamily="18" charset="0"/>
                                    <a:ea typeface="Calibri" panose="020F0502020204030204" pitchFamily="34" charset="0"/>
                                    <a:cs typeface="Times New Roman" panose="02020603050405020304" pitchFamily="18" charset="0"/>
                                  </a:rPr>
                                  <m:t>𝑗</m:t>
                                </m:r>
                              </m:sub>
                            </m:sSub>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𝐶</m:t>
                            </m:r>
                            <m:sSubSup>
                              <m:sSubSupPr>
                                <m:ctrlPr>
                                  <a:rPr lang="en-US" i="1">
                                    <a:latin typeface="Cambria Math" panose="02040503050406030204" pitchFamily="18" charset="0"/>
                                    <a:ea typeface="Calibri" panose="020F0502020204030204" pitchFamily="34" charset="0"/>
                                    <a:cs typeface="Times New Roman" panose="02020603050405020304" pitchFamily="18" charset="0"/>
                                  </a:rPr>
                                </m:ctrlPr>
                              </m:sSubSupPr>
                              <m:e>
                                <m:r>
                                  <a:rPr lang="en-US" i="1">
                                    <a:latin typeface="Cambria Math" panose="02040503050406030204" pitchFamily="18" charset="0"/>
                                    <a:ea typeface="Calibri" panose="020F0502020204030204" pitchFamily="34" charset="0"/>
                                    <a:cs typeface="Times New Roman" panose="02020603050405020304" pitchFamily="18" charset="0"/>
                                  </a:rPr>
                                  <m:t>𝑇</m:t>
                                </m:r>
                              </m:e>
                              <m:sub>
                                <m:r>
                                  <a:rPr lang="en-US" i="1">
                                    <a:latin typeface="Cambria Math" panose="02040503050406030204" pitchFamily="18" charset="0"/>
                                    <a:ea typeface="Calibri" panose="020F0502020204030204" pitchFamily="34" charset="0"/>
                                    <a:cs typeface="Times New Roman" panose="02020603050405020304" pitchFamily="18" charset="0"/>
                                  </a:rPr>
                                  <m:t>𝑗</m:t>
                                </m:r>
                              </m:sub>
                              <m:sup>
                                <m:r>
                                  <a:rPr lang="en-US" i="1">
                                    <a:latin typeface="Cambria Math" panose="02040503050406030204" pitchFamily="18" charset="0"/>
                                    <a:ea typeface="Calibri" panose="020F0502020204030204" pitchFamily="34" charset="0"/>
                                    <a:cs typeface="Times New Roman" panose="02020603050405020304" pitchFamily="18" charset="0"/>
                                  </a:rPr>
                                  <m:t>𝑘</m:t>
                                </m:r>
                              </m:sup>
                            </m:sSubSup>
                            <m:r>
                              <a:rPr lang="en-US" i="1">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𝜙</m:t>
                                        </m:r>
                                      </m:e>
                                      <m:sub>
                                        <m:r>
                                          <a:rPr lang="en-US" i="1">
                                            <a:latin typeface="Cambria Math" panose="02040503050406030204" pitchFamily="18" charset="0"/>
                                            <a:ea typeface="Calibri" panose="020F0502020204030204" pitchFamily="34" charset="0"/>
                                            <a:cs typeface="Times New Roman" panose="02020603050405020304" pitchFamily="18" charset="0"/>
                                          </a:rPr>
                                          <m:t>𝑗</m:t>
                                        </m:r>
                                      </m:sub>
                                    </m:sSub>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r>
                                          <a:rPr lang="en-US" i="1">
                                            <a:latin typeface="Cambria Math" panose="02040503050406030204" pitchFamily="18" charset="0"/>
                                            <a:ea typeface="Calibri" panose="020F0502020204030204" pitchFamily="34" charset="0"/>
                                            <a:cs typeface="Times New Roman" panose="02020603050405020304" pitchFamily="18" charset="0"/>
                                          </a:rPr>
                                          <m:t>𝐶</m:t>
                                        </m:r>
                                        <m:sSubSup>
                                          <m:sSubSupPr>
                                            <m:ctrlPr>
                                              <a:rPr lang="en-US" i="1">
                                                <a:latin typeface="Cambria Math" panose="02040503050406030204" pitchFamily="18" charset="0"/>
                                                <a:ea typeface="Calibri" panose="020F0502020204030204" pitchFamily="34" charset="0"/>
                                                <a:cs typeface="Times New Roman" panose="02020603050405020304" pitchFamily="18" charset="0"/>
                                              </a:rPr>
                                            </m:ctrlPr>
                                          </m:sSubSupPr>
                                          <m:e>
                                            <m:r>
                                              <a:rPr lang="en-US" i="1">
                                                <a:latin typeface="Cambria Math" panose="02040503050406030204" pitchFamily="18" charset="0"/>
                                                <a:ea typeface="Calibri" panose="020F0502020204030204" pitchFamily="34" charset="0"/>
                                                <a:cs typeface="Times New Roman" panose="02020603050405020304" pitchFamily="18" charset="0"/>
                                              </a:rPr>
                                              <m:t>𝑇</m:t>
                                            </m:r>
                                          </m:e>
                                          <m:sub>
                                            <m:r>
                                              <a:rPr lang="en-US" i="1">
                                                <a:latin typeface="Cambria Math" panose="02040503050406030204" pitchFamily="18" charset="0"/>
                                                <a:ea typeface="Calibri" panose="020F0502020204030204" pitchFamily="34" charset="0"/>
                                                <a:cs typeface="Times New Roman" panose="02020603050405020304" pitchFamily="18" charset="0"/>
                                              </a:rPr>
                                              <m:t>𝑗</m:t>
                                            </m:r>
                                          </m:sub>
                                          <m:sup>
                                            <m:r>
                                              <a:rPr lang="en-US" i="1">
                                                <a:latin typeface="Cambria Math" panose="02040503050406030204" pitchFamily="18" charset="0"/>
                                                <a:ea typeface="Calibri" panose="020F0502020204030204" pitchFamily="34" charset="0"/>
                                                <a:cs typeface="Times New Roman" panose="02020603050405020304" pitchFamily="18" charset="0"/>
                                              </a:rPr>
                                              <m:t>𝑘</m:t>
                                            </m:r>
                                          </m:sup>
                                        </m:sSubSup>
                                      </m:e>
                                    </m:d>
                                  </m:e>
                                </m:d>
                              </m:e>
                              <m:sup>
                                <m:r>
                                  <a:rPr lang="en-US" i="1">
                                    <a:latin typeface="Cambria Math" panose="02040503050406030204" pitchFamily="18" charset="0"/>
                                    <a:ea typeface="Calibri" panose="020F0502020204030204" pitchFamily="34" charset="0"/>
                                    <a:cs typeface="Times New Roman" panose="02020603050405020304" pitchFamily="18" charset="0"/>
                                  </a:rPr>
                                  <m:t>𝑇</m:t>
                                </m:r>
                              </m:sup>
                            </m:sSup>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r>
                                  <a:rPr lang="en-US" i="1">
                                    <a:latin typeface="Cambria Math" panose="02040503050406030204" pitchFamily="18" charset="0"/>
                                    <a:ea typeface="Calibri" panose="020F0502020204030204" pitchFamily="34" charset="0"/>
                                    <a:cs typeface="Times New Roman" panose="02020603050405020304" pitchFamily="18" charset="0"/>
                                  </a:rPr>
                                  <m:t>𝐶</m:t>
                                </m:r>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𝑇</m:t>
                                    </m:r>
                                  </m:e>
                                  <m:sub>
                                    <m:r>
                                      <a:rPr lang="en-US" i="1">
                                        <a:latin typeface="Cambria Math" panose="02040503050406030204" pitchFamily="18" charset="0"/>
                                        <a:ea typeface="Calibri" panose="020F0502020204030204" pitchFamily="34" charset="0"/>
                                        <a:cs typeface="Times New Roman" panose="02020603050405020304" pitchFamily="18" charset="0"/>
                                      </a:rPr>
                                      <m:t>𝑗</m:t>
                                    </m:r>
                                  </m:sub>
                                </m:sSub>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𝐶</m:t>
                                </m:r>
                                <m:sSubSup>
                                  <m:sSubSupPr>
                                    <m:ctrlPr>
                                      <a:rPr lang="en-US" i="1">
                                        <a:latin typeface="Cambria Math" panose="02040503050406030204" pitchFamily="18" charset="0"/>
                                        <a:ea typeface="Calibri" panose="020F0502020204030204" pitchFamily="34" charset="0"/>
                                        <a:cs typeface="Times New Roman" panose="02020603050405020304" pitchFamily="18" charset="0"/>
                                      </a:rPr>
                                    </m:ctrlPr>
                                  </m:sSubSupPr>
                                  <m:e>
                                    <m:r>
                                      <a:rPr lang="en-US" i="1">
                                        <a:latin typeface="Cambria Math" panose="02040503050406030204" pitchFamily="18" charset="0"/>
                                        <a:ea typeface="Calibri" panose="020F0502020204030204" pitchFamily="34" charset="0"/>
                                        <a:cs typeface="Times New Roman" panose="02020603050405020304" pitchFamily="18" charset="0"/>
                                      </a:rPr>
                                      <m:t>𝑇</m:t>
                                    </m:r>
                                  </m:e>
                                  <m:sub>
                                    <m:r>
                                      <a:rPr lang="en-US" i="1">
                                        <a:latin typeface="Cambria Math" panose="02040503050406030204" pitchFamily="18" charset="0"/>
                                        <a:ea typeface="Calibri" panose="020F0502020204030204" pitchFamily="34" charset="0"/>
                                        <a:cs typeface="Times New Roman" panose="02020603050405020304" pitchFamily="18" charset="0"/>
                                      </a:rPr>
                                      <m:t>𝑗</m:t>
                                    </m:r>
                                  </m:sub>
                                  <m:sup>
                                    <m:r>
                                      <a:rPr lang="en-US" i="1">
                                        <a:latin typeface="Cambria Math" panose="02040503050406030204" pitchFamily="18" charset="0"/>
                                        <a:ea typeface="Calibri" panose="020F0502020204030204" pitchFamily="34" charset="0"/>
                                        <a:cs typeface="Times New Roman" panose="02020603050405020304" pitchFamily="18" charset="0"/>
                                      </a:rPr>
                                      <m:t>𝑘</m:t>
                                    </m:r>
                                  </m:sup>
                                </m:sSubSup>
                              </m:e>
                            </m:d>
                            <m:r>
                              <a:rPr lang="en-US" b="0" i="1" smtClean="0">
                                <a:latin typeface="Cambria Math" panose="02040503050406030204" pitchFamily="18" charset="0"/>
                                <a:ea typeface="Calibri" panose="020F0502020204030204" pitchFamily="34" charset="0"/>
                                <a:cs typeface="Times New Roman" panose="02020603050405020304" pitchFamily="18" charset="0"/>
                              </a:rPr>
                              <m:t>]</m:t>
                            </m:r>
                          </m:e>
                        </m:mr>
                        <m:mr>
                          <m:e/>
                          <m:e>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s</m:t>
                            </m:r>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m:t>
                            </m:r>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t</m:t>
                            </m:r>
                            <m:r>
                              <m:rPr>
                                <m:nor/>
                              </m:rPr>
                              <a:rPr lang="en-US" i="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m:t>.</m:t>
                            </m:r>
                          </m:e>
                          <m:e/>
                          <m:e>
                            <m:r>
                              <a:rPr lang="en-US" i="1">
                                <a:latin typeface="Cambria Math" panose="02040503050406030204" pitchFamily="18" charset="0"/>
                                <a:sym typeface="Microsoft YaHei" panose="020B0503020204020204" pitchFamily="34" charset="-122"/>
                              </a:rPr>
                              <m:t>𝐶</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𝐿</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b="0" i="1" smtClean="0">
                                <a:latin typeface="Cambria Math" panose="02040503050406030204" pitchFamily="18" charset="0"/>
                                <a:sym typeface="Microsoft YaHei" panose="020B0503020204020204" pitchFamily="34" charset="-122"/>
                              </a:rPr>
                              <m:t>𝑁</m:t>
                            </m:r>
                          </m:e>
                        </m:mr>
                        <m:mr>
                          <m:e/>
                          <m:e/>
                          <m:e/>
                          <m:e>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𝑖</m:t>
                                </m:r>
                              </m:sub>
                            </m:sSub>
                            <m:r>
                              <a:rPr lang="en-US" i="0">
                                <a:latin typeface="Cambria Math" panose="02040503050406030204" pitchFamily="18" charset="0"/>
                                <a:sym typeface="Microsoft YaHei" panose="020B0503020204020204" pitchFamily="34" charset="-122"/>
                              </a:rPr>
                              <m:t>≥0,∀(</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𝑖</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𝐴</m:t>
                            </m:r>
                          </m:e>
                        </m:mr>
                        <m:mr>
                          <m:e/>
                          <m:e/>
                          <m:e/>
                          <m:e>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𝑠</m:t>
                                </m:r>
                                <m:r>
                                  <a:rPr lang="en-US" b="0" i="1" smtClean="0">
                                    <a:latin typeface="Cambria Math" panose="02040503050406030204" pitchFamily="18" charset="0"/>
                                    <a:sym typeface="Microsoft YaHei" panose="020B0503020204020204" pitchFamily="34" charset="-122"/>
                                  </a:rPr>
                                  <m:t>𝑙𝑎</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𝐸</m:t>
                            </m:r>
                          </m:e>
                        </m:mr>
                        <m:mr>
                          <m:e/>
                          <m:e/>
                          <m:e/>
                          <m:e>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𝑆</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𝑆</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𝐼</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𝐶</m:t>
                            </m:r>
                            <m:sSub>
                              <m:sSubPr>
                                <m:ctrlPr>
                                  <a:rPr lang="en-US" i="1">
                                    <a:latin typeface="Cambria Math" panose="02040503050406030204" pitchFamily="18" charset="0"/>
                                    <a:sym typeface="Microsoft YaHei" panose="020B0503020204020204" pitchFamily="34" charset="-122"/>
                                  </a:rPr>
                                </m:ctrlPr>
                              </m:sSubPr>
                              <m:e>
                                <m:r>
                                  <a:rPr lang="en-US" i="1">
                                    <a:latin typeface="Cambria Math" panose="02040503050406030204" pitchFamily="18" charset="0"/>
                                    <a:sym typeface="Microsoft YaHei" panose="020B0503020204020204" pitchFamily="34" charset="-122"/>
                                  </a:rPr>
                                  <m:t>𝑇</m:t>
                                </m:r>
                              </m:e>
                              <m:sub>
                                <m:r>
                                  <a:rPr lang="en-US" i="1">
                                    <a:latin typeface="Cambria Math" panose="02040503050406030204" pitchFamily="18" charset="0"/>
                                    <a:sym typeface="Microsoft YaHei" panose="020B0503020204020204" pitchFamily="34" charset="-122"/>
                                  </a:rPr>
                                  <m:t>𝑗</m:t>
                                </m:r>
                              </m:sub>
                            </m:sSub>
                            <m:r>
                              <a:rPr lang="en-US" i="0">
                                <a:latin typeface="Cambria Math" panose="02040503050406030204" pitchFamily="18" charset="0"/>
                                <a:sym typeface="Microsoft YaHei" panose="020B0503020204020204" pitchFamily="34" charset="-122"/>
                              </a:rPr>
                              <m:t>≥0,∀</m:t>
                            </m:r>
                            <m:r>
                              <a:rPr lang="en-US" i="1">
                                <a:latin typeface="Cambria Math" panose="02040503050406030204" pitchFamily="18" charset="0"/>
                                <a:sym typeface="Microsoft YaHei" panose="020B0503020204020204" pitchFamily="34" charset="-122"/>
                              </a:rPr>
                              <m:t>𝑗</m:t>
                            </m:r>
                            <m:r>
                              <a:rPr lang="en-US" i="0">
                                <a:latin typeface="Cambria Math" panose="02040503050406030204" pitchFamily="18" charset="0"/>
                                <a:sym typeface="Microsoft YaHei" panose="020B0503020204020204" pitchFamily="34" charset="-122"/>
                              </a:rPr>
                              <m:t>∈</m:t>
                            </m:r>
                            <m:r>
                              <a:rPr lang="en-US" i="1">
                                <a:latin typeface="Cambria Math" panose="02040503050406030204" pitchFamily="18" charset="0"/>
                                <a:sym typeface="Microsoft YaHei" panose="020B0503020204020204" pitchFamily="34" charset="-122"/>
                              </a:rPr>
                              <m:t>𝑁</m:t>
                            </m:r>
                          </m:e>
                        </m:mr>
                      </m:m>
                      <m:r>
                        <a:rPr lang="en-US" i="0">
                          <a:latin typeface="Cambria Math" panose="02040503050406030204" pitchFamily="18" charset="0"/>
                          <a:sym typeface="Microsoft YaHei" panose="020B0503020204020204" pitchFamily="34" charset="-122"/>
                        </a:rPr>
                        <m:t> </m:t>
                      </m:r>
                    </m:oMath>
                  </m:oMathPara>
                </a14:m>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mc:Choice>
        <mc:Fallback xmlns="">
          <p:sp>
            <p:nvSpPr>
              <p:cNvPr id="11" name="矩形 7">
                <a:extLst>
                  <a:ext uri="{FF2B5EF4-FFF2-40B4-BE49-F238E27FC236}">
                    <a16:creationId xmlns:a16="http://schemas.microsoft.com/office/drawing/2014/main" id="{BABB63BB-DCE6-A940-8CD9-7CC0CA884F51}"/>
                  </a:ext>
                </a:extLst>
              </p:cNvPr>
              <p:cNvSpPr>
                <a:spLocks noRot="1" noChangeAspect="1" noMove="1" noResize="1" noEditPoints="1" noAdjustHandles="1" noChangeArrowheads="1" noChangeShapeType="1" noTextEdit="1"/>
              </p:cNvSpPr>
              <p:nvPr/>
            </p:nvSpPr>
            <p:spPr>
              <a:xfrm>
                <a:off x="3110151" y="3996557"/>
                <a:ext cx="5971698" cy="2051524"/>
              </a:xfrm>
              <a:prstGeom prst="rect">
                <a:avLst/>
              </a:prstGeom>
              <a:blipFill>
                <a:blip r:embed="rId4"/>
                <a:stretch>
                  <a:fillRect t="-45399" b="-1840"/>
                </a:stretch>
              </a:blipFill>
            </p:spPr>
            <p:txBody>
              <a:bodyPr/>
              <a:lstStyle/>
              <a:p>
                <a:r>
                  <a:rPr lang="en-US">
                    <a:noFill/>
                  </a:rPr>
                  <a:t> </a:t>
                </a:r>
              </a:p>
            </p:txBody>
          </p:sp>
        </mc:Fallback>
      </mc:AlternateContent>
    </p:spTree>
    <p:extLst>
      <p:ext uri="{BB962C8B-B14F-4D97-AF65-F5344CB8AC3E}">
        <p14:creationId xmlns:p14="http://schemas.microsoft.com/office/powerpoint/2010/main" val="3747478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472169-0D1C-444D-ACD8-70F835A19833}"/>
              </a:ext>
            </a:extLst>
          </p:cNvPr>
          <p:cNvSpPr>
            <a:spLocks noGrp="1"/>
          </p:cNvSpPr>
          <p:nvPr>
            <p:ph type="title"/>
          </p:nvPr>
        </p:nvSpPr>
        <p:spPr/>
        <p:txBody>
          <a:bodyPr vert="horz" lIns="91440" tIns="45720" rIns="91440" bIns="45720" rtlCol="0"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承诺服务模型的求解</a:t>
            </a:r>
            <a:endParaRPr lang="en-US" sz="2000"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3" name="矩形 2">
            <a:extLst>
              <a:ext uri="{FF2B5EF4-FFF2-40B4-BE49-F238E27FC236}">
                <a16:creationId xmlns:a16="http://schemas.microsoft.com/office/drawing/2014/main" id="{4DB31E7E-6ABC-4238-A52F-2E2149EDB6A6}"/>
              </a:ext>
            </a:extLst>
          </p:cNvPr>
          <p:cNvSpPr/>
          <p:nvPr/>
        </p:nvSpPr>
        <p:spPr>
          <a:xfrm>
            <a:off x="260815" y="1058813"/>
            <a:ext cx="11618184" cy="5167890"/>
          </a:xfrm>
          <a:prstGeom prst="rect">
            <a:avLst/>
          </a:prstGeom>
        </p:spPr>
        <p:txBody>
          <a:bodyPr wrap="square">
            <a:spAutoFit/>
          </a:bodyPr>
          <a:lstStyle/>
          <a:p>
            <a:pPr marL="285750" indent="-285750" algn="just">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求解方法</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1</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调用非线性求解器直接求解</a:t>
            </a: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gn="just">
              <a:lnSpc>
                <a:spcPct val="200000"/>
              </a:lnSpc>
              <a:buFont typeface="Arial" panose="020B0604020202020204" pitchFamily="34" charset="0"/>
              <a:buChar char="•"/>
            </a:pP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gn="just">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求解方法</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2</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：动态规划算法</a:t>
            </a: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algn="just">
              <a:lnSpc>
                <a:spcPct val="200000"/>
              </a:lnSpc>
            </a:pP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gn="just">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求解方法</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3: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使用分段线性函数将原问题转化成混合整数规划问题进行求解</a:t>
            </a: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gn="just">
              <a:lnSpc>
                <a:spcPct val="20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gn="just">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我们的方法</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基于序列线性规划的近似算法</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r>
              <a:rPr lang="en-US" dirty="0">
                <a:solidFill>
                  <a:srgbClr val="9D294A"/>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boosted by COPT</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a:t>
            </a:r>
          </a:p>
          <a:p>
            <a:pPr marL="285750" indent="-285750" algn="just">
              <a:lnSpc>
                <a:spcPct val="15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gn="just">
              <a:lnSpc>
                <a:spcPct val="15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gn="just">
              <a:lnSpc>
                <a:spcPct val="150000"/>
              </a:lnSpc>
              <a:buFont typeface="Arial" panose="020B0604020202020204" pitchFamily="34" charset="0"/>
              <a:buChar char="•"/>
            </a:pP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4" name="矩形 3">
            <a:extLst>
              <a:ext uri="{FF2B5EF4-FFF2-40B4-BE49-F238E27FC236}">
                <a16:creationId xmlns:a16="http://schemas.microsoft.com/office/drawing/2014/main" id="{AC3E3B94-E16E-41B9-9DD3-F302AB926B18}"/>
              </a:ext>
            </a:extLst>
          </p:cNvPr>
          <p:cNvSpPr/>
          <p:nvPr/>
        </p:nvSpPr>
        <p:spPr>
          <a:xfrm>
            <a:off x="545075" y="3919404"/>
            <a:ext cx="4825360" cy="458908"/>
          </a:xfrm>
          <a:prstGeom prst="rect">
            <a:avLst/>
          </a:prstGeom>
        </p:spPr>
        <p:txBody>
          <a:bodyPr wrap="none">
            <a:spAutoFit/>
          </a:bodyPr>
          <a:lstStyle/>
          <a:p>
            <a:pPr algn="just">
              <a:lnSpc>
                <a:spcPct val="150000"/>
              </a:lnSpc>
            </a:pPr>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会添加大量整数变量 </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a:t>
            </a:r>
            <a:r>
              <a:rPr lang="en-US" dirty="0" err="1">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Magnanti</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et al. 2006)</a:t>
            </a:r>
            <a:r>
              <a:rPr lang="en-US" dirty="0">
                <a:solidFill>
                  <a:srgbClr val="0B73E7"/>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p>
        </p:txBody>
      </p:sp>
      <p:sp>
        <p:nvSpPr>
          <p:cNvPr id="5" name="矩形 4">
            <a:extLst>
              <a:ext uri="{FF2B5EF4-FFF2-40B4-BE49-F238E27FC236}">
                <a16:creationId xmlns:a16="http://schemas.microsoft.com/office/drawing/2014/main" id="{723B57F8-E226-47C2-9B0E-84E86FDC19E8}"/>
              </a:ext>
            </a:extLst>
          </p:cNvPr>
          <p:cNvSpPr/>
          <p:nvPr/>
        </p:nvSpPr>
        <p:spPr>
          <a:xfrm>
            <a:off x="545075" y="2811323"/>
            <a:ext cx="11449935" cy="458908"/>
          </a:xfrm>
          <a:prstGeom prst="rect">
            <a:avLst/>
          </a:prstGeom>
        </p:spPr>
        <p:txBody>
          <a:bodyPr wrap="square">
            <a:spAutoFit/>
          </a:bodyPr>
          <a:lstStyle/>
          <a:p>
            <a:pPr algn="just">
              <a:lnSpc>
                <a:spcPct val="150000"/>
              </a:lnSpc>
            </a:pPr>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不可行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文献中最好的算法求解一个</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2000</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个节点的问题需要花费</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1200</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小时 </a:t>
            </a:r>
            <a:r>
              <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(Humair and Willems, 2011)</a:t>
            </a:r>
            <a:r>
              <a:rPr lang="en-US" dirty="0">
                <a:solidFill>
                  <a:schemeClr val="accent3">
                    <a:lumMod val="50000"/>
                  </a:schemeClr>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  </a:t>
            </a:r>
          </a:p>
        </p:txBody>
      </p:sp>
      <p:sp>
        <p:nvSpPr>
          <p:cNvPr id="6" name="文本框 5">
            <a:extLst>
              <a:ext uri="{FF2B5EF4-FFF2-40B4-BE49-F238E27FC236}">
                <a16:creationId xmlns:a16="http://schemas.microsoft.com/office/drawing/2014/main" id="{F2BD3614-C9D5-4009-887F-8BFACE954AE0}"/>
              </a:ext>
            </a:extLst>
          </p:cNvPr>
          <p:cNvSpPr txBox="1"/>
          <p:nvPr/>
        </p:nvSpPr>
        <p:spPr>
          <a:xfrm>
            <a:off x="545075" y="5120052"/>
            <a:ext cx="8339667" cy="874407"/>
          </a:xfrm>
          <a:prstGeom prst="rect">
            <a:avLst/>
          </a:prstGeom>
          <a:noFill/>
        </p:spPr>
        <p:txBody>
          <a:bodyPr wrap="square" rtlCol="0">
            <a:spAutoFit/>
          </a:bodyPr>
          <a:lstStyle/>
          <a:p>
            <a:pPr>
              <a:lnSpc>
                <a:spcPct val="150000"/>
              </a:lnSpc>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利用</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COPT</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，数万个节点的问题可以在</a:t>
            </a:r>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几分钟</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内求解完成</a:t>
            </a: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a:lnSpc>
                <a:spcPct val="150000"/>
              </a:lnSpc>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与方法</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3</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相比，我们的方法得到的结果可以降低近亿元料本</a:t>
            </a: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
        <p:nvSpPr>
          <p:cNvPr id="8" name="矩形 7">
            <a:extLst>
              <a:ext uri="{FF2B5EF4-FFF2-40B4-BE49-F238E27FC236}">
                <a16:creationId xmlns:a16="http://schemas.microsoft.com/office/drawing/2014/main" id="{F73DD6CF-BB88-4513-A61E-755F4246414E}"/>
              </a:ext>
            </a:extLst>
          </p:cNvPr>
          <p:cNvSpPr/>
          <p:nvPr/>
        </p:nvSpPr>
        <p:spPr>
          <a:xfrm>
            <a:off x="545075" y="1750402"/>
            <a:ext cx="5562741" cy="369332"/>
          </a:xfrm>
          <a:prstGeom prst="rect">
            <a:avLst/>
          </a:prstGeom>
        </p:spPr>
        <p:txBody>
          <a:bodyPr wrap="none">
            <a:spAutoFit/>
          </a:bodyPr>
          <a:lstStyle/>
          <a:p>
            <a:r>
              <a:rPr lang="zh-CN" altLang="en-US" dirty="0">
                <a:solidFill>
                  <a:srgbClr val="852432"/>
                </a:solidFill>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不可行 </a:t>
            </a: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现有非凸优化求解器无法求解如此大规模问题</a:t>
            </a: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spTree>
    <p:extLst>
      <p:ext uri="{BB962C8B-B14F-4D97-AF65-F5344CB8AC3E}">
        <p14:creationId xmlns:p14="http://schemas.microsoft.com/office/powerpoint/2010/main" val="1625822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026DB6-CC15-40E7-8CEB-69A297C95721}"/>
              </a:ext>
            </a:extLst>
          </p:cNvPr>
          <p:cNvSpPr>
            <a:spLocks noGrp="1"/>
          </p:cNvSpPr>
          <p:nvPr>
            <p:ph type="title"/>
          </p:nvPr>
        </p:nvSpPr>
        <p:spPr/>
        <p:txBody>
          <a:bodyPr vert="horz" wrap="square" lIns="91440" tIns="45720" rIns="91440" bIns="45720" rtlCol="0" anchor="ctr">
            <a:noAutofit/>
          </a:bodyPr>
          <a:lstStyle/>
          <a:p>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rPr>
              <a:t>效果</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endParaRPr>
          </a:p>
        </p:txBody>
      </p:sp>
      <p:sp>
        <p:nvSpPr>
          <p:cNvPr id="5" name="文本框 4">
            <a:extLst>
              <a:ext uri="{FF2B5EF4-FFF2-40B4-BE49-F238E27FC236}">
                <a16:creationId xmlns:a16="http://schemas.microsoft.com/office/drawing/2014/main" id="{D3D113D0-180B-4CEF-9320-454A58D71706}"/>
              </a:ext>
            </a:extLst>
          </p:cNvPr>
          <p:cNvSpPr txBox="1"/>
          <p:nvPr/>
        </p:nvSpPr>
        <p:spPr>
          <a:xfrm>
            <a:off x="412683" y="1070477"/>
            <a:ext cx="10318337" cy="258532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通过分析网络，我们找到网络中的关键节点，从关键节点处将网络解耦，降低了问题的复杂性</a:t>
            </a:r>
            <a:endPar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我们的全局优化算法将安全库存总成本降低了</a:t>
            </a:r>
            <a:r>
              <a:rPr lang="en-US" altLang="zh-CN"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15%</a:t>
            </a:r>
          </a:p>
          <a:p>
            <a:pPr marL="285750" indent="-285750">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rPr>
              <a:t>算法可在几分钟内完成求解，并且提供了可解释性工具、局部灵敏度工具快速响应业务场景变化</a:t>
            </a: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a:p>
            <a:pPr marL="285750" indent="-285750">
              <a:lnSpc>
                <a:spcPct val="200000"/>
              </a:lnSpc>
              <a:buFont typeface="Arial" panose="020B0604020202020204" pitchFamily="34" charset="0"/>
              <a:buChar char="•"/>
            </a:pPr>
            <a:r>
              <a:rPr lang="zh-CN" altLang="en-US" dirty="0">
                <a:latin typeface="Microsoft YaHei" panose="020B0503020204020204" pitchFamily="34" charset="-122"/>
                <a:ea typeface="微软雅黑" panose="020B0503020204020204" pitchFamily="34" charset="-122"/>
                <a:cs typeface="+mn-ea"/>
                <a:sym typeface="Microsoft YaHei" panose="020B0503020204020204" pitchFamily="34" charset="-122"/>
              </a:rPr>
              <a:t>企业已完成系统开发，正在对业务人员进行使用培训</a:t>
            </a:r>
          </a:p>
          <a:p>
            <a:pPr marL="285750" indent="-285750">
              <a:buFont typeface="Arial" panose="020B0604020202020204" pitchFamily="34" charset="0"/>
              <a:buChar char="•"/>
            </a:pPr>
            <a:endParaRPr lang="en-US" dirty="0">
              <a:latin typeface="Microsoft YaHei" panose="020B0503020204020204" pitchFamily="34" charset="-122"/>
              <a:ea typeface="微软雅黑" panose="020B0503020204020204" pitchFamily="34" charset="-122"/>
              <a:cs typeface="Calibri" panose="020F0502020204030204" pitchFamily="34" charset="0"/>
              <a:sym typeface="Microsoft YaHei" panose="020B0503020204020204" pitchFamily="34" charset="-122"/>
            </a:endParaRPr>
          </a:p>
        </p:txBody>
      </p:sp>
      <p:graphicFrame>
        <p:nvGraphicFramePr>
          <p:cNvPr id="6" name="表格 5">
            <a:extLst>
              <a:ext uri="{FF2B5EF4-FFF2-40B4-BE49-F238E27FC236}">
                <a16:creationId xmlns:a16="http://schemas.microsoft.com/office/drawing/2014/main" id="{156E3F93-CE61-400C-A73A-9D7238D71A05}"/>
              </a:ext>
            </a:extLst>
          </p:cNvPr>
          <p:cNvGraphicFramePr>
            <a:graphicFrameLocks noGrp="1"/>
          </p:cNvGraphicFramePr>
          <p:nvPr/>
        </p:nvGraphicFramePr>
        <p:xfrm>
          <a:off x="412683" y="4469461"/>
          <a:ext cx="11096558" cy="954941"/>
        </p:xfrm>
        <a:graphic>
          <a:graphicData uri="http://schemas.openxmlformats.org/drawingml/2006/table">
            <a:tbl>
              <a:tblPr firstRow="1" firstCol="1" bandRow="1">
                <a:tableStyleId>{5C22544A-7EE6-4342-B048-85BDC9FD1C3A}</a:tableStyleId>
              </a:tblPr>
              <a:tblGrid>
                <a:gridCol w="1972541">
                  <a:extLst>
                    <a:ext uri="{9D8B030D-6E8A-4147-A177-3AD203B41FA5}">
                      <a16:colId xmlns:a16="http://schemas.microsoft.com/office/drawing/2014/main" val="2854581120"/>
                    </a:ext>
                  </a:extLst>
                </a:gridCol>
                <a:gridCol w="1572798">
                  <a:extLst>
                    <a:ext uri="{9D8B030D-6E8A-4147-A177-3AD203B41FA5}">
                      <a16:colId xmlns:a16="http://schemas.microsoft.com/office/drawing/2014/main" val="3103853157"/>
                    </a:ext>
                  </a:extLst>
                </a:gridCol>
                <a:gridCol w="1690571">
                  <a:extLst>
                    <a:ext uri="{9D8B030D-6E8A-4147-A177-3AD203B41FA5}">
                      <a16:colId xmlns:a16="http://schemas.microsoft.com/office/drawing/2014/main" val="3924356727"/>
                    </a:ext>
                  </a:extLst>
                </a:gridCol>
                <a:gridCol w="1239753">
                  <a:extLst>
                    <a:ext uri="{9D8B030D-6E8A-4147-A177-3AD203B41FA5}">
                      <a16:colId xmlns:a16="http://schemas.microsoft.com/office/drawing/2014/main" val="2336901594"/>
                    </a:ext>
                  </a:extLst>
                </a:gridCol>
                <a:gridCol w="1690571">
                  <a:extLst>
                    <a:ext uri="{9D8B030D-6E8A-4147-A177-3AD203B41FA5}">
                      <a16:colId xmlns:a16="http://schemas.microsoft.com/office/drawing/2014/main" val="153146395"/>
                    </a:ext>
                  </a:extLst>
                </a:gridCol>
                <a:gridCol w="1239753">
                  <a:extLst>
                    <a:ext uri="{9D8B030D-6E8A-4147-A177-3AD203B41FA5}">
                      <a16:colId xmlns:a16="http://schemas.microsoft.com/office/drawing/2014/main" val="2123630327"/>
                    </a:ext>
                  </a:extLst>
                </a:gridCol>
                <a:gridCol w="1690571">
                  <a:extLst>
                    <a:ext uri="{9D8B030D-6E8A-4147-A177-3AD203B41FA5}">
                      <a16:colId xmlns:a16="http://schemas.microsoft.com/office/drawing/2014/main" val="2897949198"/>
                    </a:ext>
                  </a:extLst>
                </a:gridCol>
              </a:tblGrid>
              <a:tr h="367469">
                <a:tc rowSpan="3">
                  <a:txBody>
                    <a:bodyPr/>
                    <a:lstStyle/>
                    <a:p>
                      <a:pPr algn="ctr"/>
                      <a:endParaRPr lang="en-US" altLang="zh-CN" sz="700" b="0" dirty="0">
                        <a:effectLst/>
                        <a:latin typeface="Microsoft YaHei" panose="020B0503020204020204" pitchFamily="34" charset="-122"/>
                        <a:ea typeface="微软雅黑" panose="020B0503020204020204" pitchFamily="34" charset="-122"/>
                        <a:sym typeface="Microsoft YaHei" panose="020B0503020204020204" pitchFamily="34" charset="-122"/>
                      </a:endParaRPr>
                    </a:p>
                    <a:p>
                      <a:pPr algn="ctr"/>
                      <a:r>
                        <a:rPr lang="zh-CN" altLang="en-US" sz="1600" b="0" dirty="0">
                          <a:effectLst/>
                          <a:latin typeface="Microsoft YaHei" panose="020B0503020204020204" pitchFamily="34" charset="-122"/>
                          <a:ea typeface="微软雅黑" panose="020B0503020204020204" pitchFamily="34" charset="-122"/>
                          <a:sym typeface="Microsoft YaHei" panose="020B0503020204020204" pitchFamily="34" charset="-122"/>
                        </a:rPr>
                        <a:t>成本节约近</a:t>
                      </a:r>
                      <a:r>
                        <a:rPr lang="en-US" altLang="zh-CN" sz="1600" b="0" dirty="0">
                          <a:effectLst/>
                          <a:latin typeface="Microsoft YaHei" panose="020B0503020204020204" pitchFamily="34" charset="-122"/>
                          <a:ea typeface="微软雅黑" panose="020B0503020204020204" pitchFamily="34" charset="-122"/>
                          <a:sym typeface="Microsoft YaHei" panose="020B0503020204020204" pitchFamily="34" charset="-122"/>
                        </a:rPr>
                        <a:t>15%</a:t>
                      </a:r>
                      <a:endParaRPr lang="en-US" sz="16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nchor="ctr">
                    <a:solidFill>
                      <a:srgbClr val="811C21"/>
                    </a:solidFill>
                  </a:tcPr>
                </a:tc>
                <a:tc gridSpan="2">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总</a:t>
                      </a:r>
                      <a:r>
                        <a:rPr lang="en-US" sz="1400" b="0" dirty="0" err="1">
                          <a:effectLst/>
                          <a:latin typeface="Microsoft YaHei" panose="020B0503020204020204" pitchFamily="34" charset="-122"/>
                          <a:ea typeface="微软雅黑" panose="020B0503020204020204" pitchFamily="34" charset="-122"/>
                          <a:sym typeface="Microsoft YaHei" panose="020B0503020204020204" pitchFamily="34" charset="-122"/>
                        </a:rPr>
                        <a:t>sla</a:t>
                      </a: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内满足率</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solidFill>
                      <a:srgbClr val="811C21"/>
                    </a:solidFill>
                  </a:tcPr>
                </a:tc>
                <a:tc hMerge="1">
                  <a:txBody>
                    <a:bodyPr/>
                    <a:lstStyle/>
                    <a:p>
                      <a:endParaRPr lang="en-US"/>
                    </a:p>
                  </a:txBody>
                  <a:tcPr/>
                </a:tc>
                <a:tc gridSpan="2">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缺货编码</a:t>
                      </a:r>
                      <a:r>
                        <a:rPr lang="en-US" sz="1400" b="0" dirty="0" err="1">
                          <a:effectLst/>
                          <a:latin typeface="Microsoft YaHei" panose="020B0503020204020204" pitchFamily="34" charset="-122"/>
                          <a:ea typeface="微软雅黑" panose="020B0503020204020204" pitchFamily="34" charset="-122"/>
                          <a:sym typeface="Microsoft YaHei" panose="020B0503020204020204" pitchFamily="34" charset="-122"/>
                        </a:rPr>
                        <a:t>sla</a:t>
                      </a: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内满足率</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solidFill>
                      <a:srgbClr val="811C21"/>
                    </a:solidFill>
                  </a:tcPr>
                </a:tc>
                <a:tc hMerge="1">
                  <a:txBody>
                    <a:bodyPr/>
                    <a:lstStyle/>
                    <a:p>
                      <a:endParaRPr lang="en-US"/>
                    </a:p>
                  </a:txBody>
                  <a:tcPr/>
                </a:tc>
                <a:tc gridSpan="2">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安全库存击穿率</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solidFill>
                      <a:srgbClr val="811C21"/>
                    </a:solidFill>
                  </a:tcPr>
                </a:tc>
                <a:tc hMerge="1">
                  <a:txBody>
                    <a:bodyPr/>
                    <a:lstStyle/>
                    <a:p>
                      <a:endParaRPr lang="en-US"/>
                    </a:p>
                  </a:txBody>
                  <a:tcPr/>
                </a:tc>
                <a:extLst>
                  <a:ext uri="{0D108BD9-81ED-4DB2-BD59-A6C34878D82A}">
                    <a16:rowId xmlns:a16="http://schemas.microsoft.com/office/drawing/2014/main" val="3739391554"/>
                  </a:ext>
                </a:extLst>
              </a:tr>
              <a:tr h="293736">
                <a:tc vMerge="1">
                  <a:txBody>
                    <a:bodyPr/>
                    <a:lstStyle/>
                    <a:p>
                      <a:pPr algn="ctr"/>
                      <a:endParaRPr lang="en-US" sz="1200" dirty="0">
                        <a:effectLst/>
                        <a:latin typeface="Cambria" panose="02040503050406030204" pitchFamily="18" charset="0"/>
                      </a:endParaRPr>
                    </a:p>
                  </a:txBody>
                  <a:tcPr marL="68580" marR="68580" marT="0" marB="0"/>
                </a:tc>
                <a:tc>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计划策略</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安全库存策略</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计划策略</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安全库存策略</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计划策略</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安全库存策略</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extLst>
                  <a:ext uri="{0D108BD9-81ED-4DB2-BD59-A6C34878D82A}">
                    <a16:rowId xmlns:a16="http://schemas.microsoft.com/office/drawing/2014/main" val="3613424171"/>
                  </a:ext>
                </a:extLst>
              </a:tr>
              <a:tr h="293736">
                <a:tc vMerge="1">
                  <a:txBody>
                    <a:bodyPr/>
                    <a:lstStyle/>
                    <a:p>
                      <a:pPr marL="0" marR="0" algn="ctr">
                        <a:lnSpc>
                          <a:spcPct val="150000"/>
                        </a:lnSpc>
                        <a:spcBef>
                          <a:spcPts val="0"/>
                        </a:spcBef>
                        <a:spcAft>
                          <a:spcPts val="0"/>
                        </a:spcAft>
                      </a:pPr>
                      <a:endParaRPr lang="en-US" sz="120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nchor="ctr">
                    <a:solidFill>
                      <a:srgbClr val="811C21"/>
                    </a:solidFill>
                  </a:tcPr>
                </a:tc>
                <a:tc>
                  <a:txBody>
                    <a:bodyPr/>
                    <a:lstStyle/>
                    <a:p>
                      <a:pPr marL="0" marR="0" algn="ctr">
                        <a:lnSpc>
                          <a:spcPct val="150000"/>
                        </a:lnSpc>
                        <a:spcBef>
                          <a:spcPts val="0"/>
                        </a:spcBef>
                        <a:spcAft>
                          <a:spcPts val="0"/>
                        </a:spcAft>
                      </a:pPr>
                      <a:r>
                        <a:rPr lang="en-US" sz="1400" b="0" dirty="0">
                          <a:effectLst/>
                          <a:latin typeface="Microsoft YaHei" panose="020B0503020204020204" pitchFamily="34" charset="-122"/>
                          <a:ea typeface="微软雅黑" panose="020B0503020204020204" pitchFamily="34" charset="-122"/>
                          <a:sym typeface="Microsoft YaHei" panose="020B0503020204020204" pitchFamily="34" charset="-122"/>
                        </a:rPr>
                        <a:t>82.63</a:t>
                      </a:r>
                      <a:r>
                        <a:rPr lang="en-US" alt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en-US" sz="1400" b="0" dirty="0">
                          <a:effectLst/>
                          <a:latin typeface="Microsoft YaHei" panose="020B0503020204020204" pitchFamily="34" charset="-122"/>
                          <a:ea typeface="微软雅黑" panose="020B0503020204020204" pitchFamily="34" charset="-122"/>
                          <a:sym typeface="Microsoft YaHei" panose="020B0503020204020204" pitchFamily="34" charset="-122"/>
                        </a:rPr>
                        <a:t>88.15</a:t>
                      </a:r>
                      <a:r>
                        <a:rPr lang="en-US" alt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en-US" sz="1400" b="0" dirty="0">
                          <a:effectLst/>
                          <a:latin typeface="Microsoft YaHei" panose="020B0503020204020204" pitchFamily="34" charset="-122"/>
                          <a:ea typeface="微软雅黑" panose="020B0503020204020204" pitchFamily="34" charset="-122"/>
                          <a:sym typeface="Microsoft YaHei" panose="020B0503020204020204" pitchFamily="34" charset="-122"/>
                        </a:rPr>
                        <a:t>51.30</a:t>
                      </a:r>
                      <a:r>
                        <a:rPr lang="en-US" alt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en-US" sz="1400" b="0" dirty="0">
                          <a:effectLst/>
                          <a:latin typeface="Microsoft YaHei" panose="020B0503020204020204" pitchFamily="34" charset="-122"/>
                          <a:ea typeface="微软雅黑" panose="020B0503020204020204" pitchFamily="34" charset="-122"/>
                          <a:sym typeface="Microsoft YaHei" panose="020B0503020204020204" pitchFamily="34" charset="-122"/>
                        </a:rPr>
                        <a:t>67.05</a:t>
                      </a:r>
                      <a:r>
                        <a:rPr lang="en-US" alt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en-US" sz="1400" b="0" dirty="0">
                          <a:effectLst/>
                          <a:latin typeface="Microsoft YaHei" panose="020B0503020204020204" pitchFamily="34" charset="-122"/>
                          <a:ea typeface="微软雅黑" panose="020B0503020204020204" pitchFamily="34" charset="-122"/>
                          <a:sym typeface="Microsoft YaHei" panose="020B0503020204020204" pitchFamily="34" charset="-122"/>
                        </a:rPr>
                        <a:t>10.70</a:t>
                      </a:r>
                      <a:r>
                        <a:rPr lang="en-US" alt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tc>
                  <a:txBody>
                    <a:bodyPr/>
                    <a:lstStyle/>
                    <a:p>
                      <a:pPr marL="0" marR="0" algn="ctr">
                        <a:lnSpc>
                          <a:spcPct val="150000"/>
                        </a:lnSpc>
                        <a:spcBef>
                          <a:spcPts val="0"/>
                        </a:spcBef>
                        <a:spcAft>
                          <a:spcPts val="0"/>
                        </a:spcAft>
                      </a:pPr>
                      <a:r>
                        <a:rPr lang="en-US" sz="1400" b="0" dirty="0">
                          <a:effectLst/>
                          <a:latin typeface="Microsoft YaHei" panose="020B0503020204020204" pitchFamily="34" charset="-122"/>
                          <a:ea typeface="微软雅黑" panose="020B0503020204020204" pitchFamily="34" charset="-122"/>
                          <a:sym typeface="Microsoft YaHei" panose="020B0503020204020204" pitchFamily="34" charset="-122"/>
                        </a:rPr>
                        <a:t>6.63</a:t>
                      </a:r>
                      <a:r>
                        <a:rPr lang="en-US" altLang="zh-CN" sz="1400" b="0" dirty="0">
                          <a:effectLst/>
                          <a:latin typeface="Microsoft YaHei" panose="020B0503020204020204" pitchFamily="34" charset="-122"/>
                          <a:ea typeface="微软雅黑" panose="020B0503020204020204" pitchFamily="34" charset="-122"/>
                          <a:sym typeface="Microsoft YaHei" panose="020B0503020204020204" pitchFamily="34" charset="-122"/>
                        </a:rPr>
                        <a:t>%</a:t>
                      </a:r>
                      <a:endParaRPr lang="en-US" sz="1400" b="0" dirty="0">
                        <a:effectLst/>
                        <a:latin typeface="Microsoft YaHei" panose="020B0503020204020204" pitchFamily="34" charset="-122"/>
                        <a:ea typeface="微软雅黑" panose="020B0503020204020204" pitchFamily="34" charset="-122"/>
                        <a:cs typeface="Times New Roman" panose="02020603050405020304" pitchFamily="18" charset="0"/>
                        <a:sym typeface="Microsoft YaHei" panose="020B0503020204020204" pitchFamily="34" charset="-122"/>
                      </a:endParaRPr>
                    </a:p>
                  </a:txBody>
                  <a:tcPr marL="68580" marR="68580" marT="0" marB="0"/>
                </a:tc>
                <a:extLst>
                  <a:ext uri="{0D108BD9-81ED-4DB2-BD59-A6C34878D82A}">
                    <a16:rowId xmlns:a16="http://schemas.microsoft.com/office/drawing/2014/main" val="3423422564"/>
                  </a:ext>
                </a:extLst>
              </a:tr>
            </a:tbl>
          </a:graphicData>
        </a:graphic>
      </p:graphicFrame>
      <p:sp>
        <p:nvSpPr>
          <p:cNvPr id="7" name="矩形 6">
            <a:extLst>
              <a:ext uri="{FF2B5EF4-FFF2-40B4-BE49-F238E27FC236}">
                <a16:creationId xmlns:a16="http://schemas.microsoft.com/office/drawing/2014/main" id="{5111C2A7-02EA-4067-A224-4BD2C7922C7F}"/>
              </a:ext>
            </a:extLst>
          </p:cNvPr>
          <p:cNvSpPr/>
          <p:nvPr/>
        </p:nvSpPr>
        <p:spPr>
          <a:xfrm>
            <a:off x="412683" y="3764317"/>
            <a:ext cx="1338828" cy="384144"/>
          </a:xfrm>
          <a:prstGeom prst="rect">
            <a:avLst/>
          </a:prstGeom>
        </p:spPr>
        <p:txBody>
          <a:bodyPr wrap="none">
            <a:spAutoFit/>
          </a:bodyPr>
          <a:lstStyle/>
          <a:p>
            <a:pPr>
              <a:lnSpc>
                <a:spcPct val="114000"/>
              </a:lnSpc>
              <a:spcBef>
                <a:spcPts val="300"/>
              </a:spcBef>
              <a:spcAft>
                <a:spcPts val="600"/>
              </a:spcAft>
            </a:pPr>
            <a:r>
              <a:rPr lang="zh-CN" altLang="en-US"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rPr>
              <a:t>仿真结果：</a:t>
            </a:r>
            <a:endParaRPr lang="en-US" altLang="zh-CN" dirty="0">
              <a:solidFill>
                <a:srgbClr val="811C21"/>
              </a:solidFill>
              <a:latin typeface="Microsoft YaHei" panose="020B0503020204020204" pitchFamily="34" charset="-122"/>
              <a:ea typeface="微软雅黑" panose="020B0503020204020204" pitchFamily="34" charset="-122"/>
              <a:sym typeface="Microsoft YaHei" panose="020B0503020204020204" pitchFamily="34" charset="-122"/>
            </a:endParaRPr>
          </a:p>
        </p:txBody>
      </p:sp>
    </p:spTree>
    <p:extLst>
      <p:ext uri="{BB962C8B-B14F-4D97-AF65-F5344CB8AC3E}">
        <p14:creationId xmlns:p14="http://schemas.microsoft.com/office/powerpoint/2010/main" val="2251744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BBBC27-3442-4347-87EA-732A5AE026F8}"/>
              </a:ext>
            </a:extLst>
          </p:cNvPr>
          <p:cNvSpPr>
            <a:spLocks noGrp="1"/>
          </p:cNvSpPr>
          <p:nvPr>
            <p:ph type="title"/>
          </p:nvPr>
        </p:nvSpPr>
        <p:spPr/>
        <p:txBody>
          <a:bodyPr vert="horz" wrap="square" lIns="91440" tIns="45720" rIns="91440" bIns="45720" rtlCol="0" anchor="ctr">
            <a:noAutofit/>
          </a:bodyPr>
          <a:lstStyle/>
          <a:p>
            <a:r>
              <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rPr>
              <a:t>GSM </a:t>
            </a:r>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rPr>
              <a:t>案例</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endParaRPr>
          </a:p>
        </p:txBody>
      </p:sp>
      <p:sp>
        <p:nvSpPr>
          <p:cNvPr id="20" name="矩形 3">
            <a:extLst>
              <a:ext uri="{FF2B5EF4-FFF2-40B4-BE49-F238E27FC236}">
                <a16:creationId xmlns:a16="http://schemas.microsoft.com/office/drawing/2014/main" id="{A990BD5D-2BFC-4850-AA91-D7E102F4D824}"/>
              </a:ext>
            </a:extLst>
          </p:cNvPr>
          <p:cNvSpPr/>
          <p:nvPr/>
        </p:nvSpPr>
        <p:spPr>
          <a:xfrm>
            <a:off x="3208992" y="1521694"/>
            <a:ext cx="961293" cy="742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原材料</a:t>
            </a:r>
            <a:endParaRPr lang="en-US" altLang="zh-CN" dirty="0"/>
          </a:p>
          <a:p>
            <a:pPr algn="ctr"/>
            <a:r>
              <a:rPr lang="en-US" altLang="zh-CN" dirty="0"/>
              <a:t>A</a:t>
            </a:r>
            <a:endParaRPr lang="zh-CN" altLang="en-US" dirty="0"/>
          </a:p>
        </p:txBody>
      </p:sp>
      <p:sp>
        <p:nvSpPr>
          <p:cNvPr id="21" name="矩形 20">
            <a:extLst>
              <a:ext uri="{FF2B5EF4-FFF2-40B4-BE49-F238E27FC236}">
                <a16:creationId xmlns:a16="http://schemas.microsoft.com/office/drawing/2014/main" id="{B8575947-A1DA-4127-9777-477B71FDB843}"/>
              </a:ext>
            </a:extLst>
          </p:cNvPr>
          <p:cNvSpPr/>
          <p:nvPr/>
        </p:nvSpPr>
        <p:spPr>
          <a:xfrm>
            <a:off x="5819331" y="1521694"/>
            <a:ext cx="961293" cy="742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中间件</a:t>
            </a:r>
            <a:endParaRPr lang="en-US" altLang="zh-CN" dirty="0"/>
          </a:p>
          <a:p>
            <a:pPr algn="ctr"/>
            <a:r>
              <a:rPr lang="en-US" altLang="zh-CN" dirty="0"/>
              <a:t>B</a:t>
            </a:r>
            <a:endParaRPr lang="zh-CN" altLang="en-US" dirty="0"/>
          </a:p>
        </p:txBody>
      </p:sp>
      <p:sp>
        <p:nvSpPr>
          <p:cNvPr id="22" name="矩形 21">
            <a:extLst>
              <a:ext uri="{FF2B5EF4-FFF2-40B4-BE49-F238E27FC236}">
                <a16:creationId xmlns:a16="http://schemas.microsoft.com/office/drawing/2014/main" id="{B9D69FDE-F5B6-473A-823D-C8C903BE50D6}"/>
              </a:ext>
            </a:extLst>
          </p:cNvPr>
          <p:cNvSpPr/>
          <p:nvPr/>
        </p:nvSpPr>
        <p:spPr>
          <a:xfrm>
            <a:off x="8429670" y="1521694"/>
            <a:ext cx="961293" cy="742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终产品</a:t>
            </a:r>
            <a:endParaRPr lang="en-US" altLang="zh-CN" dirty="0"/>
          </a:p>
          <a:p>
            <a:pPr algn="ctr"/>
            <a:r>
              <a:rPr lang="en-US" altLang="zh-CN" dirty="0"/>
              <a:t>C</a:t>
            </a:r>
            <a:endParaRPr lang="zh-CN" altLang="en-US" dirty="0"/>
          </a:p>
        </p:txBody>
      </p:sp>
      <p:cxnSp>
        <p:nvCxnSpPr>
          <p:cNvPr id="23" name="直接箭头连接符 8">
            <a:extLst>
              <a:ext uri="{FF2B5EF4-FFF2-40B4-BE49-F238E27FC236}">
                <a16:creationId xmlns:a16="http://schemas.microsoft.com/office/drawing/2014/main" id="{3C7866E8-57DC-48E4-B5C2-308447352F04}"/>
              </a:ext>
            </a:extLst>
          </p:cNvPr>
          <p:cNvCxnSpPr/>
          <p:nvPr/>
        </p:nvCxnSpPr>
        <p:spPr>
          <a:xfrm>
            <a:off x="4224996" y="1892925"/>
            <a:ext cx="153181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9">
            <a:extLst>
              <a:ext uri="{FF2B5EF4-FFF2-40B4-BE49-F238E27FC236}">
                <a16:creationId xmlns:a16="http://schemas.microsoft.com/office/drawing/2014/main" id="{82D2C45D-32D7-438C-9C44-7FA795A43395}"/>
              </a:ext>
            </a:extLst>
          </p:cNvPr>
          <p:cNvCxnSpPr/>
          <p:nvPr/>
        </p:nvCxnSpPr>
        <p:spPr>
          <a:xfrm>
            <a:off x="6823610" y="1889023"/>
            <a:ext cx="153181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文本框 10">
            <a:extLst>
              <a:ext uri="{FF2B5EF4-FFF2-40B4-BE49-F238E27FC236}">
                <a16:creationId xmlns:a16="http://schemas.microsoft.com/office/drawing/2014/main" id="{B5AD12A6-4021-470D-A670-EAF5850E4021}"/>
              </a:ext>
            </a:extLst>
          </p:cNvPr>
          <p:cNvSpPr txBox="1"/>
          <p:nvPr/>
        </p:nvSpPr>
        <p:spPr>
          <a:xfrm>
            <a:off x="1763147" y="1602757"/>
            <a:ext cx="1242645" cy="646331"/>
          </a:xfrm>
          <a:prstGeom prst="rect">
            <a:avLst/>
          </a:prstGeom>
          <a:noFill/>
        </p:spPr>
        <p:txBody>
          <a:bodyPr wrap="square" rtlCol="0">
            <a:spAutoFit/>
          </a:bodyPr>
          <a:lstStyle/>
          <a:p>
            <a:pPr algn="ctr"/>
            <a:r>
              <a:rPr lang="zh-CN" altLang="en-US" dirty="0"/>
              <a:t>采购周期</a:t>
            </a:r>
            <a:endParaRPr lang="en-US" altLang="zh-CN" dirty="0"/>
          </a:p>
          <a:p>
            <a:pPr algn="ctr"/>
            <a:r>
              <a:rPr lang="en-US" altLang="zh-CN" dirty="0"/>
              <a:t>=10</a:t>
            </a:r>
            <a:r>
              <a:rPr lang="zh-CN" altLang="en-US" dirty="0"/>
              <a:t>天</a:t>
            </a:r>
          </a:p>
        </p:txBody>
      </p:sp>
      <p:sp>
        <p:nvSpPr>
          <p:cNvPr id="26" name="文本框 11">
            <a:extLst>
              <a:ext uri="{FF2B5EF4-FFF2-40B4-BE49-F238E27FC236}">
                <a16:creationId xmlns:a16="http://schemas.microsoft.com/office/drawing/2014/main" id="{C936139C-6634-4C7C-BFEB-F9689A07B29A}"/>
              </a:ext>
            </a:extLst>
          </p:cNvPr>
          <p:cNvSpPr txBox="1"/>
          <p:nvPr/>
        </p:nvSpPr>
        <p:spPr>
          <a:xfrm>
            <a:off x="4170285" y="1087563"/>
            <a:ext cx="1527906" cy="646331"/>
          </a:xfrm>
          <a:prstGeom prst="rect">
            <a:avLst/>
          </a:prstGeom>
          <a:noFill/>
        </p:spPr>
        <p:txBody>
          <a:bodyPr wrap="square" rtlCol="0">
            <a:spAutoFit/>
          </a:bodyPr>
          <a:lstStyle/>
          <a:p>
            <a:pPr algn="ctr"/>
            <a:r>
              <a:rPr lang="zh-CN" altLang="en-US" dirty="0"/>
              <a:t>加工周期</a:t>
            </a:r>
            <a:endParaRPr lang="en-US" altLang="zh-CN" dirty="0"/>
          </a:p>
          <a:p>
            <a:pPr algn="ctr"/>
            <a:r>
              <a:rPr lang="en-US" altLang="zh-CN" dirty="0"/>
              <a:t>=7</a:t>
            </a:r>
            <a:r>
              <a:rPr lang="zh-CN" altLang="en-US" dirty="0"/>
              <a:t>天</a:t>
            </a:r>
          </a:p>
        </p:txBody>
      </p:sp>
      <p:sp>
        <p:nvSpPr>
          <p:cNvPr id="27" name="文本框 12">
            <a:extLst>
              <a:ext uri="{FF2B5EF4-FFF2-40B4-BE49-F238E27FC236}">
                <a16:creationId xmlns:a16="http://schemas.microsoft.com/office/drawing/2014/main" id="{90EAA925-A456-44D2-A368-C1983C94096B}"/>
              </a:ext>
            </a:extLst>
          </p:cNvPr>
          <p:cNvSpPr txBox="1"/>
          <p:nvPr/>
        </p:nvSpPr>
        <p:spPr>
          <a:xfrm>
            <a:off x="6827516" y="1087563"/>
            <a:ext cx="1527906" cy="646331"/>
          </a:xfrm>
          <a:prstGeom prst="rect">
            <a:avLst/>
          </a:prstGeom>
          <a:noFill/>
        </p:spPr>
        <p:txBody>
          <a:bodyPr wrap="square" rtlCol="0">
            <a:spAutoFit/>
          </a:bodyPr>
          <a:lstStyle/>
          <a:p>
            <a:pPr algn="ctr"/>
            <a:r>
              <a:rPr lang="zh-CN" altLang="en-US" dirty="0"/>
              <a:t>加工周期</a:t>
            </a:r>
            <a:endParaRPr lang="en-US" altLang="zh-CN" dirty="0"/>
          </a:p>
          <a:p>
            <a:pPr algn="ctr"/>
            <a:r>
              <a:rPr lang="en-US" altLang="zh-CN" dirty="0"/>
              <a:t>=6</a:t>
            </a:r>
            <a:r>
              <a:rPr lang="zh-CN" altLang="en-US" dirty="0"/>
              <a:t>天</a:t>
            </a:r>
          </a:p>
        </p:txBody>
      </p:sp>
      <p:sp>
        <p:nvSpPr>
          <p:cNvPr id="28" name="文本框 27">
            <a:extLst>
              <a:ext uri="{FF2B5EF4-FFF2-40B4-BE49-F238E27FC236}">
                <a16:creationId xmlns:a16="http://schemas.microsoft.com/office/drawing/2014/main" id="{1AD0B5DD-BE07-428E-8DE1-62BD34C64267}"/>
              </a:ext>
            </a:extLst>
          </p:cNvPr>
          <p:cNvSpPr txBox="1"/>
          <p:nvPr/>
        </p:nvSpPr>
        <p:spPr>
          <a:xfrm>
            <a:off x="454654" y="2496900"/>
            <a:ext cx="11308234" cy="336496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solidFill>
                  <a:srgbClr val="852432"/>
                </a:solidFill>
              </a:rPr>
              <a:t>承诺服务时间</a:t>
            </a:r>
            <a:r>
              <a:rPr lang="zh-CN" altLang="en-US" dirty="0"/>
              <a:t>：一个节点收到下游订单后需要在承诺服务时间内进行交付</a:t>
            </a:r>
            <a:endParaRPr lang="en-US" altLang="zh-CN" dirty="0"/>
          </a:p>
          <a:p>
            <a:pPr marL="742950" lvl="1" indent="-285750">
              <a:lnSpc>
                <a:spcPct val="150000"/>
              </a:lnSpc>
              <a:buFont typeface="Arial" panose="020B0604020202020204" pitchFamily="34" charset="0"/>
              <a:buChar char="•"/>
            </a:pPr>
            <a:r>
              <a:rPr lang="zh-CN" altLang="en-US" dirty="0"/>
              <a:t>假设</a:t>
            </a:r>
            <a:r>
              <a:rPr lang="en-US" altLang="zh-CN" dirty="0"/>
              <a:t>C</a:t>
            </a:r>
            <a:r>
              <a:rPr lang="zh-CN" altLang="en-US" dirty="0"/>
              <a:t>的承诺服务时间为</a:t>
            </a:r>
            <a:r>
              <a:rPr lang="en-US" altLang="zh-CN" dirty="0"/>
              <a:t>0</a:t>
            </a:r>
            <a:r>
              <a:rPr lang="zh-CN" altLang="en-US" dirty="0"/>
              <a:t>天，订单需要及时满足，此时</a:t>
            </a:r>
            <a:r>
              <a:rPr lang="en-US" altLang="zh-CN" dirty="0"/>
              <a:t>C</a:t>
            </a:r>
            <a:r>
              <a:rPr lang="zh-CN" altLang="en-US" dirty="0"/>
              <a:t>需要持有至少</a:t>
            </a:r>
            <a:r>
              <a:rPr lang="en-US" altLang="zh-CN" dirty="0"/>
              <a:t>6</a:t>
            </a:r>
            <a:r>
              <a:rPr lang="zh-CN" altLang="en-US" dirty="0"/>
              <a:t>天的安全库存</a:t>
            </a:r>
            <a:endParaRPr lang="en-US" altLang="zh-CN" dirty="0"/>
          </a:p>
          <a:p>
            <a:pPr marL="285750" indent="-285750">
              <a:lnSpc>
                <a:spcPct val="150000"/>
              </a:lnSpc>
              <a:buFont typeface="Arial" panose="020B0604020202020204" pitchFamily="34" charset="0"/>
              <a:buChar char="•"/>
            </a:pPr>
            <a:r>
              <a:rPr lang="zh-CN" altLang="en-US" dirty="0">
                <a:solidFill>
                  <a:srgbClr val="852432"/>
                </a:solidFill>
              </a:rPr>
              <a:t>覆盖时间</a:t>
            </a:r>
            <a:r>
              <a:rPr lang="zh-CN" altLang="en-US" b="1" dirty="0"/>
              <a:t>：</a:t>
            </a:r>
            <a:r>
              <a:rPr lang="zh-CN" altLang="en-US" dirty="0"/>
              <a:t>被服务时间</a:t>
            </a:r>
            <a:r>
              <a:rPr lang="en-US" altLang="zh-CN" dirty="0"/>
              <a:t>+</a:t>
            </a:r>
            <a:r>
              <a:rPr lang="zh-CN" altLang="en-US" dirty="0"/>
              <a:t>提前期</a:t>
            </a:r>
            <a:r>
              <a:rPr lang="en-US" altLang="zh-CN" dirty="0"/>
              <a:t>-</a:t>
            </a:r>
            <a:r>
              <a:rPr lang="zh-CN" altLang="en-US" dirty="0"/>
              <a:t>承诺服务时间</a:t>
            </a:r>
            <a:endParaRPr lang="en-US" altLang="zh-CN" b="1" dirty="0"/>
          </a:p>
          <a:p>
            <a:pPr marL="742950" lvl="1" indent="-285750">
              <a:lnSpc>
                <a:spcPct val="150000"/>
              </a:lnSpc>
              <a:buFont typeface="Arial" panose="020B0604020202020204" pitchFamily="34" charset="0"/>
              <a:buChar char="•"/>
            </a:pPr>
            <a:r>
              <a:rPr lang="zh-CN" altLang="en-US" dirty="0"/>
              <a:t>假设</a:t>
            </a:r>
            <a:r>
              <a:rPr lang="en-US" altLang="zh-CN" dirty="0"/>
              <a:t>B</a:t>
            </a:r>
            <a:r>
              <a:rPr lang="zh-CN" altLang="en-US" dirty="0"/>
              <a:t>的承诺服务时间为</a:t>
            </a:r>
            <a:r>
              <a:rPr lang="en-US" altLang="zh-CN" dirty="0"/>
              <a:t>3</a:t>
            </a:r>
            <a:r>
              <a:rPr lang="zh-CN" altLang="en-US" dirty="0"/>
              <a:t>天，</a:t>
            </a:r>
            <a:r>
              <a:rPr lang="en-US" altLang="zh-CN" dirty="0"/>
              <a:t> </a:t>
            </a:r>
            <a:r>
              <a:rPr lang="zh-CN" altLang="en-US" dirty="0"/>
              <a:t>即</a:t>
            </a:r>
            <a:r>
              <a:rPr lang="en-US" altLang="zh-CN" dirty="0"/>
              <a:t>B</a:t>
            </a:r>
            <a:r>
              <a:rPr lang="zh-CN" altLang="en-US" dirty="0"/>
              <a:t>承诺在收到</a:t>
            </a:r>
            <a:r>
              <a:rPr lang="en-US" altLang="zh-CN" dirty="0"/>
              <a:t>C</a:t>
            </a:r>
            <a:r>
              <a:rPr lang="zh-CN" altLang="en-US" dirty="0"/>
              <a:t>需求后的</a:t>
            </a:r>
            <a:r>
              <a:rPr lang="en-US" altLang="zh-CN" dirty="0"/>
              <a:t>3</a:t>
            </a:r>
            <a:r>
              <a:rPr lang="zh-CN" altLang="en-US" dirty="0"/>
              <a:t>天之内交付，</a:t>
            </a:r>
            <a:r>
              <a:rPr lang="en-US" altLang="zh-CN" dirty="0"/>
              <a:t>C</a:t>
            </a:r>
            <a:r>
              <a:rPr lang="zh-CN" altLang="en-US" dirty="0"/>
              <a:t>需要覆盖</a:t>
            </a:r>
            <a:r>
              <a:rPr lang="en-US" altLang="zh-CN" dirty="0"/>
              <a:t>6+3=9</a:t>
            </a:r>
            <a:r>
              <a:rPr lang="zh-CN" altLang="en-US" dirty="0"/>
              <a:t>天的需求波动风险，即需要持有</a:t>
            </a:r>
            <a:r>
              <a:rPr lang="en-US" altLang="zh-CN" dirty="0"/>
              <a:t>9</a:t>
            </a:r>
            <a:r>
              <a:rPr lang="zh-CN" altLang="en-US" dirty="0"/>
              <a:t>天安全库存</a:t>
            </a:r>
            <a:endParaRPr lang="en-US" altLang="zh-CN" dirty="0"/>
          </a:p>
          <a:p>
            <a:pPr marL="742950" lvl="1" indent="-285750">
              <a:lnSpc>
                <a:spcPct val="150000"/>
              </a:lnSpc>
              <a:buFont typeface="Arial" panose="020B0604020202020204" pitchFamily="34" charset="0"/>
              <a:buChar char="•"/>
            </a:pPr>
            <a:r>
              <a:rPr kumimoji="1" lang="zh-CN" altLang="en-US" dirty="0">
                <a:latin typeface="Cambria Math"/>
              </a:rPr>
              <a:t>假设</a:t>
            </a:r>
            <a:r>
              <a:rPr kumimoji="1" lang="en-US" altLang="zh-CN" dirty="0">
                <a:latin typeface="Cambria Math"/>
              </a:rPr>
              <a:t>A</a:t>
            </a:r>
            <a:r>
              <a:rPr kumimoji="1" lang="zh-CN" altLang="en-US" dirty="0">
                <a:latin typeface="Cambria Math"/>
              </a:rPr>
              <a:t>的</a:t>
            </a:r>
            <a:r>
              <a:rPr lang="zh-CN" altLang="en-US" dirty="0"/>
              <a:t>承诺服务时间</a:t>
            </a:r>
            <a:r>
              <a:rPr kumimoji="1" lang="zh-CN" altLang="en-US" dirty="0">
                <a:latin typeface="Cambria Math"/>
              </a:rPr>
              <a:t>为</a:t>
            </a:r>
            <a:r>
              <a:rPr kumimoji="1" lang="en-US" altLang="zh-CN" dirty="0">
                <a:latin typeface="Cambria Math"/>
              </a:rPr>
              <a:t>0</a:t>
            </a:r>
            <a:r>
              <a:rPr kumimoji="1" lang="zh-CN" altLang="en-US" dirty="0">
                <a:latin typeface="Cambria Math"/>
              </a:rPr>
              <a:t>天，那么它需要覆盖</a:t>
            </a:r>
            <a:r>
              <a:rPr kumimoji="1" lang="en-US" altLang="zh-CN" dirty="0">
                <a:latin typeface="Cambria Math"/>
              </a:rPr>
              <a:t>10</a:t>
            </a:r>
            <a:r>
              <a:rPr kumimoji="1" lang="zh-CN" altLang="en-US" dirty="0">
                <a:latin typeface="Cambria Math"/>
              </a:rPr>
              <a:t>天的安全库存，此时</a:t>
            </a:r>
            <a:r>
              <a:rPr kumimoji="1" lang="en-US" altLang="zh-CN" dirty="0">
                <a:latin typeface="Cambria Math"/>
              </a:rPr>
              <a:t>B</a:t>
            </a:r>
            <a:r>
              <a:rPr kumimoji="1" lang="zh-CN" altLang="en-US" dirty="0">
                <a:latin typeface="Cambria Math"/>
              </a:rPr>
              <a:t>需要覆盖</a:t>
            </a:r>
            <a:r>
              <a:rPr kumimoji="1" lang="en-US" altLang="zh-CN" dirty="0">
                <a:latin typeface="Cambria Math"/>
              </a:rPr>
              <a:t>0+7-3=4</a:t>
            </a:r>
            <a:r>
              <a:rPr kumimoji="1" lang="zh-CN" altLang="en-US" dirty="0">
                <a:latin typeface="Cambria Math"/>
              </a:rPr>
              <a:t>天的安全库存</a:t>
            </a:r>
            <a:endParaRPr kumimoji="1" lang="en-US" altLang="zh-CN" dirty="0">
              <a:latin typeface="Cambria Math"/>
            </a:endParaRPr>
          </a:p>
          <a:p>
            <a:pPr marL="285750" indent="-285750">
              <a:lnSpc>
                <a:spcPct val="150000"/>
              </a:lnSpc>
              <a:buFont typeface="Arial" panose="020B0604020202020204" pitchFamily="34" charset="0"/>
              <a:buChar char="•"/>
            </a:pPr>
            <a:r>
              <a:rPr lang="zh-CN" altLang="en-US" dirty="0">
                <a:solidFill>
                  <a:srgbClr val="852432"/>
                </a:solidFill>
              </a:rPr>
              <a:t>以</a:t>
            </a:r>
            <a:r>
              <a:rPr lang="en-US" altLang="zh-CN" dirty="0">
                <a:solidFill>
                  <a:srgbClr val="852432"/>
                </a:solidFill>
              </a:rPr>
              <a:t>A, B, C</a:t>
            </a:r>
            <a:r>
              <a:rPr lang="zh-CN" altLang="en-US" dirty="0">
                <a:solidFill>
                  <a:srgbClr val="852432"/>
                </a:solidFill>
              </a:rPr>
              <a:t>的服务响应时间为决策变量，调节安全库存布局，来最小化系统总安全库存成本</a:t>
            </a:r>
            <a:endParaRPr lang="en-US" altLang="zh-CN" dirty="0">
              <a:solidFill>
                <a:srgbClr val="852432"/>
              </a:solidFill>
            </a:endParaRPr>
          </a:p>
          <a:p>
            <a:pPr marL="742950" lvl="1" indent="-285750">
              <a:lnSpc>
                <a:spcPct val="150000"/>
              </a:lnSpc>
              <a:buFont typeface="Arial" panose="020B0604020202020204" pitchFamily="34" charset="0"/>
              <a:buChar char="•"/>
            </a:pPr>
            <a:endParaRPr kumimoji="1" lang="en-US" altLang="zh-CN" dirty="0">
              <a:latin typeface="Cambria Math"/>
            </a:endParaRPr>
          </a:p>
        </p:txBody>
      </p:sp>
    </p:spTree>
    <p:extLst>
      <p:ext uri="{BB962C8B-B14F-4D97-AF65-F5344CB8AC3E}">
        <p14:creationId xmlns:p14="http://schemas.microsoft.com/office/powerpoint/2010/main" val="534612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BBBC27-3442-4347-87EA-732A5AE026F8}"/>
              </a:ext>
            </a:extLst>
          </p:cNvPr>
          <p:cNvSpPr>
            <a:spLocks noGrp="1"/>
          </p:cNvSpPr>
          <p:nvPr>
            <p:ph type="title"/>
          </p:nvPr>
        </p:nvSpPr>
        <p:spPr/>
        <p:txBody>
          <a:bodyPr vert="horz" wrap="square" lIns="91440" tIns="45720" rIns="91440" bIns="45720" rtlCol="0" anchor="ctr">
            <a:noAutofit/>
          </a:bodyPr>
          <a:lstStyle/>
          <a:p>
            <a:r>
              <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rPr>
              <a:t>GSM </a:t>
            </a:r>
            <a:r>
              <a:rPr lang="zh-CN" alt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rPr>
              <a:t>案例</a:t>
            </a:r>
            <a:endParaRPr lang="en-US" sz="2000" dirty="0">
              <a:solidFill>
                <a:srgbClr val="000000"/>
              </a:solidFill>
              <a:latin typeface="Microsoft YaHei" panose="020B0503020204020204" pitchFamily="34" charset="-122"/>
              <a:ea typeface="微软雅黑" panose="020B0503020204020204" pitchFamily="34" charset="-122"/>
              <a:cs typeface="Calibri" panose="020F0502020204030204" pitchFamily="34" charset="0"/>
            </a:endParaRPr>
          </a:p>
        </p:txBody>
      </p:sp>
      <p:sp>
        <p:nvSpPr>
          <p:cNvPr id="20" name="矩形 3">
            <a:extLst>
              <a:ext uri="{FF2B5EF4-FFF2-40B4-BE49-F238E27FC236}">
                <a16:creationId xmlns:a16="http://schemas.microsoft.com/office/drawing/2014/main" id="{A990BD5D-2BFC-4850-AA91-D7E102F4D824}"/>
              </a:ext>
            </a:extLst>
          </p:cNvPr>
          <p:cNvSpPr/>
          <p:nvPr/>
        </p:nvSpPr>
        <p:spPr>
          <a:xfrm>
            <a:off x="3208992" y="1521694"/>
            <a:ext cx="961293" cy="742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原材料</a:t>
            </a:r>
            <a:endParaRPr lang="en-US" altLang="zh-CN" dirty="0"/>
          </a:p>
          <a:p>
            <a:pPr algn="ctr"/>
            <a:r>
              <a:rPr lang="en-US" altLang="zh-CN" dirty="0"/>
              <a:t>A</a:t>
            </a:r>
            <a:endParaRPr lang="zh-CN" altLang="en-US" dirty="0"/>
          </a:p>
        </p:txBody>
      </p:sp>
      <p:sp>
        <p:nvSpPr>
          <p:cNvPr id="21" name="矩形 20">
            <a:extLst>
              <a:ext uri="{FF2B5EF4-FFF2-40B4-BE49-F238E27FC236}">
                <a16:creationId xmlns:a16="http://schemas.microsoft.com/office/drawing/2014/main" id="{B8575947-A1DA-4127-9777-477B71FDB843}"/>
              </a:ext>
            </a:extLst>
          </p:cNvPr>
          <p:cNvSpPr/>
          <p:nvPr/>
        </p:nvSpPr>
        <p:spPr>
          <a:xfrm>
            <a:off x="5819331" y="1521694"/>
            <a:ext cx="961293" cy="742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中间件</a:t>
            </a:r>
            <a:endParaRPr lang="en-US" altLang="zh-CN" dirty="0"/>
          </a:p>
          <a:p>
            <a:pPr algn="ctr"/>
            <a:r>
              <a:rPr lang="en-US" altLang="zh-CN" dirty="0"/>
              <a:t>B</a:t>
            </a:r>
            <a:endParaRPr lang="zh-CN" altLang="en-US" dirty="0"/>
          </a:p>
        </p:txBody>
      </p:sp>
      <p:sp>
        <p:nvSpPr>
          <p:cNvPr id="22" name="矩形 21">
            <a:extLst>
              <a:ext uri="{FF2B5EF4-FFF2-40B4-BE49-F238E27FC236}">
                <a16:creationId xmlns:a16="http://schemas.microsoft.com/office/drawing/2014/main" id="{B9D69FDE-F5B6-473A-823D-C8C903BE50D6}"/>
              </a:ext>
            </a:extLst>
          </p:cNvPr>
          <p:cNvSpPr/>
          <p:nvPr/>
        </p:nvSpPr>
        <p:spPr>
          <a:xfrm>
            <a:off x="8429670" y="1521694"/>
            <a:ext cx="961293" cy="742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终产品</a:t>
            </a:r>
            <a:endParaRPr lang="en-US" altLang="zh-CN" dirty="0"/>
          </a:p>
          <a:p>
            <a:pPr algn="ctr"/>
            <a:r>
              <a:rPr lang="en-US" altLang="zh-CN" dirty="0"/>
              <a:t>C</a:t>
            </a:r>
            <a:endParaRPr lang="zh-CN" altLang="en-US" dirty="0"/>
          </a:p>
        </p:txBody>
      </p:sp>
      <p:cxnSp>
        <p:nvCxnSpPr>
          <p:cNvPr id="23" name="直接箭头连接符 8">
            <a:extLst>
              <a:ext uri="{FF2B5EF4-FFF2-40B4-BE49-F238E27FC236}">
                <a16:creationId xmlns:a16="http://schemas.microsoft.com/office/drawing/2014/main" id="{3C7866E8-57DC-48E4-B5C2-308447352F04}"/>
              </a:ext>
            </a:extLst>
          </p:cNvPr>
          <p:cNvCxnSpPr/>
          <p:nvPr/>
        </p:nvCxnSpPr>
        <p:spPr>
          <a:xfrm>
            <a:off x="4224996" y="1892925"/>
            <a:ext cx="153181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9">
            <a:extLst>
              <a:ext uri="{FF2B5EF4-FFF2-40B4-BE49-F238E27FC236}">
                <a16:creationId xmlns:a16="http://schemas.microsoft.com/office/drawing/2014/main" id="{82D2C45D-32D7-438C-9C44-7FA795A43395}"/>
              </a:ext>
            </a:extLst>
          </p:cNvPr>
          <p:cNvCxnSpPr/>
          <p:nvPr/>
        </p:nvCxnSpPr>
        <p:spPr>
          <a:xfrm>
            <a:off x="6823610" y="1889023"/>
            <a:ext cx="153181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文本框 10">
            <a:extLst>
              <a:ext uri="{FF2B5EF4-FFF2-40B4-BE49-F238E27FC236}">
                <a16:creationId xmlns:a16="http://schemas.microsoft.com/office/drawing/2014/main" id="{B5AD12A6-4021-470D-A670-EAF5850E4021}"/>
              </a:ext>
            </a:extLst>
          </p:cNvPr>
          <p:cNvSpPr txBox="1"/>
          <p:nvPr/>
        </p:nvSpPr>
        <p:spPr>
          <a:xfrm>
            <a:off x="1763147" y="1602757"/>
            <a:ext cx="1242645" cy="646331"/>
          </a:xfrm>
          <a:prstGeom prst="rect">
            <a:avLst/>
          </a:prstGeom>
          <a:noFill/>
        </p:spPr>
        <p:txBody>
          <a:bodyPr wrap="square" rtlCol="0">
            <a:spAutoFit/>
          </a:bodyPr>
          <a:lstStyle/>
          <a:p>
            <a:pPr algn="ctr"/>
            <a:r>
              <a:rPr lang="zh-CN" altLang="en-US" dirty="0"/>
              <a:t>采购周期</a:t>
            </a:r>
            <a:endParaRPr lang="en-US" altLang="zh-CN" dirty="0"/>
          </a:p>
          <a:p>
            <a:pPr algn="ctr"/>
            <a:r>
              <a:rPr lang="en-US" altLang="zh-CN" dirty="0"/>
              <a:t>=10</a:t>
            </a:r>
            <a:r>
              <a:rPr lang="zh-CN" altLang="en-US" dirty="0"/>
              <a:t>天</a:t>
            </a:r>
          </a:p>
        </p:txBody>
      </p:sp>
      <p:sp>
        <p:nvSpPr>
          <p:cNvPr id="26" name="文本框 11">
            <a:extLst>
              <a:ext uri="{FF2B5EF4-FFF2-40B4-BE49-F238E27FC236}">
                <a16:creationId xmlns:a16="http://schemas.microsoft.com/office/drawing/2014/main" id="{C936139C-6634-4C7C-BFEB-F9689A07B29A}"/>
              </a:ext>
            </a:extLst>
          </p:cNvPr>
          <p:cNvSpPr txBox="1"/>
          <p:nvPr/>
        </p:nvSpPr>
        <p:spPr>
          <a:xfrm>
            <a:off x="4170285" y="1087563"/>
            <a:ext cx="1527906" cy="646331"/>
          </a:xfrm>
          <a:prstGeom prst="rect">
            <a:avLst/>
          </a:prstGeom>
          <a:noFill/>
        </p:spPr>
        <p:txBody>
          <a:bodyPr wrap="square" rtlCol="0">
            <a:spAutoFit/>
          </a:bodyPr>
          <a:lstStyle/>
          <a:p>
            <a:pPr algn="ctr"/>
            <a:r>
              <a:rPr lang="zh-CN" altLang="en-US" dirty="0"/>
              <a:t>加工周期</a:t>
            </a:r>
            <a:endParaRPr lang="en-US" altLang="zh-CN" dirty="0"/>
          </a:p>
          <a:p>
            <a:pPr algn="ctr"/>
            <a:r>
              <a:rPr lang="en-US" altLang="zh-CN" dirty="0"/>
              <a:t>=7</a:t>
            </a:r>
            <a:r>
              <a:rPr lang="zh-CN" altLang="en-US" dirty="0"/>
              <a:t>天</a:t>
            </a:r>
          </a:p>
        </p:txBody>
      </p:sp>
      <p:sp>
        <p:nvSpPr>
          <p:cNvPr id="27" name="文本框 12">
            <a:extLst>
              <a:ext uri="{FF2B5EF4-FFF2-40B4-BE49-F238E27FC236}">
                <a16:creationId xmlns:a16="http://schemas.microsoft.com/office/drawing/2014/main" id="{90EAA925-A456-44D2-A368-C1983C94096B}"/>
              </a:ext>
            </a:extLst>
          </p:cNvPr>
          <p:cNvSpPr txBox="1"/>
          <p:nvPr/>
        </p:nvSpPr>
        <p:spPr>
          <a:xfrm>
            <a:off x="6827516" y="1087563"/>
            <a:ext cx="1527906" cy="646331"/>
          </a:xfrm>
          <a:prstGeom prst="rect">
            <a:avLst/>
          </a:prstGeom>
          <a:noFill/>
        </p:spPr>
        <p:txBody>
          <a:bodyPr wrap="square" rtlCol="0">
            <a:spAutoFit/>
          </a:bodyPr>
          <a:lstStyle/>
          <a:p>
            <a:pPr algn="ctr"/>
            <a:r>
              <a:rPr lang="zh-CN" altLang="en-US" dirty="0"/>
              <a:t>加工周期</a:t>
            </a:r>
            <a:endParaRPr lang="en-US" altLang="zh-CN" dirty="0"/>
          </a:p>
          <a:p>
            <a:pPr algn="ctr"/>
            <a:r>
              <a:rPr lang="en-US" altLang="zh-CN" dirty="0"/>
              <a:t>=6</a:t>
            </a:r>
            <a:r>
              <a:rPr lang="zh-CN" altLang="en-US" dirty="0"/>
              <a:t>天</a:t>
            </a:r>
          </a:p>
        </p:txBody>
      </p:sp>
      <p:sp>
        <p:nvSpPr>
          <p:cNvPr id="3" name="矩形 2">
            <a:extLst>
              <a:ext uri="{FF2B5EF4-FFF2-40B4-BE49-F238E27FC236}">
                <a16:creationId xmlns:a16="http://schemas.microsoft.com/office/drawing/2014/main" id="{A15B5493-FD25-4C20-A538-A08B02591F61}"/>
              </a:ext>
            </a:extLst>
          </p:cNvPr>
          <p:cNvSpPr/>
          <p:nvPr/>
        </p:nvSpPr>
        <p:spPr>
          <a:xfrm>
            <a:off x="595932" y="2550788"/>
            <a:ext cx="10836118" cy="454035"/>
          </a:xfrm>
          <a:prstGeom prst="rect">
            <a:avLst/>
          </a:prstGeom>
        </p:spPr>
        <p:txBody>
          <a:bodyPr wrap="square">
            <a:spAutoFit/>
          </a:bodyPr>
          <a:lstStyle/>
          <a:p>
            <a:pPr>
              <a:lnSpc>
                <a:spcPct val="150000"/>
              </a:lnSpc>
            </a:pPr>
            <a:r>
              <a:rPr lang="zh-CN" altLang="en-US" dirty="0"/>
              <a:t>假设</a:t>
            </a:r>
            <a:r>
              <a:rPr lang="en-US" altLang="zh-CN" dirty="0"/>
              <a:t>A,B,C</a:t>
            </a:r>
            <a:r>
              <a:rPr lang="zh-CN" altLang="en-US" dirty="0"/>
              <a:t>的需求服从</a:t>
            </a:r>
            <a:r>
              <a:rPr lang="en-US" altLang="zh-CN" dirty="0"/>
              <a:t>N(100,50)</a:t>
            </a:r>
            <a:r>
              <a:rPr lang="zh-CN" altLang="en-US" dirty="0"/>
              <a:t>，单位持货成本分别为</a:t>
            </a:r>
            <a:r>
              <a:rPr lang="en-US" altLang="zh-CN" dirty="0"/>
              <a:t>2,5,6</a:t>
            </a:r>
            <a:r>
              <a:rPr lang="zh-CN" altLang="en-US" dirty="0"/>
              <a:t>，需求满足率取</a:t>
            </a:r>
            <a:r>
              <a:rPr lang="en-US" altLang="zh-CN" dirty="0"/>
              <a:t>0.95</a:t>
            </a:r>
          </a:p>
        </p:txBody>
      </p:sp>
      <p:graphicFrame>
        <p:nvGraphicFramePr>
          <p:cNvPr id="13" name="Table 23">
            <a:extLst>
              <a:ext uri="{FF2B5EF4-FFF2-40B4-BE49-F238E27FC236}">
                <a16:creationId xmlns:a16="http://schemas.microsoft.com/office/drawing/2014/main" id="{7873F115-EBD3-4E25-822A-B7F0C2DA5230}"/>
              </a:ext>
            </a:extLst>
          </p:cNvPr>
          <p:cNvGraphicFramePr>
            <a:graphicFrameLocks noGrp="1"/>
          </p:cNvGraphicFramePr>
          <p:nvPr/>
        </p:nvGraphicFramePr>
        <p:xfrm>
          <a:off x="664842" y="3276387"/>
          <a:ext cx="10308978" cy="2589955"/>
        </p:xfrm>
        <a:graphic>
          <a:graphicData uri="http://schemas.openxmlformats.org/drawingml/2006/table">
            <a:tbl>
              <a:tblPr>
                <a:tableStyleId>{616DA210-FB5B-4158-B5E0-FEB733F419BA}</a:tableStyleId>
              </a:tblPr>
              <a:tblGrid>
                <a:gridCol w="1145442">
                  <a:extLst>
                    <a:ext uri="{9D8B030D-6E8A-4147-A177-3AD203B41FA5}">
                      <a16:colId xmlns:a16="http://schemas.microsoft.com/office/drawing/2014/main" val="809284936"/>
                    </a:ext>
                  </a:extLst>
                </a:gridCol>
                <a:gridCol w="1145442">
                  <a:extLst>
                    <a:ext uri="{9D8B030D-6E8A-4147-A177-3AD203B41FA5}">
                      <a16:colId xmlns:a16="http://schemas.microsoft.com/office/drawing/2014/main" val="3772451262"/>
                    </a:ext>
                  </a:extLst>
                </a:gridCol>
                <a:gridCol w="1145442">
                  <a:extLst>
                    <a:ext uri="{9D8B030D-6E8A-4147-A177-3AD203B41FA5}">
                      <a16:colId xmlns:a16="http://schemas.microsoft.com/office/drawing/2014/main" val="1904587974"/>
                    </a:ext>
                  </a:extLst>
                </a:gridCol>
                <a:gridCol w="1145442">
                  <a:extLst>
                    <a:ext uri="{9D8B030D-6E8A-4147-A177-3AD203B41FA5}">
                      <a16:colId xmlns:a16="http://schemas.microsoft.com/office/drawing/2014/main" val="397818666"/>
                    </a:ext>
                  </a:extLst>
                </a:gridCol>
                <a:gridCol w="1145442">
                  <a:extLst>
                    <a:ext uri="{9D8B030D-6E8A-4147-A177-3AD203B41FA5}">
                      <a16:colId xmlns:a16="http://schemas.microsoft.com/office/drawing/2014/main" val="2769580072"/>
                    </a:ext>
                  </a:extLst>
                </a:gridCol>
                <a:gridCol w="1145442">
                  <a:extLst>
                    <a:ext uri="{9D8B030D-6E8A-4147-A177-3AD203B41FA5}">
                      <a16:colId xmlns:a16="http://schemas.microsoft.com/office/drawing/2014/main" val="2234208623"/>
                    </a:ext>
                  </a:extLst>
                </a:gridCol>
                <a:gridCol w="1145442">
                  <a:extLst>
                    <a:ext uri="{9D8B030D-6E8A-4147-A177-3AD203B41FA5}">
                      <a16:colId xmlns:a16="http://schemas.microsoft.com/office/drawing/2014/main" val="446982698"/>
                    </a:ext>
                  </a:extLst>
                </a:gridCol>
                <a:gridCol w="1145442">
                  <a:extLst>
                    <a:ext uri="{9D8B030D-6E8A-4147-A177-3AD203B41FA5}">
                      <a16:colId xmlns:a16="http://schemas.microsoft.com/office/drawing/2014/main" val="1921165051"/>
                    </a:ext>
                  </a:extLst>
                </a:gridCol>
                <a:gridCol w="1145442">
                  <a:extLst>
                    <a:ext uri="{9D8B030D-6E8A-4147-A177-3AD203B41FA5}">
                      <a16:colId xmlns:a16="http://schemas.microsoft.com/office/drawing/2014/main" val="1455508432"/>
                    </a:ext>
                  </a:extLst>
                </a:gridCol>
              </a:tblGrid>
              <a:tr h="517991">
                <a:tc rowSpan="2">
                  <a:txBody>
                    <a:bodyPr/>
                    <a:lstStyle/>
                    <a:p>
                      <a:pPr algn="ctr" fontAlgn="ctr"/>
                      <a:r>
                        <a:rPr lang="zh-CN" altLang="en-US" sz="1800" u="none" strike="noStrike" dirty="0">
                          <a:effectLst/>
                        </a:rPr>
                        <a:t>场景</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gridSpan="2">
                  <a:txBody>
                    <a:bodyPr/>
                    <a:lstStyle/>
                    <a:p>
                      <a:pPr algn="ctr" fontAlgn="b"/>
                      <a:r>
                        <a:rPr lang="zh-CN" altLang="en-US" sz="1800" u="none" strike="noStrike" dirty="0">
                          <a:effectLst/>
                        </a:rPr>
                        <a:t>原材料</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hMerge="1">
                  <a:txBody>
                    <a:bodyPr/>
                    <a:lstStyle/>
                    <a:p>
                      <a:endParaRPr lang="zh-CN" altLang="en-US"/>
                    </a:p>
                  </a:txBody>
                  <a:tcPr/>
                </a:tc>
                <a:tc gridSpan="2">
                  <a:txBody>
                    <a:bodyPr/>
                    <a:lstStyle/>
                    <a:p>
                      <a:pPr algn="ctr" fontAlgn="b"/>
                      <a:r>
                        <a:rPr lang="zh-CN" altLang="en-US" sz="1800" u="none" strike="noStrike">
                          <a:effectLst/>
                        </a:rPr>
                        <a:t>中间件</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hMerge="1">
                  <a:txBody>
                    <a:bodyPr/>
                    <a:lstStyle/>
                    <a:p>
                      <a:endParaRPr lang="zh-CN" altLang="en-US"/>
                    </a:p>
                  </a:txBody>
                  <a:tcPr/>
                </a:tc>
                <a:tc gridSpan="2">
                  <a:txBody>
                    <a:bodyPr/>
                    <a:lstStyle/>
                    <a:p>
                      <a:pPr algn="ctr" fontAlgn="b"/>
                      <a:r>
                        <a:rPr lang="zh-CN" altLang="en-US" sz="1800" u="none" strike="noStrike">
                          <a:effectLst/>
                        </a:rPr>
                        <a:t>终产品</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hMerge="1">
                  <a:txBody>
                    <a:bodyPr/>
                    <a:lstStyle/>
                    <a:p>
                      <a:endParaRPr lang="zh-CN" altLang="en-US"/>
                    </a:p>
                  </a:txBody>
                  <a:tcPr/>
                </a:tc>
                <a:tc rowSpan="2">
                  <a:txBody>
                    <a:bodyPr/>
                    <a:lstStyle/>
                    <a:p>
                      <a:pPr algn="ctr" fontAlgn="ctr"/>
                      <a:r>
                        <a:rPr lang="zh-CN" altLang="en-US" sz="1800" u="none" strike="noStrike" dirty="0">
                          <a:effectLst/>
                        </a:rPr>
                        <a:t>总覆盖天数</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rowSpan="2">
                  <a:txBody>
                    <a:bodyPr/>
                    <a:lstStyle/>
                    <a:p>
                      <a:pPr algn="ctr" fontAlgn="ctr"/>
                      <a:r>
                        <a:rPr lang="zh-CN" altLang="en-US" sz="1800" u="none" strike="noStrike">
                          <a:effectLst/>
                        </a:rPr>
                        <a:t>总安全库存成本</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extLst>
                  <a:ext uri="{0D108BD9-81ED-4DB2-BD59-A6C34878D82A}">
                    <a16:rowId xmlns:a16="http://schemas.microsoft.com/office/drawing/2014/main" val="1941679384"/>
                  </a:ext>
                </a:extLst>
              </a:tr>
              <a:tr h="517991">
                <a:tc vMerge="1">
                  <a:txBody>
                    <a:bodyPr/>
                    <a:lstStyle/>
                    <a:p>
                      <a:endParaRPr lang="zh-CN" altLang="en-US"/>
                    </a:p>
                  </a:txBody>
                  <a:tcPr/>
                </a:tc>
                <a:tc>
                  <a:txBody>
                    <a:bodyPr/>
                    <a:lstStyle/>
                    <a:p>
                      <a:pPr algn="ctr" fontAlgn="b"/>
                      <a:r>
                        <a:rPr lang="zh-CN" altLang="en-US" sz="1800" u="none" strike="noStrike" dirty="0">
                          <a:effectLst/>
                        </a:rPr>
                        <a:t>覆盖天数</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zh-CN" altLang="en-US" sz="1800" u="none" strike="noStrike" dirty="0">
                          <a:effectLst/>
                        </a:rPr>
                        <a:t>安全库存</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zh-CN" altLang="en-US" sz="1800" u="none" strike="noStrike">
                          <a:effectLst/>
                        </a:rPr>
                        <a:t>覆盖天数</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zh-CN" altLang="en-US" sz="1800" u="none" strike="noStrike">
                          <a:effectLst/>
                        </a:rPr>
                        <a:t>安全库存</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zh-CN" altLang="en-US" sz="1800" u="none" strike="noStrike">
                          <a:effectLst/>
                        </a:rPr>
                        <a:t>覆盖天数</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zh-CN" altLang="en-US" sz="1800" u="none" strike="noStrike" dirty="0">
                          <a:effectLst/>
                        </a:rPr>
                        <a:t>安全库存</a:t>
                      </a:r>
                      <a:endParaRPr lang="zh-CN" altLang="en-US"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941995610"/>
                  </a:ext>
                </a:extLst>
              </a:tr>
              <a:tr h="517991">
                <a:tc>
                  <a:txBody>
                    <a:bodyPr/>
                    <a:lstStyle/>
                    <a:p>
                      <a:pPr algn="ctr" fontAlgn="b"/>
                      <a:r>
                        <a:rPr lang="zh-CN" altLang="en-US" sz="1800" u="none" strike="noStrike">
                          <a:effectLst/>
                        </a:rPr>
                        <a:t>单级库存</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10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260.0742</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7</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217.5937</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6</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201.4526</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23</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2816.8</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extLst>
                  <a:ext uri="{0D108BD9-81ED-4DB2-BD59-A6C34878D82A}">
                    <a16:rowId xmlns:a16="http://schemas.microsoft.com/office/drawing/2014/main" val="618537142"/>
                  </a:ext>
                </a:extLst>
              </a:tr>
              <a:tr h="517991">
                <a:tc>
                  <a:txBody>
                    <a:bodyPr/>
                    <a:lstStyle/>
                    <a:p>
                      <a:pPr algn="ctr" fontAlgn="b"/>
                      <a:r>
                        <a:rPr lang="zh-CN" altLang="en-US" sz="1800" u="none" strike="noStrike">
                          <a:effectLst/>
                        </a:rPr>
                        <a:t>多级库存</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23</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394.422</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23</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2366.5</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extLst>
                  <a:ext uri="{0D108BD9-81ED-4DB2-BD59-A6C34878D82A}">
                    <a16:rowId xmlns:a16="http://schemas.microsoft.com/office/drawing/2014/main" val="1354348718"/>
                  </a:ext>
                </a:extLst>
              </a:tr>
              <a:tr h="517991">
                <a:tc>
                  <a:txBody>
                    <a:bodyPr/>
                    <a:lstStyle/>
                    <a:p>
                      <a:pPr algn="ctr" fontAlgn="b"/>
                      <a:r>
                        <a:rPr lang="zh-CN" altLang="en-US" sz="1800" u="none" strike="noStrike">
                          <a:effectLst/>
                        </a:rPr>
                        <a:t>多级最优</a:t>
                      </a:r>
                      <a:endParaRPr lang="zh-CN" altLang="en-US"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10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260.0742</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0</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0</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13</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a:effectLst/>
                        </a:rPr>
                        <a:t>296.5302</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23</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tc>
                  <a:txBody>
                    <a:bodyPr/>
                    <a:lstStyle/>
                    <a:p>
                      <a:pPr algn="ctr" fontAlgn="b"/>
                      <a:r>
                        <a:rPr lang="en-US" altLang="zh-CN" sz="1800" u="none" strike="noStrike" dirty="0">
                          <a:effectLst/>
                        </a:rPr>
                        <a:t>2299.3</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extLst>
                  <a:ext uri="{0D108BD9-81ED-4DB2-BD59-A6C34878D82A}">
                    <a16:rowId xmlns:a16="http://schemas.microsoft.com/office/drawing/2014/main" val="1495960245"/>
                  </a:ext>
                </a:extLst>
              </a:tr>
            </a:tbl>
          </a:graphicData>
        </a:graphic>
      </p:graphicFrame>
    </p:spTree>
    <p:extLst>
      <p:ext uri="{BB962C8B-B14F-4D97-AF65-F5344CB8AC3E}">
        <p14:creationId xmlns:p14="http://schemas.microsoft.com/office/powerpoint/2010/main" val="5551535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主题">
  <a:themeElements>
    <a:clrScheme name="杉数科技 2">
      <a:dk1>
        <a:srgbClr val="5E5E5E"/>
      </a:dk1>
      <a:lt1>
        <a:srgbClr val="FFFFFF"/>
      </a:lt1>
      <a:dk2>
        <a:srgbClr val="919191"/>
      </a:dk2>
      <a:lt2>
        <a:srgbClr val="D5D5D5"/>
      </a:lt2>
      <a:accent1>
        <a:srgbClr val="852432"/>
      </a:accent1>
      <a:accent2>
        <a:srgbClr val="BF3749"/>
      </a:accent2>
      <a:accent3>
        <a:srgbClr val="E3707D"/>
      </a:accent3>
      <a:accent4>
        <a:srgbClr val="5681E3"/>
      </a:accent4>
      <a:accent5>
        <a:srgbClr val="50BA95"/>
      </a:accent5>
      <a:accent6>
        <a:srgbClr val="E1B030"/>
      </a:accent6>
      <a:hlink>
        <a:srgbClr val="4F3C0A"/>
      </a:hlink>
      <a:folHlink>
        <a:srgbClr val="E5E6E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5879</TotalTime>
  <Words>1584</Words>
  <Application>Microsoft Macintosh PowerPoint</Application>
  <PresentationFormat>宽屏</PresentationFormat>
  <Paragraphs>248</Paragraphs>
  <Slides>14</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6" baseType="lpstr">
      <vt:lpstr>等线</vt:lpstr>
      <vt:lpstr>等线</vt:lpstr>
      <vt:lpstr>微软雅黑</vt:lpstr>
      <vt:lpstr>微软雅黑</vt:lpstr>
      <vt:lpstr>微软雅黑 Light</vt:lpstr>
      <vt:lpstr>Microsoft YaHei Light</vt:lpstr>
      <vt:lpstr>Arial</vt:lpstr>
      <vt:lpstr>Calibri</vt:lpstr>
      <vt:lpstr>Cambria Math</vt:lpstr>
      <vt:lpstr>Wingdings</vt:lpstr>
      <vt:lpstr>1_Office 主题</vt:lpstr>
      <vt:lpstr>think-cell Slide</vt:lpstr>
      <vt:lpstr>华为安全库存项目总结</vt:lpstr>
      <vt:lpstr>华为项目总结</vt:lpstr>
      <vt:lpstr>某大型制造企业案例</vt:lpstr>
      <vt:lpstr>解决方案框架</vt:lpstr>
      <vt:lpstr>实施框架</vt:lpstr>
      <vt:lpstr>安全库存优化模型——承诺服务模型</vt:lpstr>
      <vt:lpstr>需求预测</vt:lpstr>
      <vt:lpstr>需求波动上界函数的设置</vt:lpstr>
      <vt:lpstr>模型求解</vt:lpstr>
      <vt:lpstr>基于序列线性规划的近似算法</vt:lpstr>
      <vt:lpstr>承诺服务模型的求解</vt:lpstr>
      <vt:lpstr>效果</vt:lpstr>
      <vt:lpstr>GSM 案例</vt:lpstr>
      <vt:lpstr>GSM 案例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Angela Wang</dc:creator>
  <cp:lastModifiedBy>杨 超林</cp:lastModifiedBy>
  <cp:revision>536</cp:revision>
  <cp:lastPrinted>2018-07-05T17:10:15Z</cp:lastPrinted>
  <dcterms:created xsi:type="dcterms:W3CDTF">2017-08-03T09:01:00Z</dcterms:created>
  <dcterms:modified xsi:type="dcterms:W3CDTF">2022-05-06T08:45:53Z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2052-10.1.0.7245</vt:lpwstr>
  </property>
  <property fmtid="{D5CDD505-2E9C-101B-9397-08002B2CF9AE}" pid="3" name="KSORubyTemplateID">
    <vt:lpwstr>2</vt:lpwstr>
  </property>
</Properties>
</file>